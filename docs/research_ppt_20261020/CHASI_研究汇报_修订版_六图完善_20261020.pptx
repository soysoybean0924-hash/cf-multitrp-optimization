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9" r:id="rId2"/>
  </p:sldMasterIdLst>
  <p:notesMasterIdLst>
    <p:notesMasterId r:id="rId17"/>
  </p:notesMasterIdLst>
  <p:handoutMasterIdLst>
    <p:handoutMasterId r:id="rId18"/>
  </p:handoutMasterIdLst>
  <p:sldIdLst>
    <p:sldId id="2531" r:id="rId3"/>
    <p:sldId id="5977" r:id="rId4"/>
    <p:sldId id="5978" r:id="rId5"/>
    <p:sldId id="5979" r:id="rId6"/>
    <p:sldId id="5980" r:id="rId7"/>
    <p:sldId id="5981" r:id="rId8"/>
    <p:sldId id="5982" r:id="rId9"/>
    <p:sldId id="5983" r:id="rId10"/>
    <p:sldId id="5984" r:id="rId11"/>
    <p:sldId id="5985" r:id="rId12"/>
    <p:sldId id="5986" r:id="rId13"/>
    <p:sldId id="5987" r:id="rId14"/>
    <p:sldId id="5989" r:id="rId15"/>
    <p:sldId id="5990" r:id="rId16"/>
  </p:sldIdLst>
  <p:sldSz cx="12192000" cy="6858000"/>
  <p:notesSz cx="7099300" cy="10234613"/>
  <p:custDataLst>
    <p:tags r:id="rId1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2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576" userDrawn="1">
          <p15:clr>
            <a:srgbClr val="A4A3A4"/>
          </p15:clr>
        </p15:guide>
        <p15:guide id="4" orient="horz" pos="3998" userDrawn="1">
          <p15:clr>
            <a:srgbClr val="A4A3A4"/>
          </p15:clr>
        </p15:guide>
        <p15:guide id="5" orient="horz" pos="38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452">
          <p15:clr>
            <a:srgbClr val="A4A3A4"/>
          </p15:clr>
        </p15:guide>
        <p15:guide id="2" pos="2183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4" clrIdx="0"/>
  <p:cmAuthor id="2" name="lj" initials="l" lastIdx="1" clrIdx="1"/>
  <p:cmAuthor id="3" name="Jason Zhang" initials="JZ" lastIdx="12" clrIdx="2"/>
  <p:cmAuthor id="4" name="可爱的小马驹ヾ" initials="可" lastIdx="1" clrIdx="3"/>
  <p:cmAuthor id="5" name="Tyselina Zheng" initials="TZ" lastIdx="2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F528F"/>
    <a:srgbClr val="CBCDDE"/>
    <a:srgbClr val="002B84"/>
    <a:srgbClr val="95D1E2"/>
    <a:srgbClr val="E7E8EF"/>
    <a:srgbClr val="E6E6E6"/>
    <a:srgbClr val="003399"/>
    <a:srgbClr val="C00000"/>
    <a:srgbClr val="DCF0F5"/>
    <a:srgbClr val="FBD4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82" autoAdjust="0"/>
    <p:restoredTop sz="90663" autoAdjust="0"/>
  </p:normalViewPr>
  <p:slideViewPr>
    <p:cSldViewPr showGuides="1">
      <p:cViewPr varScale="1">
        <p:scale>
          <a:sx n="75" d="100"/>
          <a:sy n="75" d="100"/>
        </p:scale>
        <p:origin x="1032" y="43"/>
      </p:cViewPr>
      <p:guideLst>
        <p:guide pos="392"/>
        <p:guide pos="7256"/>
        <p:guide orient="horz" pos="576"/>
        <p:guide orient="horz" pos="3998"/>
        <p:guide orient="horz" pos="380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1186"/>
    </p:cViewPr>
  </p:sorterViewPr>
  <p:notesViewPr>
    <p:cSldViewPr>
      <p:cViewPr varScale="1">
        <p:scale>
          <a:sx n="30" d="100"/>
          <a:sy n="30" d="100"/>
        </p:scale>
        <p:origin x="-2261" y="-67"/>
      </p:cViewPr>
      <p:guideLst>
        <p:guide orient="horz" pos="3452"/>
        <p:guide pos="2183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tags" Target="tags/tag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9" y="1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9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FEB6453C-91E2-453A-8CFB-E8A5E658B759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575" cy="511175"/>
          </a:xfrm>
          <a:prstGeom prst="rect">
            <a:avLst/>
          </a:prstGeom>
        </p:spPr>
        <p:txBody>
          <a:bodyPr vert="horz" lIns="94263" tIns="47133" rIns="94263" bIns="47133" rtlCol="0"/>
          <a:lstStyle>
            <a:lvl1pPr algn="l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139" y="1"/>
            <a:ext cx="3076575" cy="511175"/>
          </a:xfrm>
          <a:prstGeom prst="rect">
            <a:avLst/>
          </a:prstGeom>
        </p:spPr>
        <p:txBody>
          <a:bodyPr vert="horz" lIns="94263" tIns="47133" rIns="94263" bIns="47133" rtlCol="0"/>
          <a:lstStyle>
            <a:lvl1pPr algn="r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F6709892-4A62-41CA-BB2D-19E92E32BA1A}" type="datetimeFigureOut">
              <a:rPr lang="zh-CN" altLang="en-US"/>
              <a:t>2026/10/20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63" tIns="47133" rIns="94263" bIns="47133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613" y="4859338"/>
            <a:ext cx="5680075" cy="4606925"/>
          </a:xfrm>
          <a:prstGeom prst="rect">
            <a:avLst/>
          </a:prstGeom>
        </p:spPr>
        <p:txBody>
          <a:bodyPr vert="horz" lIns="94263" tIns="47133" rIns="94263" bIns="47133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4263" tIns="47133" rIns="94263" bIns="47133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139" y="9721850"/>
            <a:ext cx="3076575" cy="511175"/>
          </a:xfrm>
          <a:prstGeom prst="rect">
            <a:avLst/>
          </a:prstGeom>
        </p:spPr>
        <p:txBody>
          <a:bodyPr vert="horz" wrap="square" lIns="94263" tIns="47133" rIns="94263" bIns="47133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20B90B85-D45D-43B0-886B-48C061D8B8B2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73038" y="796925"/>
            <a:ext cx="7069137" cy="39766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研究对象：茶思任务中的非理想SRS/CSI与用户中心多TRP协同。本材料对应已提交代码 db9d7e3；当前另一个会话的工作区更改不包含在本材料。研究结果尚不能等同正式验收。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给出四段讲述顺序。第一部分界定困难、目标与物理网络；第二部分沿通信变量讲建模与当前求解；第三部分说明非均匀误差和现有证据；第四部分单列202610版系统方案。每段均区分原始任务、当前实现、已验证结果与研究设想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本页回答为什么研究、用什么办法、如何证明。原图：难题1、典型验收场景、用户速率协议定义。当前实现：固定服务/调度、链路非均匀条件协方差、集中式矩阵 WMMSE–ADMM。正式规模目前尚未达到停止条件。最坏情况椭球和分布式仍未实现。背景文献：Demir, Björnson, Sanguinetti, Foundations of User-Centric Cell-Free Massive MIMO, 2021, DOI 10.1561/2000000109。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左图是 MATLAB 已导出的真实场景坐标，不是示意站址。中心(450,450)m，外围6站半径300m，21个TRP每站三扇区共址。UE位置来自当前面积均匀采样，25–150m环扇区为项目假设；扇区图形并非硬覆盖。右侧为单UE服务和逻辑CPU示意：UE的SRS生成观测，集中仿真得到估计信道和协方差，CPU单进程求w，TRP按块下行。图像来自 topology_full.png 与 topology_zoom.png；源码 chasi_geometry_from_samples.m、chasi_generate_scene.m、chasi_run.m。追问：是否TRP分布式ADMM？否。CPU是逻辑节点，图标不代表部署坐标。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从上方依次讲输入、处理、输出：几何→真信道→观测→估计信道 Ĥ 与条件协方差 C→固定资源→集中求含幅度预编码 w→真信道评价。Htrue 用于仿真观测和最后评价，不直接给非理想优化分支。下方 UE/TRP/CPU 是当前数值实现的逻辑架构，CPU 无实际坐标；没有模拟完整前传、PUSCH/LLR/解码，也未实现 TRP 本地 ADMM。源码：chasi_run.m、chasi_generate_scene.m、chasi_matrix_wmmse.m、chasi_evaluate.m。参考图片 2.png 仅借鉴节点与带标签信息流。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几何生成 Htrue∈C^{4×64}；当前是接收相关的几何信道代理，未实现完整双极化物理阵列。C0=βRrx，CSI-RS与SRS观测在条件高斯假设下精度相加，得到 Cklg∈C^{4×4}、Hhat∈C^{4×64}。每个发射列共享接收侧4×4条件协方差；未测组省略SRS项。CSI年龄通过噪声膨胀进入。单位：坐标m，信道为归一化复增益，噪声和协方差相应归一化。依据 CHASI_UNIFIED_TRACE C01–C12，chasi_generate_scene.m。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旧候选的归一化编码含 PF 指数、连接数、调度阈值、链路/功率惩罚、rank 门限、修复功率和修复链接数。GA 对候选做选择/交叉/变异，PSO 用速度位置更新；历史评价器有自己的目标与修复逻辑。旧搜索与当前正式矩阵求解器没有默认实线调用。图中两条橙色虚线是希望将来连接的搜索配置/评价反馈。当前 b、χ、r、ν 按规则给定，只有 w 是正式数值优化量。源码 cf_search.m、cf_decode_candidate.m、cf_evaluate_candidate.m（以 db9d7e3 已提交版本为准）；正式链 chasi_run.m、chasi_matrix_wmmse.m。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w_ljg是TRP l对UE j的预编码块；F_kjg是到UE k的跨TRP相干叠加，有用项为j=k，其余为干扰。Ryy为4×4接收协方差，I为归一化噪声，p_lg C_klg体现统计误差对接收扰动。Rint=Ryy−FkkFkk^H为4×4干扰加噪声协方差。SE采用logdet；真信道评价用Htrue重新形成有效信道、干扰与速率。业务体验按原协议另行聚合，不能将SE直接称体验。当前只有二阶等效计算，没有生成完整OFDM波形。依据 CHASI_UNIFIED_TRACE C15–C20、C32，chasi_matrix_wmmse.m、chasi_evaluate.m。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外层固定当前 w 后，用估计信道和误差统计形成 F 与 Ryy，再更新 A=(Ryy)^−1 Fkk、E、Ω=E^−1，按当前效用更新 η。固定 A/Ω/η 后的 w 子问题由内层 ADMM 解。ADMM 中 A/Ω/η 不更新。返回跨组功率可行的 z 后，实际代码重算目标并可能回溯，内层残差判停与外层停止分开。源码 chasi_matrix_wmmse.m：外层约 41–100；状态更新约 380；ADMM 约 446。正式规模停止条件目前未满足。理论参考：Christensen et al., Weighted Sum-Rate Maximization Using Weighted MMSE for MIMO-BC Beamforming Design, IEEE TWC 2008, DOI 10.1109/TWC.2008.070851；Boyd et al., Distributed Optimization and Statistical Learning via ADMM, 2011, DOI 10.1561/2200000016。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源码固定 A、Ω、η，构造隐式二次算子 Q 与线性项 B；每组 CG 更新原变量 x。ρ/2 项在增广目标中，因此正规方程出现 ρI；νg 是该组跨 RB 发射权重。z 对同一 TRP 的所有资源组共同投影，使 ΣgνgΣj||w_ljg||²≤P_l；不能逐组独立投影。随后 y+=x−z 并检查原始/对偶残差与 CG 精度。输出可行 z。当前是单进程集中式实现，尚未 TRP 并行化。正式规模有触及停止上限的记录。源码 chasi_matrix_wmmse.m ADMM 段约 446–560。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输入是链路增益、SRS/CSI-RS 测量 SINR、测量年龄、行选择矩阵 P 和先验 C0=βRrx。当前等效噪声 ns,nc 已包含测量质量/年龄影响；每发射列使用同一接收侧 4×4 条件协方差 C。若无该组 SRS，省略 PᴴP/ns。求解器以 Σ_l p_lg C_klg 加入接收协方差，改变 A、E、Ω；固定这些量后的二次算子还含误差惩罚，改变 w。最后以 Htrue 独立评价。名义 C=0、统一 C、链路非均匀 C 的公平对照需固定拓扑、业务、预算、初值；尚无正向结论。确定性误差椭球需校准半径/形状，最坏情况内层未接入。源码 chasi_generate_scene.m、chasi_matrix_wmmse.m、chasi_evaluate.m。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这是投影用核心符号表。索引 l:TRP、k/j:UE、g:资源组，Nt=64、Nr=4。Htrue/Hhat均4×64；C4×4；w64×r；F与A为4×r；Ryy4×4；E与Ω为r×r。x/z/y与w同维，ρ为ADMM惩罚参数，P为W；RSE为bit/s/Hz，Rexp为按业务协议统计的体验率。完整解释见 SYMBOLS.md 和 CHASI_UNIFIED_TRACE.tex。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此页和下一页仅介绍202610-系统方案v2.pdf的拟议研究，不表示已进入当前代码。计划从链路级误差椭球入手，结合公平效用、功率、组稀疏和事件触发通信；希望在真实业务与资源限制下评估边缘体验、功率和消息量。当前统计C与椭球Σ的对应需要校准；联合WMMSE仍非凸，固定部分变量后子问题凸性仍要证明。关闭某条TRP–UE链路不等于整个TRP休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三条边界：第一，链路级最坏情况需定义椭球与内层优化、论证适用条件；第二，组稀疏需要处理耦合二次项，不能声称整个子问题一次软阈值闭式解决；第三，TRP本地共识与事件触发需要消息缓存、更新时序和收敛条件。更大误差不必然产生更宽波束；链路关闭不等于TRP休眠；功率下降或通信节省比例是待验证目标。当前已实现的只有集中式统计误差WMMSE–ADMM及既有评价链，新版系统方案不可画成已完成闭环。依据 202610-系统方案v2.pdf 与当前 chasi_matrix_wmmse.m。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27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6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2.xml"/><Relationship Id="rId3" Type="http://schemas.openxmlformats.org/officeDocument/2006/relationships/image" Target="../media/image6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eg"/><Relationship Id="rId3" Type="http://schemas.openxmlformats.org/officeDocument/2006/relationships/image" Target="../media/image8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eg"/><Relationship Id="rId3" Type="http://schemas.openxmlformats.org/officeDocument/2006/relationships/image" Target="../media/image8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e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19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14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27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6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jpeg"/><Relationship Id="rId3" Type="http://schemas.openxmlformats.org/officeDocument/2006/relationships/image" Target="../media/image4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screen"/>
          <a:srcRect r="25963"/>
          <a:stretch>
            <a:fillRect/>
          </a:stretch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549208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3549208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3549208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3549208" y="1484311"/>
            <a:ext cx="7287114" cy="2386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  <a:endParaRPr lang="en-US" altLang="zh-CN" dirty="0"/>
          </a:p>
          <a:p>
            <a:pPr lvl="0"/>
            <a:r>
              <a:rPr lang="zh-CN" altLang="en-US" dirty="0"/>
              <a:t>输入大标题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118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600575" y="133072"/>
            <a:ext cx="6791691" cy="6535793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16315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1216315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16315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16315" y="1484311"/>
            <a:ext cx="7287114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667561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925830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888242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98320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1" name="文本框 40"/>
          <p:cNvSpPr txBox="1"/>
          <p:nvPr userDrawn="1"/>
        </p:nvSpPr>
        <p:spPr>
          <a:xfrm rot="16200000">
            <a:off x="-1443469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52633" y="548450"/>
            <a:ext cx="2295327" cy="504694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666749" y="1329225"/>
            <a:ext cx="0" cy="471473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 userDrawn="1"/>
        </p:nvCxnSpPr>
        <p:spPr>
          <a:xfrm>
            <a:off x="9258300" y="1280160"/>
            <a:ext cx="0" cy="483516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8" name="任意多边形: 形状 39"/>
          <p:cNvSpPr/>
          <p:nvPr userDrawn="1"/>
        </p:nvSpPr>
        <p:spPr>
          <a:xfrm>
            <a:off x="221886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39"/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39"/>
          <p:cNvSpPr/>
          <p:nvPr userDrawn="1"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74"/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标题 47"/>
          <p:cNvSpPr>
            <a:spLocks noGrp="1"/>
          </p:cNvSpPr>
          <p:nvPr>
            <p:ph type="title" hasCustomPrompt="1"/>
          </p:nvPr>
        </p:nvSpPr>
        <p:spPr>
          <a:xfrm>
            <a:off x="630418" y="2616692"/>
            <a:ext cx="705595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13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654709" y="2352090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14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655638" y="430418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74450" y="318256"/>
            <a:ext cx="1899117" cy="79286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◀ BIT</a:t>
            </a:r>
            <a:r>
              <a:rPr lang="en-US" altLang="zh-CN" sz="2400" b="1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▶</a:t>
            </a:r>
            <a:endParaRPr lang="zh-CN" altLang="en-US" sz="2400" b="1" i="0" spc="100" dirty="0">
              <a:solidFill>
                <a:schemeClr val="accent3"/>
              </a:solidFill>
              <a:latin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50894" y="-774608"/>
            <a:ext cx="7885491" cy="7588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grpSp>
        <p:nvGrpSpPr>
          <p:cNvPr id="24" name="组合 23"/>
          <p:cNvGrpSpPr/>
          <p:nvPr userDrawn="1"/>
        </p:nvGrpSpPr>
        <p:grpSpPr>
          <a:xfrm>
            <a:off x="671368" y="6083135"/>
            <a:ext cx="2542613" cy="276499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25" name="组合 2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3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4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4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6" name="组合 2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27" name="组合 2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3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3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-矩形 7"/>
          <p:cNvSpPr/>
          <p:nvPr userDrawn="1">
            <p:custDataLst>
              <p:tags r:id="rId1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137303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2610651" y="161103"/>
            <a:ext cx="6791691" cy="6535792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1" name="任意多边形: 形状 30"/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标题 47"/>
          <p:cNvSpPr>
            <a:spLocks noGrp="1"/>
          </p:cNvSpPr>
          <p:nvPr>
            <p:ph type="title" hasCustomPrompt="1"/>
          </p:nvPr>
        </p:nvSpPr>
        <p:spPr>
          <a:xfrm>
            <a:off x="5113420" y="2558484"/>
            <a:ext cx="6236023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60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38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98880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1111261" y="2359437"/>
            <a:ext cx="2855386" cy="216961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" name="任意多边形: 形状 118"/>
          <p:cNvSpPr/>
          <p:nvPr userDrawn="1"/>
        </p:nvSpPr>
        <p:spPr>
          <a:xfrm rot="1916941">
            <a:off x="-628945" y="-604401"/>
            <a:ext cx="12918999" cy="10347422"/>
          </a:xfrm>
          <a:custGeom>
            <a:avLst/>
            <a:gdLst>
              <a:gd name="connsiteX0" fmla="*/ 3910821 w 12918999"/>
              <a:gd name="connsiteY0" fmla="*/ 3392979 h 10347422"/>
              <a:gd name="connsiteX1" fmla="*/ 10262073 w 12918999"/>
              <a:gd name="connsiteY1" fmla="*/ 135295 h 10347422"/>
              <a:gd name="connsiteX2" fmla="*/ 10593809 w 12918999"/>
              <a:gd name="connsiteY2" fmla="*/ 0 h 10347422"/>
              <a:gd name="connsiteX3" fmla="*/ 12918999 w 12918999"/>
              <a:gd name="connsiteY3" fmla="*/ 3728462 h 10347422"/>
              <a:gd name="connsiteX4" fmla="*/ 11966464 w 12918999"/>
              <a:gd name="connsiteY4" fmla="*/ 4224159 h 10347422"/>
              <a:gd name="connsiteX5" fmla="*/ 3050273 w 12918999"/>
              <a:gd name="connsiteY5" fmla="*/ 10050202 h 10347422"/>
              <a:gd name="connsiteX6" fmla="*/ 2678241 w 12918999"/>
              <a:gd name="connsiteY6" fmla="*/ 10347422 h 10347422"/>
              <a:gd name="connsiteX7" fmla="*/ 0 w 12918999"/>
              <a:gd name="connsiteY7" fmla="*/ 6052840 h 10347422"/>
              <a:gd name="connsiteX8" fmla="*/ 4301 w 12918999"/>
              <a:gd name="connsiteY8" fmla="*/ 6049545 h 10347422"/>
              <a:gd name="connsiteX9" fmla="*/ 3049697 w 12918999"/>
              <a:gd name="connsiteY9" fmla="*/ 3931365 h 10347422"/>
              <a:gd name="connsiteX10" fmla="*/ 3910821 w 12918999"/>
              <a:gd name="connsiteY10" fmla="*/ 3392979 h 1034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6" name="任意多边形: 形状 105"/>
          <p:cNvSpPr/>
          <p:nvPr userDrawn="1"/>
        </p:nvSpPr>
        <p:spPr>
          <a:xfrm rot="2885786">
            <a:off x="1087929" y="-2969595"/>
            <a:ext cx="10843749" cy="12155155"/>
          </a:xfrm>
          <a:custGeom>
            <a:avLst/>
            <a:gdLst>
              <a:gd name="connsiteX0" fmla="*/ 6051751 w 10843749"/>
              <a:gd name="connsiteY0" fmla="*/ 1433305 h 12155155"/>
              <a:gd name="connsiteX1" fmla="*/ 6837805 w 10843749"/>
              <a:gd name="connsiteY1" fmla="*/ 587393 h 12155155"/>
              <a:gd name="connsiteX2" fmla="*/ 7410328 w 10843749"/>
              <a:gd name="connsiteY2" fmla="*/ 0 h 12155155"/>
              <a:gd name="connsiteX3" fmla="*/ 10843749 w 10843749"/>
              <a:gd name="connsiteY3" fmla="*/ 3081016 h 12155155"/>
              <a:gd name="connsiteX4" fmla="*/ 2700969 w 10843749"/>
              <a:gd name="connsiteY4" fmla="*/ 12155155 h 12155155"/>
              <a:gd name="connsiteX5" fmla="*/ 0 w 10843749"/>
              <a:gd name="connsiteY5" fmla="*/ 9731411 h 12155155"/>
              <a:gd name="connsiteX6" fmla="*/ 261077 w 10843749"/>
              <a:gd name="connsiteY6" fmla="*/ 9278934 h 12155155"/>
              <a:gd name="connsiteX7" fmla="*/ 6051751 w 10843749"/>
              <a:gd name="connsiteY7" fmla="*/ 1433305 h 1215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43749" h="12155155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843749" y="3081016"/>
                </a:lnTo>
                <a:lnTo>
                  <a:pt x="2700969" y="12155155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8" name="任意多边形: 形状 117"/>
          <p:cNvSpPr/>
          <p:nvPr userDrawn="1"/>
        </p:nvSpPr>
        <p:spPr>
          <a:xfrm rot="1846855">
            <a:off x="-307281" y="-539696"/>
            <a:ext cx="12650822" cy="11532482"/>
          </a:xfrm>
          <a:custGeom>
            <a:avLst/>
            <a:gdLst>
              <a:gd name="connsiteX0" fmla="*/ 7956679 w 12650822"/>
              <a:gd name="connsiteY0" fmla="*/ 1195248 h 11532482"/>
              <a:gd name="connsiteX1" fmla="*/ 9978822 w 12650822"/>
              <a:gd name="connsiteY1" fmla="*/ 62012 h 11532482"/>
              <a:gd name="connsiteX2" fmla="*/ 10098991 w 12650822"/>
              <a:gd name="connsiteY2" fmla="*/ 0 h 11532482"/>
              <a:gd name="connsiteX3" fmla="*/ 12650822 w 12650822"/>
              <a:gd name="connsiteY3" fmla="*/ 4283979 h 11532482"/>
              <a:gd name="connsiteX4" fmla="*/ 12245569 w 12650822"/>
              <a:gd name="connsiteY4" fmla="*/ 4531370 h 11532482"/>
              <a:gd name="connsiteX5" fmla="*/ 3166697 w 12650822"/>
              <a:gd name="connsiteY5" fmla="*/ 11321300 h 11532482"/>
              <a:gd name="connsiteX6" fmla="*/ 2933905 w 12650822"/>
              <a:gd name="connsiteY6" fmla="*/ 11532482 h 11532482"/>
              <a:gd name="connsiteX7" fmla="*/ 1718627 w 12650822"/>
              <a:gd name="connsiteY7" fmla="*/ 9865697 h 11532482"/>
              <a:gd name="connsiteX8" fmla="*/ 0 w 12650822"/>
              <a:gd name="connsiteY8" fmla="*/ 6980488 h 11532482"/>
              <a:gd name="connsiteX9" fmla="*/ 22022 w 12650822"/>
              <a:gd name="connsiteY9" fmla="*/ 6960742 h 11532482"/>
              <a:gd name="connsiteX10" fmla="*/ 4718407 w 12650822"/>
              <a:gd name="connsiteY10" fmla="*/ 3273000 h 11532482"/>
              <a:gd name="connsiteX11" fmla="*/ 7956679 w 12650822"/>
              <a:gd name="connsiteY11" fmla="*/ 1195248 h 1153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650822" h="11532482">
                <a:moveTo>
                  <a:pt x="7956679" y="1195248"/>
                </a:moveTo>
                <a:cubicBezTo>
                  <a:pt x="8621077" y="803084"/>
                  <a:pt x="9295272" y="425195"/>
                  <a:pt x="9978822" y="62012"/>
                </a:cubicBezTo>
                <a:lnTo>
                  <a:pt x="10098991" y="0"/>
                </a:lnTo>
                <a:lnTo>
                  <a:pt x="12650822" y="4283979"/>
                </a:lnTo>
                <a:lnTo>
                  <a:pt x="12245569" y="4531370"/>
                </a:lnTo>
                <a:cubicBezTo>
                  <a:pt x="9012618" y="6531229"/>
                  <a:pt x="5974903" y="8805712"/>
                  <a:pt x="3166697" y="11321300"/>
                </a:cubicBezTo>
                <a:lnTo>
                  <a:pt x="2933905" y="11532482"/>
                </a:lnTo>
                <a:lnTo>
                  <a:pt x="1718627" y="9865697"/>
                </a:lnTo>
                <a:lnTo>
                  <a:pt x="0" y="6980488"/>
                </a:lnTo>
                <a:lnTo>
                  <a:pt x="22022" y="6960742"/>
                </a:lnTo>
                <a:cubicBezTo>
                  <a:pt x="1511041" y="5644986"/>
                  <a:pt x="3079104" y="4413194"/>
                  <a:pt x="4718407" y="3273000"/>
                </a:cubicBezTo>
                <a:cubicBezTo>
                  <a:pt x="5769244" y="2542106"/>
                  <a:pt x="6849352" y="1848853"/>
                  <a:pt x="7956679" y="1195248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"/>
                </a:schemeClr>
              </a:gs>
              <a:gs pos="100000">
                <a:schemeClr val="accent2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9" name="任意多边形: 形状 83"/>
          <p:cNvSpPr/>
          <p:nvPr userDrawn="1"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50" name="任意多边形: 形状 83"/>
          <p:cNvSpPr/>
          <p:nvPr userDrawn="1"/>
        </p:nvSpPr>
        <p:spPr>
          <a:xfrm>
            <a:off x="-2" y="3019587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102" name="任意多边形: 形状 101"/>
          <p:cNvSpPr/>
          <p:nvPr userDrawn="1"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4" name="任意多边形: 形状 83"/>
          <p:cNvSpPr/>
          <p:nvPr userDrawn="1"/>
        </p:nvSpPr>
        <p:spPr>
          <a:xfrm>
            <a:off x="0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48" name="标题 47"/>
          <p:cNvSpPr>
            <a:spLocks noGrp="1"/>
          </p:cNvSpPr>
          <p:nvPr userDrawn="1">
            <p:ph type="title" hasCustomPrompt="1"/>
          </p:nvPr>
        </p:nvSpPr>
        <p:spPr>
          <a:xfrm>
            <a:off x="515939" y="3758091"/>
            <a:ext cx="11160124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>
              <a:lnSpc>
                <a:spcPct val="100000"/>
              </a:lnSpc>
              <a:defRPr lang="zh-CN" altLang="en-US" sz="4000" b="1" spc="100" dirty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</a:p>
        </p:txBody>
      </p:sp>
      <p:sp>
        <p:nvSpPr>
          <p:cNvPr id="38" name="文本占位符 53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063320" y="554073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 algn="ctr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2108522" y="5295418"/>
            <a:ext cx="797495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866200" y="944838"/>
            <a:ext cx="4510874" cy="1262604"/>
          </a:xfrm>
          <a:prstGeom prst="rect">
            <a:avLst/>
          </a:prstGeom>
        </p:spPr>
      </p:pic>
      <p:sp>
        <p:nvSpPr>
          <p:cNvPr id="51" name="文本框 50"/>
          <p:cNvSpPr txBox="1"/>
          <p:nvPr userDrawn="1"/>
        </p:nvSpPr>
        <p:spPr>
          <a:xfrm>
            <a:off x="150844" y="608868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52" name="组合 51"/>
          <p:cNvGrpSpPr/>
          <p:nvPr userDrawn="1"/>
        </p:nvGrpSpPr>
        <p:grpSpPr>
          <a:xfrm>
            <a:off x="10083479" y="631518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53" name="组合 5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91" name="组合 9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4" name="组合 5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55" name="组合 5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6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2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19"/>
          <p:cNvSpPr/>
          <p:nvPr userDrawn="1"/>
        </p:nvSpPr>
        <p:spPr>
          <a:xfrm flipH="1" flipV="1">
            <a:off x="4442085" y="3759199"/>
            <a:ext cx="3307830" cy="2335892"/>
          </a:xfrm>
          <a:custGeom>
            <a:avLst/>
            <a:gdLst>
              <a:gd name="connsiteX0" fmla="*/ 3162300 w 3162300"/>
              <a:gd name="connsiteY0" fmla="*/ 2147409 h 2147409"/>
              <a:gd name="connsiteX1" fmla="*/ 0 w 3162300"/>
              <a:gd name="connsiteY1" fmla="*/ 2147409 h 2147409"/>
              <a:gd name="connsiteX2" fmla="*/ 0 w 3162300"/>
              <a:gd name="connsiteY2" fmla="*/ 1565265 h 2147409"/>
              <a:gd name="connsiteX3" fmla="*/ 0 w 3162300"/>
              <a:gd name="connsiteY3" fmla="*/ 1544697 h 2147409"/>
              <a:gd name="connsiteX4" fmla="*/ 0 w 3162300"/>
              <a:gd name="connsiteY4" fmla="*/ 0 h 2147409"/>
              <a:gd name="connsiteX5" fmla="*/ 1585774 w 3162300"/>
              <a:gd name="connsiteY5" fmla="*/ 1112898 h 2147409"/>
              <a:gd name="connsiteX6" fmla="*/ 3162300 w 3162300"/>
              <a:gd name="connsiteY6" fmla="*/ 0 h 2147409"/>
              <a:gd name="connsiteX7" fmla="*/ 3162300 w 3162300"/>
              <a:gd name="connsiteY7" fmla="*/ 1544697 h 2147409"/>
              <a:gd name="connsiteX8" fmla="*/ 3162300 w 3162300"/>
              <a:gd name="connsiteY8" fmla="*/ 1565265 h 2147409"/>
              <a:gd name="connsiteX0-1" fmla="*/ 0 w 3162300"/>
              <a:gd name="connsiteY0-2" fmla="*/ 2147409 h 2238849"/>
              <a:gd name="connsiteX1-3" fmla="*/ 0 w 3162300"/>
              <a:gd name="connsiteY1-4" fmla="*/ 1565265 h 2238849"/>
              <a:gd name="connsiteX2-5" fmla="*/ 0 w 3162300"/>
              <a:gd name="connsiteY2-6" fmla="*/ 1544697 h 2238849"/>
              <a:gd name="connsiteX3-7" fmla="*/ 0 w 3162300"/>
              <a:gd name="connsiteY3-8" fmla="*/ 0 h 2238849"/>
              <a:gd name="connsiteX4-9" fmla="*/ 1585774 w 3162300"/>
              <a:gd name="connsiteY4-10" fmla="*/ 1112898 h 2238849"/>
              <a:gd name="connsiteX5-11" fmla="*/ 3162300 w 3162300"/>
              <a:gd name="connsiteY5-12" fmla="*/ 0 h 2238849"/>
              <a:gd name="connsiteX6-13" fmla="*/ 3162300 w 3162300"/>
              <a:gd name="connsiteY6-14" fmla="*/ 1544697 h 2238849"/>
              <a:gd name="connsiteX7-15" fmla="*/ 3162300 w 3162300"/>
              <a:gd name="connsiteY7-16" fmla="*/ 1565265 h 2238849"/>
              <a:gd name="connsiteX8-17" fmla="*/ 3162300 w 3162300"/>
              <a:gd name="connsiteY8-18" fmla="*/ 2147409 h 2238849"/>
              <a:gd name="connsiteX9" fmla="*/ 91440 w 3162300"/>
              <a:gd name="connsiteY9" fmla="*/ 2238849 h 2238849"/>
              <a:gd name="connsiteX0-19" fmla="*/ 0 w 3162300"/>
              <a:gd name="connsiteY0-20" fmla="*/ 2147409 h 2147409"/>
              <a:gd name="connsiteX1-21" fmla="*/ 0 w 3162300"/>
              <a:gd name="connsiteY1-22" fmla="*/ 1565265 h 2147409"/>
              <a:gd name="connsiteX2-23" fmla="*/ 0 w 3162300"/>
              <a:gd name="connsiteY2-24" fmla="*/ 1544697 h 2147409"/>
              <a:gd name="connsiteX3-25" fmla="*/ 0 w 3162300"/>
              <a:gd name="connsiteY3-26" fmla="*/ 0 h 2147409"/>
              <a:gd name="connsiteX4-27" fmla="*/ 1585774 w 3162300"/>
              <a:gd name="connsiteY4-28" fmla="*/ 1112898 h 2147409"/>
              <a:gd name="connsiteX5-29" fmla="*/ 3162300 w 3162300"/>
              <a:gd name="connsiteY5-30" fmla="*/ 0 h 2147409"/>
              <a:gd name="connsiteX6-31" fmla="*/ 3162300 w 3162300"/>
              <a:gd name="connsiteY6-32" fmla="*/ 1544697 h 2147409"/>
              <a:gd name="connsiteX7-33" fmla="*/ 3162300 w 3162300"/>
              <a:gd name="connsiteY7-34" fmla="*/ 1565265 h 2147409"/>
              <a:gd name="connsiteX8-35" fmla="*/ 3162300 w 3162300"/>
              <a:gd name="connsiteY8-36" fmla="*/ 2147409 h 214740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3"/>
          <p:cNvSpPr/>
          <p:nvPr userDrawn="1"/>
        </p:nvSpPr>
        <p:spPr>
          <a:xfrm>
            <a:off x="4442085" y="1015093"/>
            <a:ext cx="3307830" cy="1428368"/>
          </a:xfrm>
          <a:custGeom>
            <a:avLst/>
            <a:gdLst>
              <a:gd name="connsiteX0" fmla="*/ 0 w 3162300"/>
              <a:gd name="connsiteY0" fmla="*/ 0 h 1871961"/>
              <a:gd name="connsiteX1" fmla="*/ 3162300 w 3162300"/>
              <a:gd name="connsiteY1" fmla="*/ 0 h 1871961"/>
              <a:gd name="connsiteX2" fmla="*/ 3162300 w 3162300"/>
              <a:gd name="connsiteY2" fmla="*/ 1871961 h 1871961"/>
              <a:gd name="connsiteX3" fmla="*/ 0 w 3162300"/>
              <a:gd name="connsiteY3" fmla="*/ 1871961 h 1871961"/>
              <a:gd name="connsiteX4" fmla="*/ 0 w 3162300"/>
              <a:gd name="connsiteY4" fmla="*/ 0 h 1871961"/>
              <a:gd name="connsiteX0-1" fmla="*/ 0 w 3162300"/>
              <a:gd name="connsiteY0-2" fmla="*/ 1871961 h 1963401"/>
              <a:gd name="connsiteX1-3" fmla="*/ 0 w 3162300"/>
              <a:gd name="connsiteY1-4" fmla="*/ 0 h 1963401"/>
              <a:gd name="connsiteX2-5" fmla="*/ 3162300 w 3162300"/>
              <a:gd name="connsiteY2-6" fmla="*/ 0 h 1963401"/>
              <a:gd name="connsiteX3-7" fmla="*/ 3162300 w 3162300"/>
              <a:gd name="connsiteY3-8" fmla="*/ 1871961 h 1963401"/>
              <a:gd name="connsiteX4-9" fmla="*/ 91440 w 3162300"/>
              <a:gd name="connsiteY4-10" fmla="*/ 1963401 h 1963401"/>
              <a:gd name="connsiteX0-11" fmla="*/ 0 w 3162300"/>
              <a:gd name="connsiteY0-12" fmla="*/ 1871961 h 1871961"/>
              <a:gd name="connsiteX1-13" fmla="*/ 0 w 3162300"/>
              <a:gd name="connsiteY1-14" fmla="*/ 0 h 1871961"/>
              <a:gd name="connsiteX2-15" fmla="*/ 3162300 w 3162300"/>
              <a:gd name="connsiteY2-16" fmla="*/ 0 h 1871961"/>
              <a:gd name="connsiteX3-17" fmla="*/ 3162300 w 3162300"/>
              <a:gd name="connsiteY3-18" fmla="*/ 1871961 h 18719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flipV="1">
            <a:off x="6007269" y="3832178"/>
            <a:ext cx="177462" cy="152984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974749" y="1401223"/>
            <a:ext cx="2256308" cy="63154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28" r="23340"/>
          <a:stretch>
            <a:fillRect/>
          </a:stretch>
        </p:blipFill>
        <p:spPr>
          <a:xfrm>
            <a:off x="4303956" y="0"/>
            <a:ext cx="7888043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5573" r="198"/>
          <a:stretch>
            <a:fillRect/>
          </a:stretch>
        </p:blipFill>
        <p:spPr>
          <a:xfrm>
            <a:off x="0" y="0"/>
            <a:ext cx="8678174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9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4768810" y="7452"/>
            <a:ext cx="7423189" cy="6850548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-10414" y="0"/>
            <a:ext cx="8336943" cy="686004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0414" y="0"/>
            <a:ext cx="1220241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6352" y="0"/>
            <a:ext cx="12198351" cy="5024521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6351" y="0"/>
            <a:ext cx="1219834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0"/>
                </a:schemeClr>
              </a:gs>
              <a:gs pos="66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550546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7223405" y="2402693"/>
            <a:ext cx="4785100" cy="47749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>
            <a:off x="14873" y="5340546"/>
            <a:ext cx="6018099" cy="151836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 flipH="1">
            <a:off x="6154789" y="5340546"/>
            <a:ext cx="6018099" cy="15183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5018002" y="2568943"/>
            <a:ext cx="2143294" cy="59991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59024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6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626145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V="1">
            <a:off x="14873" y="-15231"/>
            <a:ext cx="6018099" cy="151836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H="1" flipV="1">
            <a:off x="6154789" y="-15231"/>
            <a:ext cx="6018099" cy="151836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018002" y="2577573"/>
            <a:ext cx="2143294" cy="599913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3040886" y="5719548"/>
            <a:ext cx="6136451" cy="681262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</p:grpSpPr>
        <p:grpSp>
          <p:nvGrpSpPr>
            <p:cNvPr id="18" name="组合 17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" name="组合 18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20" name="组合 19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3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24"/>
            <a:ext cx="12193057" cy="3633531"/>
          </a:xfrm>
          <a:prstGeom prst="rect">
            <a:avLst/>
          </a:prstGeom>
        </p:spPr>
      </p:pic>
      <p:sp>
        <p:nvSpPr>
          <p:cNvPr id="37" name="任意形状 36"/>
          <p:cNvSpPr/>
          <p:nvPr userDrawn="1"/>
        </p:nvSpPr>
        <p:spPr>
          <a:xfrm>
            <a:off x="-134112" y="-106934"/>
            <a:ext cx="12468264" cy="3829332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0" y="0"/>
            <a:ext cx="12192000" cy="16328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502191" y="3048198"/>
            <a:ext cx="1193467" cy="1192626"/>
          </a:xfrm>
          <a:prstGeom prst="rect">
            <a:avLst/>
          </a:prstGeom>
        </p:spPr>
      </p:pic>
      <p:sp>
        <p:nvSpPr>
          <p:cNvPr id="43" name="文本框 42"/>
          <p:cNvSpPr txBox="1"/>
          <p:nvPr userDrawn="1"/>
        </p:nvSpPr>
        <p:spPr>
          <a:xfrm>
            <a:off x="150844" y="617414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44" name="组合 43"/>
          <p:cNvGrpSpPr/>
          <p:nvPr userDrawn="1"/>
        </p:nvGrpSpPr>
        <p:grpSpPr>
          <a:xfrm>
            <a:off x="10083479" y="640064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45" name="组合 4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5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61" name="组合 6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6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2" name="组合 6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6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6" name="组合 4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47" name="组合 4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5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5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5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7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222990" y="1401505"/>
            <a:ext cx="3746000" cy="104851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7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453730" y="4619682"/>
            <a:ext cx="3284503" cy="72219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b="7394"/>
          <a:stretch>
            <a:fillRect/>
          </a:stretch>
        </p:blipFill>
        <p:spPr>
          <a:xfrm>
            <a:off x="-3165" y="0"/>
            <a:ext cx="1219198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10" y="1"/>
            <a:ext cx="12191980" cy="6857994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  <a:lumMod val="85000"/>
                </a:schemeClr>
              </a:gs>
              <a:gs pos="50000">
                <a:schemeClr val="accent1">
                  <a:alpha val="90000"/>
                  <a:lumMod val="85000"/>
                </a:schemeClr>
              </a:gs>
              <a:gs pos="100000">
                <a:schemeClr val="accent1">
                  <a:alpha val="90000"/>
                  <a:lumMod val="8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  <a:buFontTx/>
              <a:buNone/>
            </a:pPr>
            <a:endParaRPr lang="zh-CN" altLang="en-US"/>
          </a:p>
        </p:txBody>
      </p:sp>
      <p:sp>
        <p:nvSpPr>
          <p:cNvPr id="6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72100" y="3028371"/>
            <a:ext cx="9041450" cy="911074"/>
          </a:xfrm>
        </p:spPr>
        <p:txBody>
          <a:bodyPr/>
          <a:lstStyle>
            <a:lvl1pPr marL="0" indent="0" algn="ctr">
              <a:buFontTx/>
              <a:buNone/>
              <a:defRPr sz="4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北京理工大学毕业答辩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767417" y="1018488"/>
            <a:ext cx="4650816" cy="1301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81566"/>
            <a:ext cx="12192000" cy="3244934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3317875"/>
            <a:ext cx="12192000" cy="354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66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 bwMode="auto">
          <a:xfrm>
            <a:off x="9790632" y="109143"/>
            <a:ext cx="2286546" cy="297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24285" y="-494144"/>
            <a:ext cx="3165893" cy="41243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2000" cy="5089582"/>
            <a:chOff x="0" y="0"/>
            <a:chExt cx="12192000" cy="5089582"/>
          </a:xfrm>
          <a:solidFill>
            <a:schemeClr val="accent1"/>
          </a:solidFill>
        </p:grpSpPr>
        <p:sp>
          <p:nvSpPr>
            <p:cNvPr id="3" name="等腰三角形 2"/>
            <p:cNvSpPr/>
            <p:nvPr/>
          </p:nvSpPr>
          <p:spPr>
            <a:xfrm flipV="1">
              <a:off x="0" y="4123423"/>
              <a:ext cx="12192000" cy="966159"/>
            </a:xfrm>
            <a:prstGeom prst="triangle">
              <a:avLst/>
            </a:prstGeom>
            <a:grpFill/>
            <a:ln>
              <a:noFill/>
            </a:ln>
            <a:effectLst>
              <a:outerShdw blurRad="76200" dist="127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0" y="0"/>
              <a:ext cx="12192000" cy="41234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 userDrawn="1"/>
        </p:nvGrpSpPr>
        <p:grpSpPr>
          <a:xfrm>
            <a:off x="1866428" y="1872369"/>
            <a:ext cx="8481919" cy="863927"/>
            <a:chOff x="1797415" y="1328902"/>
            <a:chExt cx="8481919" cy="863927"/>
          </a:xfrm>
        </p:grpSpPr>
        <p:grpSp>
          <p:nvGrpSpPr>
            <p:cNvPr id="6" name="组合 5"/>
            <p:cNvGrpSpPr/>
            <p:nvPr/>
          </p:nvGrpSpPr>
          <p:grpSpPr>
            <a:xfrm>
              <a:off x="6886532" y="1337094"/>
              <a:ext cx="3392802" cy="846135"/>
              <a:chOff x="10340336" y="2247899"/>
              <a:chExt cx="2724438" cy="679451"/>
            </a:xfrm>
          </p:grpSpPr>
          <p:sp>
            <p:nvSpPr>
              <p:cNvPr id="2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solidFill>
                <a:schemeClr val="bg1"/>
              </a:solidFill>
            </p:grpSpPr>
            <p:sp>
              <p:nvSpPr>
                <p:cNvPr id="2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solidFill>
                <a:schemeClr val="bg1"/>
              </a:solidFill>
            </p:grpSpPr>
            <p:sp>
              <p:nvSpPr>
                <p:cNvPr id="2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" name="组合 6"/>
            <p:cNvGrpSpPr/>
            <p:nvPr/>
          </p:nvGrpSpPr>
          <p:grpSpPr>
            <a:xfrm>
              <a:off x="1797415" y="1328902"/>
              <a:ext cx="3445163" cy="863927"/>
              <a:chOff x="6738929" y="2270918"/>
              <a:chExt cx="2766486" cy="693738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solidFill>
                <a:schemeClr val="bg1"/>
              </a:solidFill>
            </p:grpSpPr>
            <p:sp>
              <p:nvSpPr>
                <p:cNvPr id="1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solidFill>
                <a:schemeClr val="bg1"/>
              </a:solidFill>
            </p:grpSpPr>
            <p:sp>
              <p:nvSpPr>
                <p:cNvPr id="1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solidFill>
                <a:schemeClr val="bg1"/>
              </a:solidFill>
            </p:grpSpPr>
            <p:sp>
              <p:nvSpPr>
                <p:cNvPr id="1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7"/>
            <a:ext cx="5022689" cy="6857433"/>
          </a:xfrm>
          <a:prstGeom prst="rect">
            <a:avLst/>
          </a:prstGeom>
        </p:spPr>
      </p:pic>
      <p:sp>
        <p:nvSpPr>
          <p:cNvPr id="3" name="矩形 白1"/>
          <p:cNvSpPr/>
          <p:nvPr userDrawn="1"/>
        </p:nvSpPr>
        <p:spPr>
          <a:xfrm rot="5400000">
            <a:off x="-917658" y="918223"/>
            <a:ext cx="6858002" cy="5022690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2289050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15558" b="38705"/>
          <a:stretch>
            <a:fillRect/>
          </a:stretch>
        </p:blipFill>
        <p:spPr>
          <a:xfrm>
            <a:off x="1" y="0"/>
            <a:ext cx="12192000" cy="2290219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1" y="-7884"/>
            <a:ext cx="12192001" cy="229810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024353" y="841210"/>
            <a:ext cx="2143294" cy="5999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-81481" y="2289050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723340" y="1294827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723340" y="5613415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4" cstate="screen"/>
          <a:srcRect l="49471"/>
          <a:stretch>
            <a:fillRect/>
          </a:stretch>
        </p:blipFill>
        <p:spPr>
          <a:xfrm>
            <a:off x="-34506" y="163259"/>
            <a:ext cx="3298317" cy="653148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4" cstate="screen"/>
          <a:srcRect r="49912"/>
          <a:stretch>
            <a:fillRect/>
          </a:stretch>
        </p:blipFill>
        <p:spPr>
          <a:xfrm>
            <a:off x="8928190" y="163258"/>
            <a:ext cx="3269562" cy="65314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 rot="16200000">
            <a:off x="-1538864" y="2653429"/>
            <a:ext cx="52296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spc="5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Contents</a:t>
            </a:r>
            <a:r>
              <a:rPr lang="en-US" altLang="zh-CN" sz="4400" b="1" spc="50" dirty="0">
                <a:solidFill>
                  <a:schemeClr val="accent4"/>
                </a:solidFill>
                <a:latin typeface="+mj-lt"/>
              </a:rPr>
              <a:t>■</a:t>
            </a:r>
            <a:endParaRPr lang="zh-CN" altLang="en-US" sz="4400" b="1" spc="5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116549" y="3752395"/>
            <a:ext cx="738664" cy="224676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3600" b="1" spc="600" dirty="0">
                <a:solidFill>
                  <a:schemeClr val="accent1"/>
                </a:solidFill>
              </a:rPr>
              <a:t>结构大纲</a:t>
            </a: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519824" y="6600901"/>
            <a:ext cx="25234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000" spc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</a:t>
            </a:r>
            <a:r>
              <a:rPr lang="en-US" altLang="zh-CN" sz="1000" spc="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INSTITUTE OF TECHNOLOGY</a:t>
            </a:r>
            <a:endParaRPr lang="zh-CN" altLang="en-US" sz="1000" spc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041148" y="78493"/>
            <a:ext cx="2025400" cy="566914"/>
          </a:xfrm>
          <a:prstGeom prst="rect">
            <a:avLst/>
          </a:prstGeom>
        </p:spPr>
      </p:pic>
      <p:sp>
        <p:nvSpPr>
          <p:cNvPr id="82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84" name="矩形 83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86" name="组合 85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0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0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0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7" name="组合 86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88" name="组合 8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9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9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9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9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r="20215"/>
          <a:stretch>
            <a:fillRect/>
          </a:stretch>
        </p:blipFill>
        <p:spPr>
          <a:xfrm>
            <a:off x="6592525" y="0"/>
            <a:ext cx="5609371" cy="6765696"/>
          </a:xfrm>
          <a:prstGeom prst="rect">
            <a:avLst/>
          </a:prstGeom>
        </p:spPr>
      </p:pic>
      <p:sp>
        <p:nvSpPr>
          <p:cNvPr id="63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65" name="矩形 64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6" name="组合 6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67" name="组合 6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1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3" name="组合 82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88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9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4" name="组合 83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85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7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8" name="组合 6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79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0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77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8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74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5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6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2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r="30571" b="46397"/>
          <a:stretch>
            <a:fillRect/>
          </a:stretch>
        </p:blipFill>
        <p:spPr>
          <a:xfrm>
            <a:off x="9019185" y="4400550"/>
            <a:ext cx="3194586" cy="24693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4398806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63500" dir="540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-71956" y="4398806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sp>
        <p:nvSpPr>
          <p:cNvPr id="18" name="矩形: 圆角 162"/>
          <p:cNvSpPr/>
          <p:nvPr userDrawn="1"/>
        </p:nvSpPr>
        <p:spPr>
          <a:xfrm>
            <a:off x="1664486" y="3107981"/>
            <a:ext cx="8945408" cy="3014890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8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: 圆角 163"/>
          <p:cNvSpPr/>
          <p:nvPr userDrawn="1"/>
        </p:nvSpPr>
        <p:spPr>
          <a:xfrm>
            <a:off x="1463942" y="3222979"/>
            <a:ext cx="9346497" cy="2899892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94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: 圆角 164"/>
          <p:cNvSpPr/>
          <p:nvPr userDrawn="1"/>
        </p:nvSpPr>
        <p:spPr>
          <a:xfrm>
            <a:off x="1200150" y="3365257"/>
            <a:ext cx="9791700" cy="2757614"/>
          </a:xfrm>
          <a:prstGeom prst="roundRect">
            <a:avLst>
              <a:gd name="adj" fmla="val 3205"/>
            </a:avLst>
          </a:prstGeom>
          <a:gradFill flip="none" rotWithShape="1">
            <a:gsLst>
              <a:gs pos="0">
                <a:sysClr val="window" lastClr="FFFFFF"/>
              </a:gs>
              <a:gs pos="100000">
                <a:srgbClr val="F8F8F8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17500" sx="102000" sy="102000" algn="ctr" rotWithShape="0">
              <a:sysClr val="window" lastClr="FFFFFF">
                <a:lumMod val="7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<a:noAutofit/>
          </a:bodyPr>
          <a:lstStyle/>
          <a:p>
            <a:pPr marL="0" marR="0" lvl="0" indent="45720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l="29063" r="32938"/>
          <a:stretch>
            <a:fillRect/>
          </a:stretch>
        </p:blipFill>
        <p:spPr>
          <a:xfrm>
            <a:off x="0" y="0"/>
            <a:ext cx="3914775" cy="6857999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1"/>
            <a:ext cx="3914775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0" y="0"/>
            <a:ext cx="3914774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396045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 userDrawn="1"/>
        </p:nvGrpSpPr>
        <p:grpSpPr>
          <a:xfrm>
            <a:off x="3961505" y="2797003"/>
            <a:ext cx="122686" cy="1263995"/>
            <a:chOff x="4630742" y="2258287"/>
            <a:chExt cx="122686" cy="1263995"/>
          </a:xfrm>
          <a:solidFill>
            <a:schemeClr val="accent4"/>
          </a:solidFill>
        </p:grpSpPr>
        <p:sp>
          <p:nvSpPr>
            <p:cNvPr id="22" name="等腰三角形 21"/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接连接符 41"/>
          <p:cNvCxnSpPr/>
          <p:nvPr userDrawn="1"/>
        </p:nvCxnSpPr>
        <p:spPr>
          <a:xfrm>
            <a:off x="1053541" y="2793542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 userDrawn="1"/>
        </p:nvSpPr>
        <p:spPr>
          <a:xfrm>
            <a:off x="846867" y="2752385"/>
            <a:ext cx="2197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zh-CN" altLang="en-US" sz="5400" spc="600" dirty="0">
                <a:solidFill>
                  <a:schemeClr val="bg1"/>
                </a:solidFill>
                <a:latin typeface="+mn-ea"/>
                <a:ea typeface="+mn-ea"/>
              </a:rPr>
              <a:t>目录</a:t>
            </a:r>
          </a:p>
        </p:txBody>
      </p:sp>
      <p:sp>
        <p:nvSpPr>
          <p:cNvPr id="44" name="矩形 43"/>
          <p:cNvSpPr/>
          <p:nvPr userDrawn="1"/>
        </p:nvSpPr>
        <p:spPr>
          <a:xfrm>
            <a:off x="963806" y="3595872"/>
            <a:ext cx="1906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en-US" altLang="zh-CN" sz="2400" dirty="0">
                <a:solidFill>
                  <a:schemeClr val="bg1"/>
                </a:solidFill>
              </a:rPr>
              <a:t>CONTENTS</a:t>
            </a:r>
          </a:p>
        </p:txBody>
      </p:sp>
      <p:cxnSp>
        <p:nvCxnSpPr>
          <p:cNvPr id="45" name="直接连接符 44"/>
          <p:cNvCxnSpPr/>
          <p:nvPr userDrawn="1"/>
        </p:nvCxnSpPr>
        <p:spPr>
          <a:xfrm>
            <a:off x="1053541" y="4060998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64854" y="2218510"/>
            <a:ext cx="1715719" cy="4802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4" cstate="screen"/>
          <a:srcRect r="15912" b="16285"/>
          <a:stretch>
            <a:fillRect/>
          </a:stretch>
        </p:blipFill>
        <p:spPr>
          <a:xfrm>
            <a:off x="7258050" y="1942165"/>
            <a:ext cx="4949784" cy="493364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2">
    <p:bg>
      <p:bgPr>
        <a:gradFill>
          <a:gsLst>
            <a:gs pos="25000">
              <a:schemeClr val="accent1">
                <a:alpha val="0"/>
              </a:schemeClr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493231"/>
            <a:ext cx="5251028" cy="5254131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6943725" y="0"/>
            <a:ext cx="5248273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/>
          <p:cNvSpPr/>
          <p:nvPr userDrawn="1"/>
        </p:nvSpPr>
        <p:spPr>
          <a:xfrm>
            <a:off x="660400" y="6054314"/>
            <a:ext cx="2014538" cy="1438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第几部分 ▶</a:t>
            </a:r>
          </a:p>
        </p:txBody>
      </p:sp>
      <p:sp>
        <p:nvSpPr>
          <p:cNvPr id="122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420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</a:p>
        </p:txBody>
      </p:sp>
      <p:sp>
        <p:nvSpPr>
          <p:cNvPr id="123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</a:p>
          <a:p>
            <a:pPr lvl="0"/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6167300"/>
            <a:ext cx="12192000" cy="690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grpSp>
        <p:nvGrpSpPr>
          <p:cNvPr id="115" name="组合 114"/>
          <p:cNvGrpSpPr/>
          <p:nvPr userDrawn="1"/>
        </p:nvGrpSpPr>
        <p:grpSpPr>
          <a:xfrm>
            <a:off x="684666" y="6423435"/>
            <a:ext cx="1915659" cy="208321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117" name="组合 11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34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36" name="组合 135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4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" name="组合 136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38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9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0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8" name="组合 11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9" name="组合 11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13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1" name="组合 1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3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4" name="组合 123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2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25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143" name="图片 14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203766" y="6386257"/>
            <a:ext cx="1257421" cy="27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2041996" y="3927615"/>
            <a:ext cx="8108006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473992" y="3927615"/>
            <a:ext cx="9244014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l="1" t="13078" r="-1" b="115"/>
          <a:stretch>
            <a:fillRect/>
          </a:stretch>
        </p:blipFill>
        <p:spPr>
          <a:xfrm>
            <a:off x="0" y="-1"/>
            <a:ext cx="12191999" cy="4362681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4346687"/>
            <a:ext cx="12192001" cy="2511313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4346687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936" y="4346687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828800" y="2524126"/>
            <a:ext cx="8494006" cy="356807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69" name="图片 68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861200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7423183" y="0"/>
            <a:ext cx="4768815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5" name="文本框 44"/>
          <p:cNvSpPr txBox="1"/>
          <p:nvPr userDrawn="1"/>
        </p:nvSpPr>
        <p:spPr>
          <a:xfrm>
            <a:off x="-2647787" y="-2281727"/>
            <a:ext cx="6031920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0" dirty="0">
                <a:solidFill>
                  <a:schemeClr val="bg1">
                    <a:alpha val="40000"/>
                  </a:schemeClr>
                </a:solidFill>
              </a:rPr>
              <a:t>0</a:t>
            </a:r>
            <a:endParaRPr lang="zh-CN" altLang="en-US" sz="72000" dirty="0">
              <a:solidFill>
                <a:schemeClr val="bg1">
                  <a:alpha val="40000"/>
                </a:schemeClr>
              </a:solidFill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6870981" y="0"/>
            <a:ext cx="5321017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  <p:grpSp>
        <p:nvGrpSpPr>
          <p:cNvPr id="9" name="Group 6"/>
          <p:cNvGrpSpPr/>
          <p:nvPr userDrawn="1"/>
        </p:nvGrpSpPr>
        <p:grpSpPr bwMode="auto">
          <a:xfrm>
            <a:off x="778934" y="687917"/>
            <a:ext cx="3299884" cy="5425016"/>
            <a:chOff x="0" y="0"/>
            <a:chExt cx="2476153" cy="4069266"/>
          </a:xfrm>
          <a:solidFill>
            <a:schemeClr val="bg1">
              <a:alpha val="25000"/>
            </a:schemeClr>
          </a:solidFill>
        </p:grpSpPr>
        <p:sp>
          <p:nvSpPr>
            <p:cNvPr id="10" name="矩形 3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" name="矩形 4"/>
            <p:cNvSpPr>
              <a:spLocks noChangeArrowheads="1"/>
            </p:cNvSpPr>
            <p:nvPr/>
          </p:nvSpPr>
          <p:spPr bwMode="auto">
            <a:xfrm>
              <a:off x="437624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4" name="矩形 5"/>
            <p:cNvSpPr>
              <a:spLocks noChangeArrowheads="1"/>
            </p:cNvSpPr>
            <p:nvPr/>
          </p:nvSpPr>
          <p:spPr bwMode="auto">
            <a:xfrm>
              <a:off x="875248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1312872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矩形 7"/>
            <p:cNvSpPr>
              <a:spLocks noChangeArrowheads="1"/>
            </p:cNvSpPr>
            <p:nvPr/>
          </p:nvSpPr>
          <p:spPr bwMode="auto">
            <a:xfrm>
              <a:off x="1750496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7" name="矩形 8"/>
            <p:cNvSpPr>
              <a:spLocks noChangeArrowheads="1"/>
            </p:cNvSpPr>
            <p:nvPr/>
          </p:nvSpPr>
          <p:spPr bwMode="auto">
            <a:xfrm>
              <a:off x="2188121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矩形 59"/>
            <p:cNvSpPr>
              <a:spLocks noChangeArrowheads="1"/>
            </p:cNvSpPr>
            <p:nvPr/>
          </p:nvSpPr>
          <p:spPr bwMode="auto">
            <a:xfrm>
              <a:off x="0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矩形 60"/>
            <p:cNvSpPr>
              <a:spLocks noChangeArrowheads="1"/>
            </p:cNvSpPr>
            <p:nvPr/>
          </p:nvSpPr>
          <p:spPr bwMode="auto">
            <a:xfrm>
              <a:off x="437624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矩形 61"/>
            <p:cNvSpPr>
              <a:spLocks noChangeArrowheads="1"/>
            </p:cNvSpPr>
            <p:nvPr/>
          </p:nvSpPr>
          <p:spPr bwMode="auto">
            <a:xfrm>
              <a:off x="875248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1" name="矩形 62"/>
            <p:cNvSpPr>
              <a:spLocks noChangeArrowheads="1"/>
            </p:cNvSpPr>
            <p:nvPr/>
          </p:nvSpPr>
          <p:spPr bwMode="auto">
            <a:xfrm>
              <a:off x="1312872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矩形 63"/>
            <p:cNvSpPr>
              <a:spLocks noChangeArrowheads="1"/>
            </p:cNvSpPr>
            <p:nvPr/>
          </p:nvSpPr>
          <p:spPr bwMode="auto">
            <a:xfrm>
              <a:off x="1750496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矩形 64"/>
            <p:cNvSpPr>
              <a:spLocks noChangeArrowheads="1"/>
            </p:cNvSpPr>
            <p:nvPr/>
          </p:nvSpPr>
          <p:spPr bwMode="auto">
            <a:xfrm>
              <a:off x="2188121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矩形 66"/>
            <p:cNvSpPr>
              <a:spLocks noChangeArrowheads="1"/>
            </p:cNvSpPr>
            <p:nvPr/>
          </p:nvSpPr>
          <p:spPr bwMode="auto">
            <a:xfrm>
              <a:off x="0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矩形 67"/>
            <p:cNvSpPr>
              <a:spLocks noChangeArrowheads="1"/>
            </p:cNvSpPr>
            <p:nvPr/>
          </p:nvSpPr>
          <p:spPr bwMode="auto">
            <a:xfrm>
              <a:off x="437624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矩形 68"/>
            <p:cNvSpPr>
              <a:spLocks noChangeArrowheads="1"/>
            </p:cNvSpPr>
            <p:nvPr/>
          </p:nvSpPr>
          <p:spPr bwMode="auto">
            <a:xfrm>
              <a:off x="875248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矩形 69"/>
            <p:cNvSpPr>
              <a:spLocks noChangeArrowheads="1"/>
            </p:cNvSpPr>
            <p:nvPr/>
          </p:nvSpPr>
          <p:spPr bwMode="auto">
            <a:xfrm>
              <a:off x="1312872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矩形 70"/>
            <p:cNvSpPr>
              <a:spLocks noChangeArrowheads="1"/>
            </p:cNvSpPr>
            <p:nvPr/>
          </p:nvSpPr>
          <p:spPr bwMode="auto">
            <a:xfrm>
              <a:off x="1750496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矩形 71"/>
            <p:cNvSpPr>
              <a:spLocks noChangeArrowheads="1"/>
            </p:cNvSpPr>
            <p:nvPr/>
          </p:nvSpPr>
          <p:spPr bwMode="auto">
            <a:xfrm>
              <a:off x="2188121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矩形 73"/>
            <p:cNvSpPr>
              <a:spLocks noChangeArrowheads="1"/>
            </p:cNvSpPr>
            <p:nvPr/>
          </p:nvSpPr>
          <p:spPr bwMode="auto">
            <a:xfrm>
              <a:off x="0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矩形 74"/>
            <p:cNvSpPr>
              <a:spLocks noChangeArrowheads="1"/>
            </p:cNvSpPr>
            <p:nvPr/>
          </p:nvSpPr>
          <p:spPr bwMode="auto">
            <a:xfrm>
              <a:off x="437624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矩形 75"/>
            <p:cNvSpPr>
              <a:spLocks noChangeArrowheads="1"/>
            </p:cNvSpPr>
            <p:nvPr/>
          </p:nvSpPr>
          <p:spPr bwMode="auto">
            <a:xfrm>
              <a:off x="875248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矩形 76"/>
            <p:cNvSpPr>
              <a:spLocks noChangeArrowheads="1"/>
            </p:cNvSpPr>
            <p:nvPr/>
          </p:nvSpPr>
          <p:spPr bwMode="auto">
            <a:xfrm>
              <a:off x="1312872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矩形 77"/>
            <p:cNvSpPr>
              <a:spLocks noChangeArrowheads="1"/>
            </p:cNvSpPr>
            <p:nvPr/>
          </p:nvSpPr>
          <p:spPr bwMode="auto">
            <a:xfrm>
              <a:off x="1750496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矩形 78"/>
            <p:cNvSpPr>
              <a:spLocks noChangeArrowheads="1"/>
            </p:cNvSpPr>
            <p:nvPr/>
          </p:nvSpPr>
          <p:spPr bwMode="auto">
            <a:xfrm>
              <a:off x="2188121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矩形 80"/>
            <p:cNvSpPr>
              <a:spLocks noChangeArrowheads="1"/>
            </p:cNvSpPr>
            <p:nvPr/>
          </p:nvSpPr>
          <p:spPr bwMode="auto">
            <a:xfrm>
              <a:off x="0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矩形 81"/>
            <p:cNvSpPr>
              <a:spLocks noChangeArrowheads="1"/>
            </p:cNvSpPr>
            <p:nvPr/>
          </p:nvSpPr>
          <p:spPr bwMode="auto">
            <a:xfrm>
              <a:off x="437624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矩形 82"/>
            <p:cNvSpPr>
              <a:spLocks noChangeArrowheads="1"/>
            </p:cNvSpPr>
            <p:nvPr/>
          </p:nvSpPr>
          <p:spPr bwMode="auto">
            <a:xfrm>
              <a:off x="875248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矩形 83"/>
            <p:cNvSpPr>
              <a:spLocks noChangeArrowheads="1"/>
            </p:cNvSpPr>
            <p:nvPr/>
          </p:nvSpPr>
          <p:spPr bwMode="auto">
            <a:xfrm>
              <a:off x="1312872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矩形 84"/>
            <p:cNvSpPr>
              <a:spLocks noChangeArrowheads="1"/>
            </p:cNvSpPr>
            <p:nvPr/>
          </p:nvSpPr>
          <p:spPr bwMode="auto">
            <a:xfrm>
              <a:off x="1750496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矩形 85"/>
            <p:cNvSpPr>
              <a:spLocks noChangeArrowheads="1"/>
            </p:cNvSpPr>
            <p:nvPr/>
          </p:nvSpPr>
          <p:spPr bwMode="auto">
            <a:xfrm>
              <a:off x="2188121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矩形 87"/>
            <p:cNvSpPr>
              <a:spLocks noChangeArrowheads="1"/>
            </p:cNvSpPr>
            <p:nvPr/>
          </p:nvSpPr>
          <p:spPr bwMode="auto">
            <a:xfrm>
              <a:off x="0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7" name="矩形 88"/>
            <p:cNvSpPr>
              <a:spLocks noChangeArrowheads="1"/>
            </p:cNvSpPr>
            <p:nvPr/>
          </p:nvSpPr>
          <p:spPr bwMode="auto">
            <a:xfrm>
              <a:off x="437624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8" name="矩形 89"/>
            <p:cNvSpPr>
              <a:spLocks noChangeArrowheads="1"/>
            </p:cNvSpPr>
            <p:nvPr/>
          </p:nvSpPr>
          <p:spPr bwMode="auto">
            <a:xfrm>
              <a:off x="875248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9" name="矩形 90"/>
            <p:cNvSpPr>
              <a:spLocks noChangeArrowheads="1"/>
            </p:cNvSpPr>
            <p:nvPr/>
          </p:nvSpPr>
          <p:spPr bwMode="auto">
            <a:xfrm>
              <a:off x="1312872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0" name="矩形 91"/>
            <p:cNvSpPr>
              <a:spLocks noChangeArrowheads="1"/>
            </p:cNvSpPr>
            <p:nvPr/>
          </p:nvSpPr>
          <p:spPr bwMode="auto">
            <a:xfrm>
              <a:off x="1750496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1" name="矩形 92"/>
            <p:cNvSpPr>
              <a:spLocks noChangeArrowheads="1"/>
            </p:cNvSpPr>
            <p:nvPr/>
          </p:nvSpPr>
          <p:spPr bwMode="auto">
            <a:xfrm>
              <a:off x="2188121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2" name="矩形 94"/>
            <p:cNvSpPr>
              <a:spLocks noChangeArrowheads="1"/>
            </p:cNvSpPr>
            <p:nvPr/>
          </p:nvSpPr>
          <p:spPr bwMode="auto">
            <a:xfrm>
              <a:off x="0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3" name="矩形 95"/>
            <p:cNvSpPr>
              <a:spLocks noChangeArrowheads="1"/>
            </p:cNvSpPr>
            <p:nvPr/>
          </p:nvSpPr>
          <p:spPr bwMode="auto">
            <a:xfrm>
              <a:off x="437624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4" name="矩形 96"/>
            <p:cNvSpPr>
              <a:spLocks noChangeArrowheads="1"/>
            </p:cNvSpPr>
            <p:nvPr/>
          </p:nvSpPr>
          <p:spPr bwMode="auto">
            <a:xfrm>
              <a:off x="875248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5" name="矩形 97"/>
            <p:cNvSpPr>
              <a:spLocks noChangeArrowheads="1"/>
            </p:cNvSpPr>
            <p:nvPr/>
          </p:nvSpPr>
          <p:spPr bwMode="auto">
            <a:xfrm>
              <a:off x="1312872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6" name="矩形 98"/>
            <p:cNvSpPr>
              <a:spLocks noChangeArrowheads="1"/>
            </p:cNvSpPr>
            <p:nvPr/>
          </p:nvSpPr>
          <p:spPr bwMode="auto">
            <a:xfrm>
              <a:off x="1750496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7" name="矩形 99"/>
            <p:cNvSpPr>
              <a:spLocks noChangeArrowheads="1"/>
            </p:cNvSpPr>
            <p:nvPr/>
          </p:nvSpPr>
          <p:spPr bwMode="auto">
            <a:xfrm>
              <a:off x="2188121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8" name="矩形 101"/>
            <p:cNvSpPr>
              <a:spLocks noChangeArrowheads="1"/>
            </p:cNvSpPr>
            <p:nvPr/>
          </p:nvSpPr>
          <p:spPr bwMode="auto">
            <a:xfrm>
              <a:off x="0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9" name="矩形 102"/>
            <p:cNvSpPr>
              <a:spLocks noChangeArrowheads="1"/>
            </p:cNvSpPr>
            <p:nvPr/>
          </p:nvSpPr>
          <p:spPr bwMode="auto">
            <a:xfrm>
              <a:off x="437624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0" name="矩形 103"/>
            <p:cNvSpPr>
              <a:spLocks noChangeArrowheads="1"/>
            </p:cNvSpPr>
            <p:nvPr/>
          </p:nvSpPr>
          <p:spPr bwMode="auto">
            <a:xfrm>
              <a:off x="875248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1" name="矩形 104"/>
            <p:cNvSpPr>
              <a:spLocks noChangeArrowheads="1"/>
            </p:cNvSpPr>
            <p:nvPr/>
          </p:nvSpPr>
          <p:spPr bwMode="auto">
            <a:xfrm>
              <a:off x="1312872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矩形 105"/>
            <p:cNvSpPr>
              <a:spLocks noChangeArrowheads="1"/>
            </p:cNvSpPr>
            <p:nvPr/>
          </p:nvSpPr>
          <p:spPr bwMode="auto">
            <a:xfrm>
              <a:off x="1750496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矩形 106"/>
            <p:cNvSpPr>
              <a:spLocks noChangeArrowheads="1"/>
            </p:cNvSpPr>
            <p:nvPr/>
          </p:nvSpPr>
          <p:spPr bwMode="auto">
            <a:xfrm>
              <a:off x="2188121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矩形 108"/>
            <p:cNvSpPr>
              <a:spLocks noChangeArrowheads="1"/>
            </p:cNvSpPr>
            <p:nvPr/>
          </p:nvSpPr>
          <p:spPr bwMode="auto">
            <a:xfrm>
              <a:off x="0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矩形 109"/>
            <p:cNvSpPr>
              <a:spLocks noChangeArrowheads="1"/>
            </p:cNvSpPr>
            <p:nvPr/>
          </p:nvSpPr>
          <p:spPr bwMode="auto">
            <a:xfrm>
              <a:off x="437624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6" name="矩形 110"/>
            <p:cNvSpPr>
              <a:spLocks noChangeArrowheads="1"/>
            </p:cNvSpPr>
            <p:nvPr/>
          </p:nvSpPr>
          <p:spPr bwMode="auto">
            <a:xfrm>
              <a:off x="875248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7" name="矩形 111"/>
            <p:cNvSpPr>
              <a:spLocks noChangeArrowheads="1"/>
            </p:cNvSpPr>
            <p:nvPr/>
          </p:nvSpPr>
          <p:spPr bwMode="auto">
            <a:xfrm>
              <a:off x="1312872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8" name="矩形 112"/>
            <p:cNvSpPr>
              <a:spLocks noChangeArrowheads="1"/>
            </p:cNvSpPr>
            <p:nvPr/>
          </p:nvSpPr>
          <p:spPr bwMode="auto">
            <a:xfrm>
              <a:off x="1750496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9" name="矩形 113"/>
            <p:cNvSpPr>
              <a:spLocks noChangeArrowheads="1"/>
            </p:cNvSpPr>
            <p:nvPr/>
          </p:nvSpPr>
          <p:spPr bwMode="auto">
            <a:xfrm>
              <a:off x="2188121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0" name="矩形 115"/>
            <p:cNvSpPr>
              <a:spLocks noChangeArrowheads="1"/>
            </p:cNvSpPr>
            <p:nvPr/>
          </p:nvSpPr>
          <p:spPr bwMode="auto">
            <a:xfrm>
              <a:off x="0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" name="矩形 116"/>
            <p:cNvSpPr>
              <a:spLocks noChangeArrowheads="1"/>
            </p:cNvSpPr>
            <p:nvPr/>
          </p:nvSpPr>
          <p:spPr bwMode="auto">
            <a:xfrm>
              <a:off x="437624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2" name="矩形 117"/>
            <p:cNvSpPr>
              <a:spLocks noChangeArrowheads="1"/>
            </p:cNvSpPr>
            <p:nvPr/>
          </p:nvSpPr>
          <p:spPr bwMode="auto">
            <a:xfrm>
              <a:off x="875248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3" name="矩形 118"/>
            <p:cNvSpPr>
              <a:spLocks noChangeArrowheads="1"/>
            </p:cNvSpPr>
            <p:nvPr/>
          </p:nvSpPr>
          <p:spPr bwMode="auto">
            <a:xfrm>
              <a:off x="1312872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4" name="矩形 119"/>
            <p:cNvSpPr>
              <a:spLocks noChangeArrowheads="1"/>
            </p:cNvSpPr>
            <p:nvPr/>
          </p:nvSpPr>
          <p:spPr bwMode="auto">
            <a:xfrm>
              <a:off x="1750496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5" name="矩形 120"/>
            <p:cNvSpPr>
              <a:spLocks noChangeArrowheads="1"/>
            </p:cNvSpPr>
            <p:nvPr/>
          </p:nvSpPr>
          <p:spPr bwMode="auto">
            <a:xfrm>
              <a:off x="2188121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17309" y="362097"/>
            <a:ext cx="8643848" cy="5909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36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cxnSp>
        <p:nvCxnSpPr>
          <p:cNvPr id="87" name="直接连接符 86"/>
          <p:cNvCxnSpPr/>
          <p:nvPr userDrawn="1"/>
        </p:nvCxnSpPr>
        <p:spPr>
          <a:xfrm>
            <a:off x="442913" y="957831"/>
            <a:ext cx="1130617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77585" y="334397"/>
            <a:ext cx="1871503" cy="561768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447254" y="957831"/>
            <a:ext cx="7808986" cy="94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11792769" y="56260"/>
            <a:ext cx="36322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>
              <a:defRPr/>
            </a:pPr>
            <a:fld id="{ED856349-79DF-4269-BEE4-3014BAD1A95F}" type="slidenum">
              <a:rPr lang="en-US" altLang="zh-CN" sz="1400" b="1" smtClean="0">
                <a:solidFill>
                  <a:srgbClr val="404040"/>
                </a:solidFill>
              </a:rPr>
              <a:t>‹#›</a:t>
            </a:fld>
            <a:endParaRPr lang="zh-CN" altLang="en-US" sz="1400" b="1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72" name="组合 71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73" name="组合 7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9" name="组合 8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4" name="组合 7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75" name="组合 7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6" name="组合 7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7" name="组合 7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8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96" name="直接连接符 95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227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/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/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/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14" name="组合 13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8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0" name="组合 29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5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2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6" name="组合 15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6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4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1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9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4214818"/>
            <a:ext cx="8534400" cy="14239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11049000" y="6492876"/>
            <a:ext cx="1143000" cy="365125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prstClr val="black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91EDFD1-D3AB-4518-98BC-E386A1BB961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TextBox 11"/>
          <p:cNvSpPr txBox="1">
            <a:spLocks noChangeArrowheads="1"/>
          </p:cNvSpPr>
          <p:nvPr userDrawn="1"/>
        </p:nvSpPr>
        <p:spPr bwMode="auto">
          <a:xfrm>
            <a:off x="11620500" y="116632"/>
            <a:ext cx="36322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>
              <a:defRPr/>
            </a:pPr>
            <a:fld id="{ED856349-79DF-4269-BEE4-3014BAD1A95F}" type="slidenum">
              <a:rPr lang="en-US" altLang="zh-CN" sz="1400" b="1" smtClean="0">
                <a:solidFill>
                  <a:srgbClr val="404040"/>
                </a:solidFill>
              </a:rPr>
              <a:t>‹#›</a:t>
            </a:fld>
            <a:endParaRPr lang="zh-CN" altLang="en-US" sz="1400" b="1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椭圆 88"/>
          <p:cNvSpPr/>
          <p:nvPr userDrawn="1"/>
        </p:nvSpPr>
        <p:spPr>
          <a:xfrm>
            <a:off x="-3625080" y="-1541834"/>
            <a:ext cx="8697505" cy="9941668"/>
          </a:xfrm>
          <a:prstGeom prst="ellipse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88" name="椭圆 87"/>
          <p:cNvSpPr/>
          <p:nvPr userDrawn="1"/>
        </p:nvSpPr>
        <p:spPr>
          <a:xfrm>
            <a:off x="-3999568" y="-1541834"/>
            <a:ext cx="8697505" cy="994166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87" name="图片 8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09587" y="1"/>
            <a:ext cx="5507524" cy="6857999"/>
          </a:xfrm>
          <a:custGeom>
            <a:avLst/>
            <a:gdLst>
              <a:gd name="connsiteX0" fmla="*/ 0 w 5919101"/>
              <a:gd name="connsiteY0" fmla="*/ 0 h 6858000"/>
              <a:gd name="connsiteX1" fmla="*/ 4714485 w 5919101"/>
              <a:gd name="connsiteY1" fmla="*/ 0 h 6858000"/>
              <a:gd name="connsiteX2" fmla="*/ 4786974 w 5919101"/>
              <a:gd name="connsiteY2" fmla="*/ 86723 h 6858000"/>
              <a:gd name="connsiteX3" fmla="*/ 5919101 w 5919101"/>
              <a:gd name="connsiteY3" fmla="*/ 3429000 h 6858000"/>
              <a:gd name="connsiteX4" fmla="*/ 4786974 w 5919101"/>
              <a:gd name="connsiteY4" fmla="*/ 6771277 h 6858000"/>
              <a:gd name="connsiteX5" fmla="*/ 4714485 w 5919101"/>
              <a:gd name="connsiteY5" fmla="*/ 6858000 h 6858000"/>
              <a:gd name="connsiteX6" fmla="*/ 0 w 59191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19101" h="6858000">
                <a:moveTo>
                  <a:pt x="0" y="0"/>
                </a:moveTo>
                <a:lnTo>
                  <a:pt x="4714485" y="0"/>
                </a:lnTo>
                <a:lnTo>
                  <a:pt x="4786974" y="86723"/>
                </a:lnTo>
                <a:cubicBezTo>
                  <a:pt x="5490384" y="969480"/>
                  <a:pt x="5919101" y="2142133"/>
                  <a:pt x="5919101" y="3429000"/>
                </a:cubicBezTo>
                <a:cubicBezTo>
                  <a:pt x="5919101" y="4715867"/>
                  <a:pt x="5490384" y="5888521"/>
                  <a:pt x="4786974" y="6771277"/>
                </a:cubicBezTo>
                <a:lnTo>
                  <a:pt x="47144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6" name="椭圆 85"/>
          <p:cNvSpPr/>
          <p:nvPr userDrawn="1"/>
        </p:nvSpPr>
        <p:spPr>
          <a:xfrm>
            <a:off x="-3913112" y="-1570588"/>
            <a:ext cx="8697505" cy="9941668"/>
          </a:xfrm>
          <a:prstGeom prst="ellipse">
            <a:avLst/>
          </a:prstGeom>
          <a:solidFill>
            <a:schemeClr val="accent1">
              <a:alpha val="88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056440" y="167430"/>
            <a:ext cx="1871503" cy="5617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screen"/>
          <a:srcRect r="25963"/>
          <a:stretch>
            <a:fillRect/>
          </a:stretch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549208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3549208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3549208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3549208" y="1484311"/>
            <a:ext cx="7287114" cy="2386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  <a:endParaRPr lang="en-US" altLang="zh-CN" dirty="0"/>
          </a:p>
          <a:p>
            <a:pPr lvl="0"/>
            <a:r>
              <a:rPr lang="zh-CN" altLang="en-US" dirty="0"/>
              <a:t>输入大标题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118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600575" y="133072"/>
            <a:ext cx="6791691" cy="6535793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16315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1216315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16315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16315" y="1484311"/>
            <a:ext cx="7287114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667561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925830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888242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98320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1" name="文本框 40"/>
          <p:cNvSpPr txBox="1"/>
          <p:nvPr userDrawn="1"/>
        </p:nvSpPr>
        <p:spPr>
          <a:xfrm rot="16200000">
            <a:off x="-1443469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52633" y="548450"/>
            <a:ext cx="2295327" cy="504694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666749" y="1329225"/>
            <a:ext cx="0" cy="471473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 userDrawn="1"/>
        </p:nvCxnSpPr>
        <p:spPr>
          <a:xfrm>
            <a:off x="9258300" y="1280160"/>
            <a:ext cx="0" cy="483516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8" name="任意多边形: 形状 39"/>
          <p:cNvSpPr/>
          <p:nvPr userDrawn="1"/>
        </p:nvSpPr>
        <p:spPr>
          <a:xfrm>
            <a:off x="221886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39"/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39"/>
          <p:cNvSpPr/>
          <p:nvPr userDrawn="1"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74"/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标题 47"/>
          <p:cNvSpPr>
            <a:spLocks noGrp="1"/>
          </p:cNvSpPr>
          <p:nvPr>
            <p:ph type="title" hasCustomPrompt="1"/>
          </p:nvPr>
        </p:nvSpPr>
        <p:spPr>
          <a:xfrm>
            <a:off x="630418" y="2616692"/>
            <a:ext cx="705595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13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654709" y="2352090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14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655638" y="430418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74450" y="318256"/>
            <a:ext cx="1899117" cy="79286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◀ BIT</a:t>
            </a:r>
            <a:r>
              <a:rPr lang="en-US" altLang="zh-CN" sz="2400" b="1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▶</a:t>
            </a:r>
            <a:endParaRPr lang="zh-CN" altLang="en-US" sz="2400" b="1" i="0" spc="100" dirty="0">
              <a:solidFill>
                <a:schemeClr val="accent3"/>
              </a:solidFill>
              <a:latin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50894" y="-774608"/>
            <a:ext cx="7885491" cy="7588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grpSp>
        <p:nvGrpSpPr>
          <p:cNvPr id="24" name="组合 23"/>
          <p:cNvGrpSpPr/>
          <p:nvPr userDrawn="1"/>
        </p:nvGrpSpPr>
        <p:grpSpPr>
          <a:xfrm>
            <a:off x="671368" y="6083135"/>
            <a:ext cx="2542613" cy="276499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25" name="组合 2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3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4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4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6" name="组合 2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27" name="组合 2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3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3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-矩形 7"/>
          <p:cNvSpPr/>
          <p:nvPr userDrawn="1">
            <p:custDataLst>
              <p:tags r:id="rId1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137303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2610651" y="161103"/>
            <a:ext cx="6791691" cy="6535792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1" name="任意多边形: 形状 30"/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标题 47"/>
          <p:cNvSpPr>
            <a:spLocks noGrp="1"/>
          </p:cNvSpPr>
          <p:nvPr>
            <p:ph type="title" hasCustomPrompt="1"/>
          </p:nvPr>
        </p:nvSpPr>
        <p:spPr>
          <a:xfrm>
            <a:off x="5113420" y="2558484"/>
            <a:ext cx="6236023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60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38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98880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1111261" y="2359437"/>
            <a:ext cx="2855386" cy="216961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" name="任意多边形: 形状 118"/>
          <p:cNvSpPr/>
          <p:nvPr userDrawn="1"/>
        </p:nvSpPr>
        <p:spPr>
          <a:xfrm rot="1916941">
            <a:off x="-628945" y="-604401"/>
            <a:ext cx="12918999" cy="10347422"/>
          </a:xfrm>
          <a:custGeom>
            <a:avLst/>
            <a:gdLst>
              <a:gd name="connsiteX0" fmla="*/ 3910821 w 12918999"/>
              <a:gd name="connsiteY0" fmla="*/ 3392979 h 10347422"/>
              <a:gd name="connsiteX1" fmla="*/ 10262073 w 12918999"/>
              <a:gd name="connsiteY1" fmla="*/ 135295 h 10347422"/>
              <a:gd name="connsiteX2" fmla="*/ 10593809 w 12918999"/>
              <a:gd name="connsiteY2" fmla="*/ 0 h 10347422"/>
              <a:gd name="connsiteX3" fmla="*/ 12918999 w 12918999"/>
              <a:gd name="connsiteY3" fmla="*/ 3728462 h 10347422"/>
              <a:gd name="connsiteX4" fmla="*/ 11966464 w 12918999"/>
              <a:gd name="connsiteY4" fmla="*/ 4224159 h 10347422"/>
              <a:gd name="connsiteX5" fmla="*/ 3050273 w 12918999"/>
              <a:gd name="connsiteY5" fmla="*/ 10050202 h 10347422"/>
              <a:gd name="connsiteX6" fmla="*/ 2678241 w 12918999"/>
              <a:gd name="connsiteY6" fmla="*/ 10347422 h 10347422"/>
              <a:gd name="connsiteX7" fmla="*/ 0 w 12918999"/>
              <a:gd name="connsiteY7" fmla="*/ 6052840 h 10347422"/>
              <a:gd name="connsiteX8" fmla="*/ 4301 w 12918999"/>
              <a:gd name="connsiteY8" fmla="*/ 6049545 h 10347422"/>
              <a:gd name="connsiteX9" fmla="*/ 3049697 w 12918999"/>
              <a:gd name="connsiteY9" fmla="*/ 3931365 h 10347422"/>
              <a:gd name="connsiteX10" fmla="*/ 3910821 w 12918999"/>
              <a:gd name="connsiteY10" fmla="*/ 3392979 h 1034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6" name="任意多边形: 形状 105"/>
          <p:cNvSpPr/>
          <p:nvPr userDrawn="1"/>
        </p:nvSpPr>
        <p:spPr>
          <a:xfrm rot="2885786">
            <a:off x="1087929" y="-2969595"/>
            <a:ext cx="10843749" cy="12155155"/>
          </a:xfrm>
          <a:custGeom>
            <a:avLst/>
            <a:gdLst>
              <a:gd name="connsiteX0" fmla="*/ 6051751 w 10843749"/>
              <a:gd name="connsiteY0" fmla="*/ 1433305 h 12155155"/>
              <a:gd name="connsiteX1" fmla="*/ 6837805 w 10843749"/>
              <a:gd name="connsiteY1" fmla="*/ 587393 h 12155155"/>
              <a:gd name="connsiteX2" fmla="*/ 7410328 w 10843749"/>
              <a:gd name="connsiteY2" fmla="*/ 0 h 12155155"/>
              <a:gd name="connsiteX3" fmla="*/ 10843749 w 10843749"/>
              <a:gd name="connsiteY3" fmla="*/ 3081016 h 12155155"/>
              <a:gd name="connsiteX4" fmla="*/ 2700969 w 10843749"/>
              <a:gd name="connsiteY4" fmla="*/ 12155155 h 12155155"/>
              <a:gd name="connsiteX5" fmla="*/ 0 w 10843749"/>
              <a:gd name="connsiteY5" fmla="*/ 9731411 h 12155155"/>
              <a:gd name="connsiteX6" fmla="*/ 261077 w 10843749"/>
              <a:gd name="connsiteY6" fmla="*/ 9278934 h 12155155"/>
              <a:gd name="connsiteX7" fmla="*/ 6051751 w 10843749"/>
              <a:gd name="connsiteY7" fmla="*/ 1433305 h 1215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43749" h="12155155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843749" y="3081016"/>
                </a:lnTo>
                <a:lnTo>
                  <a:pt x="2700969" y="12155155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8" name="任意多边形: 形状 117"/>
          <p:cNvSpPr/>
          <p:nvPr userDrawn="1"/>
        </p:nvSpPr>
        <p:spPr>
          <a:xfrm rot="1846855">
            <a:off x="-307281" y="-539696"/>
            <a:ext cx="12650822" cy="11532482"/>
          </a:xfrm>
          <a:custGeom>
            <a:avLst/>
            <a:gdLst>
              <a:gd name="connsiteX0" fmla="*/ 7956679 w 12650822"/>
              <a:gd name="connsiteY0" fmla="*/ 1195248 h 11532482"/>
              <a:gd name="connsiteX1" fmla="*/ 9978822 w 12650822"/>
              <a:gd name="connsiteY1" fmla="*/ 62012 h 11532482"/>
              <a:gd name="connsiteX2" fmla="*/ 10098991 w 12650822"/>
              <a:gd name="connsiteY2" fmla="*/ 0 h 11532482"/>
              <a:gd name="connsiteX3" fmla="*/ 12650822 w 12650822"/>
              <a:gd name="connsiteY3" fmla="*/ 4283979 h 11532482"/>
              <a:gd name="connsiteX4" fmla="*/ 12245569 w 12650822"/>
              <a:gd name="connsiteY4" fmla="*/ 4531370 h 11532482"/>
              <a:gd name="connsiteX5" fmla="*/ 3166697 w 12650822"/>
              <a:gd name="connsiteY5" fmla="*/ 11321300 h 11532482"/>
              <a:gd name="connsiteX6" fmla="*/ 2933905 w 12650822"/>
              <a:gd name="connsiteY6" fmla="*/ 11532482 h 11532482"/>
              <a:gd name="connsiteX7" fmla="*/ 1718627 w 12650822"/>
              <a:gd name="connsiteY7" fmla="*/ 9865697 h 11532482"/>
              <a:gd name="connsiteX8" fmla="*/ 0 w 12650822"/>
              <a:gd name="connsiteY8" fmla="*/ 6980488 h 11532482"/>
              <a:gd name="connsiteX9" fmla="*/ 22022 w 12650822"/>
              <a:gd name="connsiteY9" fmla="*/ 6960742 h 11532482"/>
              <a:gd name="connsiteX10" fmla="*/ 4718407 w 12650822"/>
              <a:gd name="connsiteY10" fmla="*/ 3273000 h 11532482"/>
              <a:gd name="connsiteX11" fmla="*/ 7956679 w 12650822"/>
              <a:gd name="connsiteY11" fmla="*/ 1195248 h 1153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650822" h="11532482">
                <a:moveTo>
                  <a:pt x="7956679" y="1195248"/>
                </a:moveTo>
                <a:cubicBezTo>
                  <a:pt x="8621077" y="803084"/>
                  <a:pt x="9295272" y="425195"/>
                  <a:pt x="9978822" y="62012"/>
                </a:cubicBezTo>
                <a:lnTo>
                  <a:pt x="10098991" y="0"/>
                </a:lnTo>
                <a:lnTo>
                  <a:pt x="12650822" y="4283979"/>
                </a:lnTo>
                <a:lnTo>
                  <a:pt x="12245569" y="4531370"/>
                </a:lnTo>
                <a:cubicBezTo>
                  <a:pt x="9012618" y="6531229"/>
                  <a:pt x="5974903" y="8805712"/>
                  <a:pt x="3166697" y="11321300"/>
                </a:cubicBezTo>
                <a:lnTo>
                  <a:pt x="2933905" y="11532482"/>
                </a:lnTo>
                <a:lnTo>
                  <a:pt x="1718627" y="9865697"/>
                </a:lnTo>
                <a:lnTo>
                  <a:pt x="0" y="6980488"/>
                </a:lnTo>
                <a:lnTo>
                  <a:pt x="22022" y="6960742"/>
                </a:lnTo>
                <a:cubicBezTo>
                  <a:pt x="1511041" y="5644986"/>
                  <a:pt x="3079104" y="4413194"/>
                  <a:pt x="4718407" y="3273000"/>
                </a:cubicBezTo>
                <a:cubicBezTo>
                  <a:pt x="5769244" y="2542106"/>
                  <a:pt x="6849352" y="1848853"/>
                  <a:pt x="7956679" y="1195248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"/>
                </a:schemeClr>
              </a:gs>
              <a:gs pos="100000">
                <a:schemeClr val="accent2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9" name="任意多边形: 形状 83"/>
          <p:cNvSpPr/>
          <p:nvPr userDrawn="1"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50" name="任意多边形: 形状 83"/>
          <p:cNvSpPr/>
          <p:nvPr userDrawn="1"/>
        </p:nvSpPr>
        <p:spPr>
          <a:xfrm>
            <a:off x="-2" y="3019587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102" name="任意多边形: 形状 101"/>
          <p:cNvSpPr/>
          <p:nvPr userDrawn="1"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4" name="任意多边形: 形状 83"/>
          <p:cNvSpPr/>
          <p:nvPr userDrawn="1"/>
        </p:nvSpPr>
        <p:spPr>
          <a:xfrm>
            <a:off x="0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48" name="标题 47"/>
          <p:cNvSpPr>
            <a:spLocks noGrp="1"/>
          </p:cNvSpPr>
          <p:nvPr userDrawn="1">
            <p:ph type="title" hasCustomPrompt="1"/>
          </p:nvPr>
        </p:nvSpPr>
        <p:spPr>
          <a:xfrm>
            <a:off x="515939" y="3758091"/>
            <a:ext cx="11160124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>
              <a:lnSpc>
                <a:spcPct val="100000"/>
              </a:lnSpc>
              <a:defRPr lang="zh-CN" altLang="en-US" sz="4000" b="1" spc="100" dirty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</a:p>
        </p:txBody>
      </p:sp>
      <p:sp>
        <p:nvSpPr>
          <p:cNvPr id="38" name="文本占位符 53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063320" y="554073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 algn="ctr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2108522" y="5295418"/>
            <a:ext cx="797495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866200" y="944838"/>
            <a:ext cx="4510874" cy="1262604"/>
          </a:xfrm>
          <a:prstGeom prst="rect">
            <a:avLst/>
          </a:prstGeom>
        </p:spPr>
      </p:pic>
      <p:sp>
        <p:nvSpPr>
          <p:cNvPr id="51" name="文本框 50"/>
          <p:cNvSpPr txBox="1"/>
          <p:nvPr userDrawn="1"/>
        </p:nvSpPr>
        <p:spPr>
          <a:xfrm>
            <a:off x="150844" y="608868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52" name="组合 51"/>
          <p:cNvGrpSpPr/>
          <p:nvPr userDrawn="1"/>
        </p:nvGrpSpPr>
        <p:grpSpPr>
          <a:xfrm>
            <a:off x="10083479" y="631518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53" name="组合 5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91" name="组合 9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4" name="组合 5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55" name="组合 5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6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2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19"/>
          <p:cNvSpPr/>
          <p:nvPr userDrawn="1"/>
        </p:nvSpPr>
        <p:spPr>
          <a:xfrm flipH="1" flipV="1">
            <a:off x="4442085" y="3759199"/>
            <a:ext cx="3307830" cy="2335892"/>
          </a:xfrm>
          <a:custGeom>
            <a:avLst/>
            <a:gdLst>
              <a:gd name="connsiteX0" fmla="*/ 3162300 w 3162300"/>
              <a:gd name="connsiteY0" fmla="*/ 2147409 h 2147409"/>
              <a:gd name="connsiteX1" fmla="*/ 0 w 3162300"/>
              <a:gd name="connsiteY1" fmla="*/ 2147409 h 2147409"/>
              <a:gd name="connsiteX2" fmla="*/ 0 w 3162300"/>
              <a:gd name="connsiteY2" fmla="*/ 1565265 h 2147409"/>
              <a:gd name="connsiteX3" fmla="*/ 0 w 3162300"/>
              <a:gd name="connsiteY3" fmla="*/ 1544697 h 2147409"/>
              <a:gd name="connsiteX4" fmla="*/ 0 w 3162300"/>
              <a:gd name="connsiteY4" fmla="*/ 0 h 2147409"/>
              <a:gd name="connsiteX5" fmla="*/ 1585774 w 3162300"/>
              <a:gd name="connsiteY5" fmla="*/ 1112898 h 2147409"/>
              <a:gd name="connsiteX6" fmla="*/ 3162300 w 3162300"/>
              <a:gd name="connsiteY6" fmla="*/ 0 h 2147409"/>
              <a:gd name="connsiteX7" fmla="*/ 3162300 w 3162300"/>
              <a:gd name="connsiteY7" fmla="*/ 1544697 h 2147409"/>
              <a:gd name="connsiteX8" fmla="*/ 3162300 w 3162300"/>
              <a:gd name="connsiteY8" fmla="*/ 1565265 h 2147409"/>
              <a:gd name="connsiteX0-1" fmla="*/ 0 w 3162300"/>
              <a:gd name="connsiteY0-2" fmla="*/ 2147409 h 2238849"/>
              <a:gd name="connsiteX1-3" fmla="*/ 0 w 3162300"/>
              <a:gd name="connsiteY1-4" fmla="*/ 1565265 h 2238849"/>
              <a:gd name="connsiteX2-5" fmla="*/ 0 w 3162300"/>
              <a:gd name="connsiteY2-6" fmla="*/ 1544697 h 2238849"/>
              <a:gd name="connsiteX3-7" fmla="*/ 0 w 3162300"/>
              <a:gd name="connsiteY3-8" fmla="*/ 0 h 2238849"/>
              <a:gd name="connsiteX4-9" fmla="*/ 1585774 w 3162300"/>
              <a:gd name="connsiteY4-10" fmla="*/ 1112898 h 2238849"/>
              <a:gd name="connsiteX5-11" fmla="*/ 3162300 w 3162300"/>
              <a:gd name="connsiteY5-12" fmla="*/ 0 h 2238849"/>
              <a:gd name="connsiteX6-13" fmla="*/ 3162300 w 3162300"/>
              <a:gd name="connsiteY6-14" fmla="*/ 1544697 h 2238849"/>
              <a:gd name="connsiteX7-15" fmla="*/ 3162300 w 3162300"/>
              <a:gd name="connsiteY7-16" fmla="*/ 1565265 h 2238849"/>
              <a:gd name="connsiteX8-17" fmla="*/ 3162300 w 3162300"/>
              <a:gd name="connsiteY8-18" fmla="*/ 2147409 h 2238849"/>
              <a:gd name="connsiteX9" fmla="*/ 91440 w 3162300"/>
              <a:gd name="connsiteY9" fmla="*/ 2238849 h 2238849"/>
              <a:gd name="connsiteX0-19" fmla="*/ 0 w 3162300"/>
              <a:gd name="connsiteY0-20" fmla="*/ 2147409 h 2147409"/>
              <a:gd name="connsiteX1-21" fmla="*/ 0 w 3162300"/>
              <a:gd name="connsiteY1-22" fmla="*/ 1565265 h 2147409"/>
              <a:gd name="connsiteX2-23" fmla="*/ 0 w 3162300"/>
              <a:gd name="connsiteY2-24" fmla="*/ 1544697 h 2147409"/>
              <a:gd name="connsiteX3-25" fmla="*/ 0 w 3162300"/>
              <a:gd name="connsiteY3-26" fmla="*/ 0 h 2147409"/>
              <a:gd name="connsiteX4-27" fmla="*/ 1585774 w 3162300"/>
              <a:gd name="connsiteY4-28" fmla="*/ 1112898 h 2147409"/>
              <a:gd name="connsiteX5-29" fmla="*/ 3162300 w 3162300"/>
              <a:gd name="connsiteY5-30" fmla="*/ 0 h 2147409"/>
              <a:gd name="connsiteX6-31" fmla="*/ 3162300 w 3162300"/>
              <a:gd name="connsiteY6-32" fmla="*/ 1544697 h 2147409"/>
              <a:gd name="connsiteX7-33" fmla="*/ 3162300 w 3162300"/>
              <a:gd name="connsiteY7-34" fmla="*/ 1565265 h 2147409"/>
              <a:gd name="connsiteX8-35" fmla="*/ 3162300 w 3162300"/>
              <a:gd name="connsiteY8-36" fmla="*/ 2147409 h 214740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3"/>
          <p:cNvSpPr/>
          <p:nvPr userDrawn="1"/>
        </p:nvSpPr>
        <p:spPr>
          <a:xfrm>
            <a:off x="4442085" y="1015093"/>
            <a:ext cx="3307830" cy="1428368"/>
          </a:xfrm>
          <a:custGeom>
            <a:avLst/>
            <a:gdLst>
              <a:gd name="connsiteX0" fmla="*/ 0 w 3162300"/>
              <a:gd name="connsiteY0" fmla="*/ 0 h 1871961"/>
              <a:gd name="connsiteX1" fmla="*/ 3162300 w 3162300"/>
              <a:gd name="connsiteY1" fmla="*/ 0 h 1871961"/>
              <a:gd name="connsiteX2" fmla="*/ 3162300 w 3162300"/>
              <a:gd name="connsiteY2" fmla="*/ 1871961 h 1871961"/>
              <a:gd name="connsiteX3" fmla="*/ 0 w 3162300"/>
              <a:gd name="connsiteY3" fmla="*/ 1871961 h 1871961"/>
              <a:gd name="connsiteX4" fmla="*/ 0 w 3162300"/>
              <a:gd name="connsiteY4" fmla="*/ 0 h 1871961"/>
              <a:gd name="connsiteX0-1" fmla="*/ 0 w 3162300"/>
              <a:gd name="connsiteY0-2" fmla="*/ 1871961 h 1963401"/>
              <a:gd name="connsiteX1-3" fmla="*/ 0 w 3162300"/>
              <a:gd name="connsiteY1-4" fmla="*/ 0 h 1963401"/>
              <a:gd name="connsiteX2-5" fmla="*/ 3162300 w 3162300"/>
              <a:gd name="connsiteY2-6" fmla="*/ 0 h 1963401"/>
              <a:gd name="connsiteX3-7" fmla="*/ 3162300 w 3162300"/>
              <a:gd name="connsiteY3-8" fmla="*/ 1871961 h 1963401"/>
              <a:gd name="connsiteX4-9" fmla="*/ 91440 w 3162300"/>
              <a:gd name="connsiteY4-10" fmla="*/ 1963401 h 1963401"/>
              <a:gd name="connsiteX0-11" fmla="*/ 0 w 3162300"/>
              <a:gd name="connsiteY0-12" fmla="*/ 1871961 h 1871961"/>
              <a:gd name="connsiteX1-13" fmla="*/ 0 w 3162300"/>
              <a:gd name="connsiteY1-14" fmla="*/ 0 h 1871961"/>
              <a:gd name="connsiteX2-15" fmla="*/ 3162300 w 3162300"/>
              <a:gd name="connsiteY2-16" fmla="*/ 0 h 1871961"/>
              <a:gd name="connsiteX3-17" fmla="*/ 3162300 w 3162300"/>
              <a:gd name="connsiteY3-18" fmla="*/ 1871961 h 18719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flipV="1">
            <a:off x="6007269" y="3832178"/>
            <a:ext cx="177462" cy="152984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974749" y="1401223"/>
            <a:ext cx="2256308" cy="63154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28" r="23340"/>
          <a:stretch>
            <a:fillRect/>
          </a:stretch>
        </p:blipFill>
        <p:spPr>
          <a:xfrm>
            <a:off x="4303956" y="0"/>
            <a:ext cx="7888043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5573" r="198"/>
          <a:stretch>
            <a:fillRect/>
          </a:stretch>
        </p:blipFill>
        <p:spPr>
          <a:xfrm>
            <a:off x="0" y="0"/>
            <a:ext cx="8678174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9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4768810" y="7452"/>
            <a:ext cx="7423189" cy="6850548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-10414" y="0"/>
            <a:ext cx="8336943" cy="686004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0414" y="0"/>
            <a:ext cx="1220241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6352" y="0"/>
            <a:ext cx="12198351" cy="5024521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6351" y="0"/>
            <a:ext cx="1219834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0"/>
                </a:schemeClr>
              </a:gs>
              <a:gs pos="66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550546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7223405" y="2402693"/>
            <a:ext cx="4785100" cy="47749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>
            <a:off x="14873" y="5340546"/>
            <a:ext cx="6018099" cy="151836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 flipH="1">
            <a:off x="6154789" y="5340546"/>
            <a:ext cx="6018099" cy="15183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5018002" y="2568943"/>
            <a:ext cx="2143294" cy="59991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59024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6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626145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V="1">
            <a:off x="14873" y="-15231"/>
            <a:ext cx="6018099" cy="151836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H="1" flipV="1">
            <a:off x="6154789" y="-15231"/>
            <a:ext cx="6018099" cy="151836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018002" y="2577573"/>
            <a:ext cx="2143294" cy="599913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3040886" y="5719548"/>
            <a:ext cx="6136451" cy="681262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</p:grpSpPr>
        <p:grpSp>
          <p:nvGrpSpPr>
            <p:cNvPr id="18" name="组合 17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" name="组合 18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20" name="组合 19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3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24"/>
            <a:ext cx="12193057" cy="3633531"/>
          </a:xfrm>
          <a:prstGeom prst="rect">
            <a:avLst/>
          </a:prstGeom>
        </p:spPr>
      </p:pic>
      <p:sp>
        <p:nvSpPr>
          <p:cNvPr id="37" name="任意形状 36"/>
          <p:cNvSpPr/>
          <p:nvPr userDrawn="1"/>
        </p:nvSpPr>
        <p:spPr>
          <a:xfrm>
            <a:off x="-134112" y="-106934"/>
            <a:ext cx="12468264" cy="3829332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0" y="0"/>
            <a:ext cx="12192000" cy="16328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502191" y="3048198"/>
            <a:ext cx="1193467" cy="1192626"/>
          </a:xfrm>
          <a:prstGeom prst="rect">
            <a:avLst/>
          </a:prstGeom>
        </p:spPr>
      </p:pic>
      <p:sp>
        <p:nvSpPr>
          <p:cNvPr id="43" name="文本框 42"/>
          <p:cNvSpPr txBox="1"/>
          <p:nvPr userDrawn="1"/>
        </p:nvSpPr>
        <p:spPr>
          <a:xfrm>
            <a:off x="150844" y="617414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44" name="组合 43"/>
          <p:cNvGrpSpPr/>
          <p:nvPr userDrawn="1"/>
        </p:nvGrpSpPr>
        <p:grpSpPr>
          <a:xfrm>
            <a:off x="10083479" y="640064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45" name="组合 4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5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61" name="组合 6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6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2" name="组合 6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6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6" name="组合 4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47" name="组合 4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5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5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5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7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222990" y="1401505"/>
            <a:ext cx="3746000" cy="104851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7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453730" y="4619682"/>
            <a:ext cx="3284503" cy="72219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b="7394"/>
          <a:stretch>
            <a:fillRect/>
          </a:stretch>
        </p:blipFill>
        <p:spPr>
          <a:xfrm>
            <a:off x="-3165" y="0"/>
            <a:ext cx="1219198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10" y="1"/>
            <a:ext cx="12191980" cy="6857994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  <a:lumMod val="85000"/>
                </a:schemeClr>
              </a:gs>
              <a:gs pos="50000">
                <a:schemeClr val="accent1">
                  <a:alpha val="90000"/>
                  <a:lumMod val="85000"/>
                </a:schemeClr>
              </a:gs>
              <a:gs pos="100000">
                <a:schemeClr val="accent1">
                  <a:alpha val="90000"/>
                  <a:lumMod val="8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  <a:buFontTx/>
              <a:buNone/>
            </a:pPr>
            <a:endParaRPr lang="zh-CN" altLang="en-US"/>
          </a:p>
        </p:txBody>
      </p:sp>
      <p:sp>
        <p:nvSpPr>
          <p:cNvPr id="6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72100" y="3028371"/>
            <a:ext cx="9041450" cy="911074"/>
          </a:xfrm>
        </p:spPr>
        <p:txBody>
          <a:bodyPr/>
          <a:lstStyle>
            <a:lvl1pPr marL="0" indent="0" algn="ctr">
              <a:buFontTx/>
              <a:buNone/>
              <a:defRPr sz="4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北京理工大学毕业答辩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767417" y="1018488"/>
            <a:ext cx="4650816" cy="1301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81566"/>
            <a:ext cx="12192000" cy="3244934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3317875"/>
            <a:ext cx="12192000" cy="354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66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 bwMode="auto">
          <a:xfrm>
            <a:off x="9790632" y="109143"/>
            <a:ext cx="2286546" cy="297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24285" y="-494144"/>
            <a:ext cx="3165893" cy="41243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2000" cy="5089582"/>
            <a:chOff x="0" y="0"/>
            <a:chExt cx="12192000" cy="5089582"/>
          </a:xfrm>
          <a:solidFill>
            <a:schemeClr val="accent1"/>
          </a:solidFill>
        </p:grpSpPr>
        <p:sp>
          <p:nvSpPr>
            <p:cNvPr id="3" name="等腰三角形 2"/>
            <p:cNvSpPr/>
            <p:nvPr/>
          </p:nvSpPr>
          <p:spPr>
            <a:xfrm flipV="1">
              <a:off x="0" y="4123423"/>
              <a:ext cx="12192000" cy="966159"/>
            </a:xfrm>
            <a:prstGeom prst="triangle">
              <a:avLst/>
            </a:prstGeom>
            <a:grpFill/>
            <a:ln>
              <a:noFill/>
            </a:ln>
            <a:effectLst>
              <a:outerShdw blurRad="76200" dist="127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0" y="0"/>
              <a:ext cx="12192000" cy="41234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 userDrawn="1"/>
        </p:nvGrpSpPr>
        <p:grpSpPr>
          <a:xfrm>
            <a:off x="1866428" y="1872369"/>
            <a:ext cx="8481919" cy="863927"/>
            <a:chOff x="1797415" y="1328902"/>
            <a:chExt cx="8481919" cy="863927"/>
          </a:xfrm>
        </p:grpSpPr>
        <p:grpSp>
          <p:nvGrpSpPr>
            <p:cNvPr id="6" name="组合 5"/>
            <p:cNvGrpSpPr/>
            <p:nvPr/>
          </p:nvGrpSpPr>
          <p:grpSpPr>
            <a:xfrm>
              <a:off x="6886532" y="1337094"/>
              <a:ext cx="3392802" cy="846135"/>
              <a:chOff x="10340336" y="2247899"/>
              <a:chExt cx="2724438" cy="679451"/>
            </a:xfrm>
          </p:grpSpPr>
          <p:sp>
            <p:nvSpPr>
              <p:cNvPr id="2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solidFill>
                <a:schemeClr val="bg1"/>
              </a:solidFill>
            </p:grpSpPr>
            <p:sp>
              <p:nvSpPr>
                <p:cNvPr id="2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solidFill>
                <a:schemeClr val="bg1"/>
              </a:solidFill>
            </p:grpSpPr>
            <p:sp>
              <p:nvSpPr>
                <p:cNvPr id="2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" name="组合 6"/>
            <p:cNvGrpSpPr/>
            <p:nvPr/>
          </p:nvGrpSpPr>
          <p:grpSpPr>
            <a:xfrm>
              <a:off x="1797415" y="1328902"/>
              <a:ext cx="3445163" cy="863927"/>
              <a:chOff x="6738929" y="2270918"/>
              <a:chExt cx="2766486" cy="693738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solidFill>
                <a:schemeClr val="bg1"/>
              </a:solidFill>
            </p:grpSpPr>
            <p:sp>
              <p:nvSpPr>
                <p:cNvPr id="1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solidFill>
                <a:schemeClr val="bg1"/>
              </a:solidFill>
            </p:grpSpPr>
            <p:sp>
              <p:nvSpPr>
                <p:cNvPr id="1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solidFill>
                <a:schemeClr val="bg1"/>
              </a:solidFill>
            </p:grpSpPr>
            <p:sp>
              <p:nvSpPr>
                <p:cNvPr id="1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7"/>
            <a:ext cx="5022689" cy="6857433"/>
          </a:xfrm>
          <a:prstGeom prst="rect">
            <a:avLst/>
          </a:prstGeom>
        </p:spPr>
      </p:pic>
      <p:sp>
        <p:nvSpPr>
          <p:cNvPr id="3" name="矩形 白1"/>
          <p:cNvSpPr/>
          <p:nvPr userDrawn="1"/>
        </p:nvSpPr>
        <p:spPr>
          <a:xfrm rot="5400000">
            <a:off x="-917658" y="918223"/>
            <a:ext cx="6858002" cy="5022690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2289050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15558" b="38705"/>
          <a:stretch>
            <a:fillRect/>
          </a:stretch>
        </p:blipFill>
        <p:spPr>
          <a:xfrm>
            <a:off x="1" y="0"/>
            <a:ext cx="12192000" cy="2290219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1" y="-7884"/>
            <a:ext cx="12192001" cy="229810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024353" y="841210"/>
            <a:ext cx="2143294" cy="5999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-81481" y="2289050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723340" y="1294827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723340" y="5613415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4" cstate="screen"/>
          <a:srcRect l="49471"/>
          <a:stretch>
            <a:fillRect/>
          </a:stretch>
        </p:blipFill>
        <p:spPr>
          <a:xfrm>
            <a:off x="-34506" y="163259"/>
            <a:ext cx="3298317" cy="653148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4" cstate="screen"/>
          <a:srcRect r="49912"/>
          <a:stretch>
            <a:fillRect/>
          </a:stretch>
        </p:blipFill>
        <p:spPr>
          <a:xfrm>
            <a:off x="8928190" y="163258"/>
            <a:ext cx="3269562" cy="65314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 rot="16200000">
            <a:off x="-1538864" y="2653429"/>
            <a:ext cx="52296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spc="5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Contents</a:t>
            </a:r>
            <a:r>
              <a:rPr lang="en-US" altLang="zh-CN" sz="4400" b="1" spc="50" dirty="0">
                <a:solidFill>
                  <a:schemeClr val="accent4"/>
                </a:solidFill>
                <a:latin typeface="+mj-lt"/>
              </a:rPr>
              <a:t>■</a:t>
            </a:r>
            <a:endParaRPr lang="zh-CN" altLang="en-US" sz="4400" b="1" spc="5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116549" y="3752395"/>
            <a:ext cx="738664" cy="224676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3600" b="1" spc="600" dirty="0">
                <a:solidFill>
                  <a:schemeClr val="accent1"/>
                </a:solidFill>
              </a:rPr>
              <a:t>结构大纲</a:t>
            </a: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519824" y="6600901"/>
            <a:ext cx="25234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000" spc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</a:t>
            </a:r>
            <a:r>
              <a:rPr lang="en-US" altLang="zh-CN" sz="1000" spc="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INSTITUTE OF TECHNOLOGY</a:t>
            </a:r>
            <a:endParaRPr lang="zh-CN" altLang="en-US" sz="1000" spc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041148" y="78493"/>
            <a:ext cx="2025400" cy="566914"/>
          </a:xfrm>
          <a:prstGeom prst="rect">
            <a:avLst/>
          </a:prstGeom>
        </p:spPr>
      </p:pic>
      <p:sp>
        <p:nvSpPr>
          <p:cNvPr id="82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84" name="矩形 83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86" name="组合 85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0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0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0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7" name="组合 86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88" name="组合 8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9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9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9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9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r="20215"/>
          <a:stretch>
            <a:fillRect/>
          </a:stretch>
        </p:blipFill>
        <p:spPr>
          <a:xfrm>
            <a:off x="6592525" y="0"/>
            <a:ext cx="5609371" cy="6765696"/>
          </a:xfrm>
          <a:prstGeom prst="rect">
            <a:avLst/>
          </a:prstGeom>
        </p:spPr>
      </p:pic>
      <p:sp>
        <p:nvSpPr>
          <p:cNvPr id="63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65" name="矩形 64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6" name="组合 6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67" name="组合 6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1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3" name="组合 82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88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9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4" name="组合 83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85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7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8" name="组合 6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79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0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77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8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74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5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6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2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r="30571" b="46397"/>
          <a:stretch>
            <a:fillRect/>
          </a:stretch>
        </p:blipFill>
        <p:spPr>
          <a:xfrm>
            <a:off x="9019185" y="4400550"/>
            <a:ext cx="3194586" cy="24693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4398806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63500" dir="540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-71956" y="4398806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sp>
        <p:nvSpPr>
          <p:cNvPr id="18" name="矩形: 圆角 162"/>
          <p:cNvSpPr/>
          <p:nvPr userDrawn="1"/>
        </p:nvSpPr>
        <p:spPr>
          <a:xfrm>
            <a:off x="1664486" y="3107981"/>
            <a:ext cx="8945408" cy="3014890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8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: 圆角 163"/>
          <p:cNvSpPr/>
          <p:nvPr userDrawn="1"/>
        </p:nvSpPr>
        <p:spPr>
          <a:xfrm>
            <a:off x="1463942" y="3222979"/>
            <a:ext cx="9346497" cy="2899892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94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: 圆角 164"/>
          <p:cNvSpPr/>
          <p:nvPr userDrawn="1"/>
        </p:nvSpPr>
        <p:spPr>
          <a:xfrm>
            <a:off x="1200150" y="3365257"/>
            <a:ext cx="9791700" cy="2757614"/>
          </a:xfrm>
          <a:prstGeom prst="roundRect">
            <a:avLst>
              <a:gd name="adj" fmla="val 3205"/>
            </a:avLst>
          </a:prstGeom>
          <a:gradFill flip="none" rotWithShape="1">
            <a:gsLst>
              <a:gs pos="0">
                <a:sysClr val="window" lastClr="FFFFFF"/>
              </a:gs>
              <a:gs pos="100000">
                <a:srgbClr val="F8F8F8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17500" sx="102000" sy="102000" algn="ctr" rotWithShape="0">
              <a:sysClr val="window" lastClr="FFFFFF">
                <a:lumMod val="7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<a:noAutofit/>
          </a:bodyPr>
          <a:lstStyle/>
          <a:p>
            <a:pPr marL="0" marR="0" lvl="0" indent="45720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l="29063" r="32938"/>
          <a:stretch>
            <a:fillRect/>
          </a:stretch>
        </p:blipFill>
        <p:spPr>
          <a:xfrm>
            <a:off x="0" y="0"/>
            <a:ext cx="3914775" cy="6857999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1"/>
            <a:ext cx="3914775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0" y="0"/>
            <a:ext cx="3914774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396045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 userDrawn="1"/>
        </p:nvGrpSpPr>
        <p:grpSpPr>
          <a:xfrm>
            <a:off x="3961505" y="2797003"/>
            <a:ext cx="122686" cy="1263995"/>
            <a:chOff x="4630742" y="2258287"/>
            <a:chExt cx="122686" cy="1263995"/>
          </a:xfrm>
          <a:solidFill>
            <a:schemeClr val="accent4"/>
          </a:solidFill>
        </p:grpSpPr>
        <p:sp>
          <p:nvSpPr>
            <p:cNvPr id="22" name="等腰三角形 21"/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接连接符 41"/>
          <p:cNvCxnSpPr/>
          <p:nvPr userDrawn="1"/>
        </p:nvCxnSpPr>
        <p:spPr>
          <a:xfrm>
            <a:off x="1053541" y="2793542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 userDrawn="1"/>
        </p:nvSpPr>
        <p:spPr>
          <a:xfrm>
            <a:off x="846867" y="2752385"/>
            <a:ext cx="2197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zh-CN" altLang="en-US" sz="5400" spc="600" dirty="0">
                <a:solidFill>
                  <a:schemeClr val="bg1"/>
                </a:solidFill>
                <a:latin typeface="+mn-ea"/>
                <a:ea typeface="+mn-ea"/>
              </a:rPr>
              <a:t>目录</a:t>
            </a:r>
          </a:p>
        </p:txBody>
      </p:sp>
      <p:sp>
        <p:nvSpPr>
          <p:cNvPr id="44" name="矩形 43"/>
          <p:cNvSpPr/>
          <p:nvPr userDrawn="1"/>
        </p:nvSpPr>
        <p:spPr>
          <a:xfrm>
            <a:off x="963806" y="3595872"/>
            <a:ext cx="1906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en-US" altLang="zh-CN" sz="2400" dirty="0">
                <a:solidFill>
                  <a:schemeClr val="bg1"/>
                </a:solidFill>
              </a:rPr>
              <a:t>CONTENTS</a:t>
            </a:r>
          </a:p>
        </p:txBody>
      </p:sp>
      <p:cxnSp>
        <p:nvCxnSpPr>
          <p:cNvPr id="45" name="直接连接符 44"/>
          <p:cNvCxnSpPr/>
          <p:nvPr userDrawn="1"/>
        </p:nvCxnSpPr>
        <p:spPr>
          <a:xfrm>
            <a:off x="1053541" y="4060998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64854" y="2218510"/>
            <a:ext cx="1715719" cy="4802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4" cstate="screen"/>
          <a:srcRect r="15912" b="16285"/>
          <a:stretch>
            <a:fillRect/>
          </a:stretch>
        </p:blipFill>
        <p:spPr>
          <a:xfrm>
            <a:off x="7258050" y="1942165"/>
            <a:ext cx="4949784" cy="493364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2">
    <p:bg>
      <p:bgPr>
        <a:gradFill>
          <a:gsLst>
            <a:gs pos="25000">
              <a:schemeClr val="accent1">
                <a:alpha val="0"/>
              </a:schemeClr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493231"/>
            <a:ext cx="5251028" cy="5254131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6943725" y="0"/>
            <a:ext cx="5248273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/>
          <p:cNvSpPr/>
          <p:nvPr userDrawn="1"/>
        </p:nvSpPr>
        <p:spPr>
          <a:xfrm>
            <a:off x="660400" y="6054314"/>
            <a:ext cx="2014538" cy="1438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第几部分 ▶</a:t>
            </a:r>
          </a:p>
        </p:txBody>
      </p:sp>
      <p:sp>
        <p:nvSpPr>
          <p:cNvPr id="122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420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</a:p>
        </p:txBody>
      </p:sp>
      <p:sp>
        <p:nvSpPr>
          <p:cNvPr id="123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</a:p>
          <a:p>
            <a:pPr lvl="0"/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6167300"/>
            <a:ext cx="12192000" cy="690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grpSp>
        <p:nvGrpSpPr>
          <p:cNvPr id="115" name="组合 114"/>
          <p:cNvGrpSpPr/>
          <p:nvPr userDrawn="1"/>
        </p:nvGrpSpPr>
        <p:grpSpPr>
          <a:xfrm>
            <a:off x="684666" y="6423435"/>
            <a:ext cx="1915659" cy="208321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117" name="组合 11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34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36" name="组合 135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4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" name="组合 136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38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9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0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8" name="组合 11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9" name="组合 11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13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1" name="组合 1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3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4" name="组合 123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2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25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143" name="图片 14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203766" y="6386257"/>
            <a:ext cx="1257421" cy="27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2041996" y="3927615"/>
            <a:ext cx="8108006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473992" y="3927615"/>
            <a:ext cx="9244014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l="1" t="13078" r="-1" b="115"/>
          <a:stretch>
            <a:fillRect/>
          </a:stretch>
        </p:blipFill>
        <p:spPr>
          <a:xfrm>
            <a:off x="0" y="-1"/>
            <a:ext cx="12191999" cy="4362681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4346687"/>
            <a:ext cx="12192001" cy="2511313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4346687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936" y="4346687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828800" y="2524126"/>
            <a:ext cx="8494006" cy="356807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69" name="图片 68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861200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7423183" y="0"/>
            <a:ext cx="4768815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5" name="文本框 44"/>
          <p:cNvSpPr txBox="1"/>
          <p:nvPr userDrawn="1"/>
        </p:nvSpPr>
        <p:spPr>
          <a:xfrm>
            <a:off x="-2647787" y="-2281727"/>
            <a:ext cx="6031920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0" dirty="0">
                <a:solidFill>
                  <a:schemeClr val="bg1">
                    <a:alpha val="40000"/>
                  </a:schemeClr>
                </a:solidFill>
              </a:rPr>
              <a:t>0</a:t>
            </a:r>
            <a:endParaRPr lang="zh-CN" altLang="en-US" sz="72000" dirty="0">
              <a:solidFill>
                <a:schemeClr val="bg1">
                  <a:alpha val="40000"/>
                </a:schemeClr>
              </a:solidFill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6870981" y="0"/>
            <a:ext cx="5321017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  <p:grpSp>
        <p:nvGrpSpPr>
          <p:cNvPr id="9" name="Group 6"/>
          <p:cNvGrpSpPr/>
          <p:nvPr userDrawn="1"/>
        </p:nvGrpSpPr>
        <p:grpSpPr bwMode="auto">
          <a:xfrm>
            <a:off x="778934" y="687917"/>
            <a:ext cx="3299884" cy="5425016"/>
            <a:chOff x="0" y="0"/>
            <a:chExt cx="2476153" cy="4069266"/>
          </a:xfrm>
          <a:solidFill>
            <a:schemeClr val="bg1">
              <a:alpha val="25000"/>
            </a:schemeClr>
          </a:solidFill>
        </p:grpSpPr>
        <p:sp>
          <p:nvSpPr>
            <p:cNvPr id="10" name="矩形 3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" name="矩形 4"/>
            <p:cNvSpPr>
              <a:spLocks noChangeArrowheads="1"/>
            </p:cNvSpPr>
            <p:nvPr/>
          </p:nvSpPr>
          <p:spPr bwMode="auto">
            <a:xfrm>
              <a:off x="437624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4" name="矩形 5"/>
            <p:cNvSpPr>
              <a:spLocks noChangeArrowheads="1"/>
            </p:cNvSpPr>
            <p:nvPr/>
          </p:nvSpPr>
          <p:spPr bwMode="auto">
            <a:xfrm>
              <a:off x="875248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1312872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矩形 7"/>
            <p:cNvSpPr>
              <a:spLocks noChangeArrowheads="1"/>
            </p:cNvSpPr>
            <p:nvPr/>
          </p:nvSpPr>
          <p:spPr bwMode="auto">
            <a:xfrm>
              <a:off x="1750496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7" name="矩形 8"/>
            <p:cNvSpPr>
              <a:spLocks noChangeArrowheads="1"/>
            </p:cNvSpPr>
            <p:nvPr/>
          </p:nvSpPr>
          <p:spPr bwMode="auto">
            <a:xfrm>
              <a:off x="2188121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矩形 59"/>
            <p:cNvSpPr>
              <a:spLocks noChangeArrowheads="1"/>
            </p:cNvSpPr>
            <p:nvPr/>
          </p:nvSpPr>
          <p:spPr bwMode="auto">
            <a:xfrm>
              <a:off x="0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矩形 60"/>
            <p:cNvSpPr>
              <a:spLocks noChangeArrowheads="1"/>
            </p:cNvSpPr>
            <p:nvPr/>
          </p:nvSpPr>
          <p:spPr bwMode="auto">
            <a:xfrm>
              <a:off x="437624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矩形 61"/>
            <p:cNvSpPr>
              <a:spLocks noChangeArrowheads="1"/>
            </p:cNvSpPr>
            <p:nvPr/>
          </p:nvSpPr>
          <p:spPr bwMode="auto">
            <a:xfrm>
              <a:off x="875248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1" name="矩形 62"/>
            <p:cNvSpPr>
              <a:spLocks noChangeArrowheads="1"/>
            </p:cNvSpPr>
            <p:nvPr/>
          </p:nvSpPr>
          <p:spPr bwMode="auto">
            <a:xfrm>
              <a:off x="1312872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矩形 63"/>
            <p:cNvSpPr>
              <a:spLocks noChangeArrowheads="1"/>
            </p:cNvSpPr>
            <p:nvPr/>
          </p:nvSpPr>
          <p:spPr bwMode="auto">
            <a:xfrm>
              <a:off x="1750496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矩形 64"/>
            <p:cNvSpPr>
              <a:spLocks noChangeArrowheads="1"/>
            </p:cNvSpPr>
            <p:nvPr/>
          </p:nvSpPr>
          <p:spPr bwMode="auto">
            <a:xfrm>
              <a:off x="2188121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矩形 66"/>
            <p:cNvSpPr>
              <a:spLocks noChangeArrowheads="1"/>
            </p:cNvSpPr>
            <p:nvPr/>
          </p:nvSpPr>
          <p:spPr bwMode="auto">
            <a:xfrm>
              <a:off x="0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矩形 67"/>
            <p:cNvSpPr>
              <a:spLocks noChangeArrowheads="1"/>
            </p:cNvSpPr>
            <p:nvPr/>
          </p:nvSpPr>
          <p:spPr bwMode="auto">
            <a:xfrm>
              <a:off x="437624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矩形 68"/>
            <p:cNvSpPr>
              <a:spLocks noChangeArrowheads="1"/>
            </p:cNvSpPr>
            <p:nvPr/>
          </p:nvSpPr>
          <p:spPr bwMode="auto">
            <a:xfrm>
              <a:off x="875248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矩形 69"/>
            <p:cNvSpPr>
              <a:spLocks noChangeArrowheads="1"/>
            </p:cNvSpPr>
            <p:nvPr/>
          </p:nvSpPr>
          <p:spPr bwMode="auto">
            <a:xfrm>
              <a:off x="1312872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矩形 70"/>
            <p:cNvSpPr>
              <a:spLocks noChangeArrowheads="1"/>
            </p:cNvSpPr>
            <p:nvPr/>
          </p:nvSpPr>
          <p:spPr bwMode="auto">
            <a:xfrm>
              <a:off x="1750496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矩形 71"/>
            <p:cNvSpPr>
              <a:spLocks noChangeArrowheads="1"/>
            </p:cNvSpPr>
            <p:nvPr/>
          </p:nvSpPr>
          <p:spPr bwMode="auto">
            <a:xfrm>
              <a:off x="2188121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矩形 73"/>
            <p:cNvSpPr>
              <a:spLocks noChangeArrowheads="1"/>
            </p:cNvSpPr>
            <p:nvPr/>
          </p:nvSpPr>
          <p:spPr bwMode="auto">
            <a:xfrm>
              <a:off x="0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矩形 74"/>
            <p:cNvSpPr>
              <a:spLocks noChangeArrowheads="1"/>
            </p:cNvSpPr>
            <p:nvPr/>
          </p:nvSpPr>
          <p:spPr bwMode="auto">
            <a:xfrm>
              <a:off x="437624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矩形 75"/>
            <p:cNvSpPr>
              <a:spLocks noChangeArrowheads="1"/>
            </p:cNvSpPr>
            <p:nvPr/>
          </p:nvSpPr>
          <p:spPr bwMode="auto">
            <a:xfrm>
              <a:off x="875248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矩形 76"/>
            <p:cNvSpPr>
              <a:spLocks noChangeArrowheads="1"/>
            </p:cNvSpPr>
            <p:nvPr/>
          </p:nvSpPr>
          <p:spPr bwMode="auto">
            <a:xfrm>
              <a:off x="1312872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矩形 77"/>
            <p:cNvSpPr>
              <a:spLocks noChangeArrowheads="1"/>
            </p:cNvSpPr>
            <p:nvPr/>
          </p:nvSpPr>
          <p:spPr bwMode="auto">
            <a:xfrm>
              <a:off x="1750496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矩形 78"/>
            <p:cNvSpPr>
              <a:spLocks noChangeArrowheads="1"/>
            </p:cNvSpPr>
            <p:nvPr/>
          </p:nvSpPr>
          <p:spPr bwMode="auto">
            <a:xfrm>
              <a:off x="2188121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矩形 80"/>
            <p:cNvSpPr>
              <a:spLocks noChangeArrowheads="1"/>
            </p:cNvSpPr>
            <p:nvPr/>
          </p:nvSpPr>
          <p:spPr bwMode="auto">
            <a:xfrm>
              <a:off x="0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矩形 81"/>
            <p:cNvSpPr>
              <a:spLocks noChangeArrowheads="1"/>
            </p:cNvSpPr>
            <p:nvPr/>
          </p:nvSpPr>
          <p:spPr bwMode="auto">
            <a:xfrm>
              <a:off x="437624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矩形 82"/>
            <p:cNvSpPr>
              <a:spLocks noChangeArrowheads="1"/>
            </p:cNvSpPr>
            <p:nvPr/>
          </p:nvSpPr>
          <p:spPr bwMode="auto">
            <a:xfrm>
              <a:off x="875248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矩形 83"/>
            <p:cNvSpPr>
              <a:spLocks noChangeArrowheads="1"/>
            </p:cNvSpPr>
            <p:nvPr/>
          </p:nvSpPr>
          <p:spPr bwMode="auto">
            <a:xfrm>
              <a:off x="1312872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矩形 84"/>
            <p:cNvSpPr>
              <a:spLocks noChangeArrowheads="1"/>
            </p:cNvSpPr>
            <p:nvPr/>
          </p:nvSpPr>
          <p:spPr bwMode="auto">
            <a:xfrm>
              <a:off x="1750496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矩形 85"/>
            <p:cNvSpPr>
              <a:spLocks noChangeArrowheads="1"/>
            </p:cNvSpPr>
            <p:nvPr/>
          </p:nvSpPr>
          <p:spPr bwMode="auto">
            <a:xfrm>
              <a:off x="2188121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矩形 87"/>
            <p:cNvSpPr>
              <a:spLocks noChangeArrowheads="1"/>
            </p:cNvSpPr>
            <p:nvPr/>
          </p:nvSpPr>
          <p:spPr bwMode="auto">
            <a:xfrm>
              <a:off x="0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7" name="矩形 88"/>
            <p:cNvSpPr>
              <a:spLocks noChangeArrowheads="1"/>
            </p:cNvSpPr>
            <p:nvPr/>
          </p:nvSpPr>
          <p:spPr bwMode="auto">
            <a:xfrm>
              <a:off x="437624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8" name="矩形 89"/>
            <p:cNvSpPr>
              <a:spLocks noChangeArrowheads="1"/>
            </p:cNvSpPr>
            <p:nvPr/>
          </p:nvSpPr>
          <p:spPr bwMode="auto">
            <a:xfrm>
              <a:off x="875248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9" name="矩形 90"/>
            <p:cNvSpPr>
              <a:spLocks noChangeArrowheads="1"/>
            </p:cNvSpPr>
            <p:nvPr/>
          </p:nvSpPr>
          <p:spPr bwMode="auto">
            <a:xfrm>
              <a:off x="1312872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0" name="矩形 91"/>
            <p:cNvSpPr>
              <a:spLocks noChangeArrowheads="1"/>
            </p:cNvSpPr>
            <p:nvPr/>
          </p:nvSpPr>
          <p:spPr bwMode="auto">
            <a:xfrm>
              <a:off x="1750496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1" name="矩形 92"/>
            <p:cNvSpPr>
              <a:spLocks noChangeArrowheads="1"/>
            </p:cNvSpPr>
            <p:nvPr/>
          </p:nvSpPr>
          <p:spPr bwMode="auto">
            <a:xfrm>
              <a:off x="2188121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2" name="矩形 94"/>
            <p:cNvSpPr>
              <a:spLocks noChangeArrowheads="1"/>
            </p:cNvSpPr>
            <p:nvPr/>
          </p:nvSpPr>
          <p:spPr bwMode="auto">
            <a:xfrm>
              <a:off x="0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3" name="矩形 95"/>
            <p:cNvSpPr>
              <a:spLocks noChangeArrowheads="1"/>
            </p:cNvSpPr>
            <p:nvPr/>
          </p:nvSpPr>
          <p:spPr bwMode="auto">
            <a:xfrm>
              <a:off x="437624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4" name="矩形 96"/>
            <p:cNvSpPr>
              <a:spLocks noChangeArrowheads="1"/>
            </p:cNvSpPr>
            <p:nvPr/>
          </p:nvSpPr>
          <p:spPr bwMode="auto">
            <a:xfrm>
              <a:off x="875248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5" name="矩形 97"/>
            <p:cNvSpPr>
              <a:spLocks noChangeArrowheads="1"/>
            </p:cNvSpPr>
            <p:nvPr/>
          </p:nvSpPr>
          <p:spPr bwMode="auto">
            <a:xfrm>
              <a:off x="1312872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6" name="矩形 98"/>
            <p:cNvSpPr>
              <a:spLocks noChangeArrowheads="1"/>
            </p:cNvSpPr>
            <p:nvPr/>
          </p:nvSpPr>
          <p:spPr bwMode="auto">
            <a:xfrm>
              <a:off x="1750496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7" name="矩形 99"/>
            <p:cNvSpPr>
              <a:spLocks noChangeArrowheads="1"/>
            </p:cNvSpPr>
            <p:nvPr/>
          </p:nvSpPr>
          <p:spPr bwMode="auto">
            <a:xfrm>
              <a:off x="2188121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8" name="矩形 101"/>
            <p:cNvSpPr>
              <a:spLocks noChangeArrowheads="1"/>
            </p:cNvSpPr>
            <p:nvPr/>
          </p:nvSpPr>
          <p:spPr bwMode="auto">
            <a:xfrm>
              <a:off x="0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9" name="矩形 102"/>
            <p:cNvSpPr>
              <a:spLocks noChangeArrowheads="1"/>
            </p:cNvSpPr>
            <p:nvPr/>
          </p:nvSpPr>
          <p:spPr bwMode="auto">
            <a:xfrm>
              <a:off x="437624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0" name="矩形 103"/>
            <p:cNvSpPr>
              <a:spLocks noChangeArrowheads="1"/>
            </p:cNvSpPr>
            <p:nvPr/>
          </p:nvSpPr>
          <p:spPr bwMode="auto">
            <a:xfrm>
              <a:off x="875248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1" name="矩形 104"/>
            <p:cNvSpPr>
              <a:spLocks noChangeArrowheads="1"/>
            </p:cNvSpPr>
            <p:nvPr/>
          </p:nvSpPr>
          <p:spPr bwMode="auto">
            <a:xfrm>
              <a:off x="1312872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矩形 105"/>
            <p:cNvSpPr>
              <a:spLocks noChangeArrowheads="1"/>
            </p:cNvSpPr>
            <p:nvPr/>
          </p:nvSpPr>
          <p:spPr bwMode="auto">
            <a:xfrm>
              <a:off x="1750496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矩形 106"/>
            <p:cNvSpPr>
              <a:spLocks noChangeArrowheads="1"/>
            </p:cNvSpPr>
            <p:nvPr/>
          </p:nvSpPr>
          <p:spPr bwMode="auto">
            <a:xfrm>
              <a:off x="2188121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矩形 108"/>
            <p:cNvSpPr>
              <a:spLocks noChangeArrowheads="1"/>
            </p:cNvSpPr>
            <p:nvPr/>
          </p:nvSpPr>
          <p:spPr bwMode="auto">
            <a:xfrm>
              <a:off x="0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矩形 109"/>
            <p:cNvSpPr>
              <a:spLocks noChangeArrowheads="1"/>
            </p:cNvSpPr>
            <p:nvPr/>
          </p:nvSpPr>
          <p:spPr bwMode="auto">
            <a:xfrm>
              <a:off x="437624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6" name="矩形 110"/>
            <p:cNvSpPr>
              <a:spLocks noChangeArrowheads="1"/>
            </p:cNvSpPr>
            <p:nvPr/>
          </p:nvSpPr>
          <p:spPr bwMode="auto">
            <a:xfrm>
              <a:off x="875248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7" name="矩形 111"/>
            <p:cNvSpPr>
              <a:spLocks noChangeArrowheads="1"/>
            </p:cNvSpPr>
            <p:nvPr/>
          </p:nvSpPr>
          <p:spPr bwMode="auto">
            <a:xfrm>
              <a:off x="1312872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8" name="矩形 112"/>
            <p:cNvSpPr>
              <a:spLocks noChangeArrowheads="1"/>
            </p:cNvSpPr>
            <p:nvPr/>
          </p:nvSpPr>
          <p:spPr bwMode="auto">
            <a:xfrm>
              <a:off x="1750496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9" name="矩形 113"/>
            <p:cNvSpPr>
              <a:spLocks noChangeArrowheads="1"/>
            </p:cNvSpPr>
            <p:nvPr/>
          </p:nvSpPr>
          <p:spPr bwMode="auto">
            <a:xfrm>
              <a:off x="2188121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0" name="矩形 115"/>
            <p:cNvSpPr>
              <a:spLocks noChangeArrowheads="1"/>
            </p:cNvSpPr>
            <p:nvPr/>
          </p:nvSpPr>
          <p:spPr bwMode="auto">
            <a:xfrm>
              <a:off x="0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" name="矩形 116"/>
            <p:cNvSpPr>
              <a:spLocks noChangeArrowheads="1"/>
            </p:cNvSpPr>
            <p:nvPr/>
          </p:nvSpPr>
          <p:spPr bwMode="auto">
            <a:xfrm>
              <a:off x="437624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2" name="矩形 117"/>
            <p:cNvSpPr>
              <a:spLocks noChangeArrowheads="1"/>
            </p:cNvSpPr>
            <p:nvPr/>
          </p:nvSpPr>
          <p:spPr bwMode="auto">
            <a:xfrm>
              <a:off x="875248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3" name="矩形 118"/>
            <p:cNvSpPr>
              <a:spLocks noChangeArrowheads="1"/>
            </p:cNvSpPr>
            <p:nvPr/>
          </p:nvSpPr>
          <p:spPr bwMode="auto">
            <a:xfrm>
              <a:off x="1312872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4" name="矩形 119"/>
            <p:cNvSpPr>
              <a:spLocks noChangeArrowheads="1"/>
            </p:cNvSpPr>
            <p:nvPr/>
          </p:nvSpPr>
          <p:spPr bwMode="auto">
            <a:xfrm>
              <a:off x="1750496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5" name="矩形 120"/>
            <p:cNvSpPr>
              <a:spLocks noChangeArrowheads="1"/>
            </p:cNvSpPr>
            <p:nvPr/>
          </p:nvSpPr>
          <p:spPr bwMode="auto">
            <a:xfrm>
              <a:off x="2188121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17309" y="362097"/>
            <a:ext cx="8643848" cy="5909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36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cxnSp>
        <p:nvCxnSpPr>
          <p:cNvPr id="87" name="直接连接符 86"/>
          <p:cNvCxnSpPr/>
          <p:nvPr userDrawn="1"/>
        </p:nvCxnSpPr>
        <p:spPr>
          <a:xfrm>
            <a:off x="442913" y="957831"/>
            <a:ext cx="1130617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77585" y="334397"/>
            <a:ext cx="1871503" cy="561768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447254" y="957831"/>
            <a:ext cx="7808986" cy="94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11792769" y="56260"/>
            <a:ext cx="36322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>
              <a:defRPr/>
            </a:pPr>
            <a:fld id="{ED856349-79DF-4269-BEE4-3014BAD1A95F}" type="slidenum">
              <a:rPr lang="en-US" altLang="zh-CN" sz="1400" b="1" smtClean="0">
                <a:solidFill>
                  <a:srgbClr val="404040"/>
                </a:solidFill>
              </a:rPr>
              <a:t>‹#›</a:t>
            </a:fld>
            <a:endParaRPr lang="zh-CN" altLang="en-US" sz="1400" b="1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72" name="组合 71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73" name="组合 7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9" name="组合 8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4" name="组合 7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75" name="组合 7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6" name="组合 7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7" name="组合 7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8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96" name="直接连接符 95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227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/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/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/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14" name="组合 13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8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0" name="组合 29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5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2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6" name="组合 15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6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4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1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9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ïşlíḓè"/>
          <p:cNvSpPr/>
          <p:nvPr userDrawn="1"/>
        </p:nvSpPr>
        <p:spPr>
          <a:xfrm>
            <a:off x="-3560" y="2387600"/>
            <a:ext cx="9581785" cy="44704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" name="iśļïḓê"/>
          <p:cNvSpPr/>
          <p:nvPr userDrawn="1"/>
        </p:nvSpPr>
        <p:spPr bwMode="auto">
          <a:xfrm flipH="1">
            <a:off x="-1" y="-4989"/>
            <a:ext cx="9581785" cy="6865116"/>
          </a:xfrm>
          <a:custGeom>
            <a:avLst/>
            <a:gdLst>
              <a:gd name="connsiteX0" fmla="*/ 9581785 w 9581785"/>
              <a:gd name="connsiteY0" fmla="*/ 0 h 6865116"/>
              <a:gd name="connsiteX1" fmla="*/ 6463 w 9581785"/>
              <a:gd name="connsiteY1" fmla="*/ 0 h 6865116"/>
              <a:gd name="connsiteX2" fmla="*/ 0 w 9581785"/>
              <a:gd name="connsiteY2" fmla="*/ 6865116 h 6865116"/>
              <a:gd name="connsiteX3" fmla="*/ 9435691 w 9581785"/>
              <a:gd name="connsiteY3" fmla="*/ 3424381 h 6865116"/>
              <a:gd name="connsiteX4" fmla="*/ 9581785 w 9581785"/>
              <a:gd name="connsiteY4" fmla="*/ 3311401 h 6865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1785" h="6865116">
                <a:moveTo>
                  <a:pt x="9581785" y="0"/>
                </a:moveTo>
                <a:lnTo>
                  <a:pt x="6463" y="0"/>
                </a:lnTo>
                <a:lnTo>
                  <a:pt x="0" y="6865116"/>
                </a:lnTo>
                <a:cubicBezTo>
                  <a:pt x="5057128" y="5756514"/>
                  <a:pt x="7899338" y="4547950"/>
                  <a:pt x="9435691" y="3424381"/>
                </a:cubicBezTo>
                <a:lnTo>
                  <a:pt x="9581785" y="33114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34" name="ïSļîḑè"/>
          <p:cNvSpPr/>
          <p:nvPr userDrawn="1"/>
        </p:nvSpPr>
        <p:spPr bwMode="auto">
          <a:xfrm flipH="1">
            <a:off x="3558" y="44794"/>
            <a:ext cx="9578226" cy="6590321"/>
          </a:xfrm>
          <a:custGeom>
            <a:avLst/>
            <a:gdLst>
              <a:gd name="connsiteX0" fmla="*/ 9578226 w 9578226"/>
              <a:gd name="connsiteY0" fmla="*/ 0 h 6590321"/>
              <a:gd name="connsiteX1" fmla="*/ 6205 w 9578226"/>
              <a:gd name="connsiteY1" fmla="*/ 0 h 6590321"/>
              <a:gd name="connsiteX2" fmla="*/ 0 w 9578226"/>
              <a:gd name="connsiteY2" fmla="*/ 6590321 h 6590321"/>
              <a:gd name="connsiteX3" fmla="*/ 9493338 w 9578226"/>
              <a:gd name="connsiteY3" fmla="*/ 2984432 h 6590321"/>
              <a:gd name="connsiteX4" fmla="*/ 9578226 w 9578226"/>
              <a:gd name="connsiteY4" fmla="*/ 2908618 h 6590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8226" h="6590321">
                <a:moveTo>
                  <a:pt x="9578226" y="0"/>
                </a:moveTo>
                <a:lnTo>
                  <a:pt x="6205" y="0"/>
                </a:lnTo>
                <a:lnTo>
                  <a:pt x="0" y="6590321"/>
                </a:lnTo>
                <a:cubicBezTo>
                  <a:pt x="5310859" y="5426098"/>
                  <a:pt x="8101833" y="4148147"/>
                  <a:pt x="9493338" y="2984432"/>
                </a:cubicBezTo>
                <a:lnTo>
                  <a:pt x="9578226" y="2908618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8000">
                <a:schemeClr val="bg1"/>
              </a:gs>
            </a:gsLst>
            <a:lin ang="108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27" name="iṣľiḋé"/>
          <p:cNvSpPr/>
          <p:nvPr userDrawn="1"/>
        </p:nvSpPr>
        <p:spPr bwMode="auto">
          <a:xfrm flipH="1">
            <a:off x="-13714" y="-4989"/>
            <a:ext cx="9621936" cy="6367328"/>
          </a:xfrm>
          <a:custGeom>
            <a:avLst/>
            <a:gdLst>
              <a:gd name="connsiteX0" fmla="*/ 9580005 w 9580005"/>
              <a:gd name="connsiteY0" fmla="*/ 0 h 6339580"/>
              <a:gd name="connsiteX1" fmla="*/ 5969 w 9580005"/>
              <a:gd name="connsiteY1" fmla="*/ 0 h 6339580"/>
              <a:gd name="connsiteX2" fmla="*/ 0 w 9580005"/>
              <a:gd name="connsiteY2" fmla="*/ 6339580 h 6339580"/>
              <a:gd name="connsiteX3" fmla="*/ 9549201 w 9580005"/>
              <a:gd name="connsiteY3" fmla="*/ 2491289 h 6339580"/>
              <a:gd name="connsiteX4" fmla="*/ 9580005 w 9580005"/>
              <a:gd name="connsiteY4" fmla="*/ 2457799 h 6339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0005" h="6339580">
                <a:moveTo>
                  <a:pt x="9580005" y="0"/>
                </a:moveTo>
                <a:lnTo>
                  <a:pt x="5969" y="0"/>
                </a:lnTo>
                <a:lnTo>
                  <a:pt x="0" y="6339580"/>
                </a:lnTo>
                <a:cubicBezTo>
                  <a:pt x="5692847" y="5091619"/>
                  <a:pt x="8380317" y="3708020"/>
                  <a:pt x="9549201" y="2491289"/>
                </a:cubicBezTo>
                <a:lnTo>
                  <a:pt x="9580005" y="24577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669925" y="1822450"/>
            <a:ext cx="10850564" cy="160655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669925" y="4017660"/>
            <a:ext cx="10850564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1" hasCustomPrompt="1"/>
          </p:nvPr>
        </p:nvSpPr>
        <p:spPr>
          <a:xfrm>
            <a:off x="669925" y="4329937"/>
            <a:ext cx="10850564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62403" y="502903"/>
            <a:ext cx="2658086" cy="71329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73.xml"/><Relationship Id="rId24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75.xml"/><Relationship Id="rId26" Type="http://schemas.openxmlformats.org/officeDocument/2006/relationships/slideLayout" Target="../slideLayouts/slideLayout76.xml"/><Relationship Id="rId27" Type="http://schemas.openxmlformats.org/officeDocument/2006/relationships/slideLayout" Target="../slideLayouts/slideLayout77.xml"/><Relationship Id="rId28" Type="http://schemas.openxmlformats.org/officeDocument/2006/relationships/slideLayout" Target="../slideLayouts/slideLayout78.xml"/><Relationship Id="rId29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0.xml"/><Relationship Id="rId31" Type="http://schemas.openxmlformats.org/officeDocument/2006/relationships/slideLayout" Target="../slideLayouts/slideLayout81.xml"/><Relationship Id="rId32" Type="http://schemas.openxmlformats.org/officeDocument/2006/relationships/slideLayout" Target="../slideLayouts/slideLayout82.xml"/><Relationship Id="rId33" Type="http://schemas.openxmlformats.org/officeDocument/2006/relationships/slideLayout" Target="../slideLayouts/slideLayout83.xml"/><Relationship Id="rId34" Type="http://schemas.openxmlformats.org/officeDocument/2006/relationships/slideLayout" Target="../slideLayouts/slideLayout84.xml"/><Relationship Id="rId35" Type="http://schemas.openxmlformats.org/officeDocument/2006/relationships/slideLayout" Target="../slideLayouts/slideLayout85.xml"/><Relationship Id="rId36" Type="http://schemas.openxmlformats.org/officeDocument/2006/relationships/slideLayout" Target="../slideLayouts/slideLayout86.xml"/><Relationship Id="rId37" Type="http://schemas.openxmlformats.org/officeDocument/2006/relationships/slideLayout" Target="../slideLayouts/slideLayout87.xml"/><Relationship Id="rId38" Type="http://schemas.openxmlformats.org/officeDocument/2006/relationships/slideLayout" Target="../slideLayouts/slideLayout88.xml"/><Relationship Id="rId39" Type="http://schemas.openxmlformats.org/officeDocument/2006/relationships/slideLayout" Target="../slideLayouts/slideLayout89.xml"/><Relationship Id="rId40" Type="http://schemas.openxmlformats.org/officeDocument/2006/relationships/slideLayout" Target="../slideLayouts/slideLayout90.xml"/><Relationship Id="rId41" Type="http://schemas.openxmlformats.org/officeDocument/2006/relationships/slideLayout" Target="../slideLayouts/slideLayout91.xml"/><Relationship Id="rId42" Type="http://schemas.openxmlformats.org/officeDocument/2006/relationships/slideLayout" Target="../slideLayouts/slideLayout92.xml"/><Relationship Id="rId43" Type="http://schemas.openxmlformats.org/officeDocument/2006/relationships/slideLayout" Target="../slideLayouts/slideLayout93.xml"/><Relationship Id="rId44" Type="http://schemas.openxmlformats.org/officeDocument/2006/relationships/slideLayout" Target="../slideLayouts/slideLayout94.xml"/><Relationship Id="rId45" Type="http://schemas.openxmlformats.org/officeDocument/2006/relationships/slideLayout" Target="../slideLayouts/slideLayout95.xml"/><Relationship Id="rId46" Type="http://schemas.openxmlformats.org/officeDocument/2006/relationships/slideLayout" Target="../slideLayouts/slideLayout96.xml"/><Relationship Id="rId47" Type="http://schemas.openxmlformats.org/officeDocument/2006/relationships/slideLayout" Target="../slideLayouts/slideLayout97.xml"/><Relationship Id="rId48" Type="http://schemas.openxmlformats.org/officeDocument/2006/relationships/slideLayout" Target="../slideLayouts/slideLayout98.xml"/><Relationship Id="rId4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</p:sldLayoutIdLst>
  <p:transition spd="med">
    <p:fade/>
  </p:transition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  <p:sldLayoutId id="2147483736" r:id="rId37"/>
    <p:sldLayoutId id="2147483737" r:id="rId38"/>
    <p:sldLayoutId id="2147483738" r:id="rId39"/>
    <p:sldLayoutId id="2147483739" r:id="rId40"/>
    <p:sldLayoutId id="2147483740" r:id="rId41"/>
    <p:sldLayoutId id="2147483741" r:id="rId42"/>
    <p:sldLayoutId id="2147483742" r:id="rId43"/>
    <p:sldLayoutId id="2147483743" r:id="rId44"/>
    <p:sldLayoutId id="2147483744" r:id="rId45"/>
    <p:sldLayoutId id="2147483745" r:id="rId46"/>
    <p:sldLayoutId id="2147483746" r:id="rId47"/>
    <p:sldLayoutId id="2147483747" r:id="rId48"/>
  </p:sldLayoutIdLst>
  <p:transition spd="med">
    <p:fade/>
  </p:transition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slideLayout" Target="../slideLayouts/slideLayout50.xml"/><Relationship Id="rId1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4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6.png"/><Relationship Id="rId4" Type="http://schemas.openxmlformats.org/officeDocument/2006/relationships/image" Target="../media/image4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7.png"/><Relationship Id="rId4" Type="http://schemas.openxmlformats.org/officeDocument/2006/relationships/image" Target="../media/image5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1340768"/>
            <a:ext cx="12192000" cy="20882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非理想测量下的用户中心多TRP协同优化研究</a:t>
            </a:r>
            <a:endParaRPr lang="en-US" altLang="zh-CN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336" y="155828"/>
            <a:ext cx="20425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研究汇报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3"/>
    </mc:Choice>
    <mc:Fallback xmlns="">
      <p:transition spd="slow" advTm="117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 idx="4294967295"/>
          </p:nvPr>
        </p:nvSpPr>
        <p:spPr>
          <a:xfrm>
            <a:off x="1279525" y="2528666"/>
            <a:ext cx="1806575" cy="675057"/>
          </a:xfrm>
        </p:spPr>
        <p:txBody>
          <a:bodyPr/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</a:rPr>
              <a:t>主要内容</a:t>
            </a:r>
          </a:p>
        </p:txBody>
      </p:sp>
      <p:grpSp>
        <p:nvGrpSpPr>
          <p:cNvPr id="30" name="组合 29"/>
          <p:cNvGrpSpPr/>
          <p:nvPr>
            <p:custDataLst>
              <p:tags r:id="rId1"/>
            </p:custDataLst>
          </p:nvPr>
        </p:nvGrpSpPr>
        <p:grpSpPr>
          <a:xfrm>
            <a:off x="5675907" y="569134"/>
            <a:ext cx="2882198" cy="1098506"/>
            <a:chOff x="5337036" y="1031947"/>
            <a:chExt cx="2882198" cy="1098506"/>
          </a:xfrm>
        </p:grpSpPr>
        <p:sp>
          <p:nvSpPr>
            <p:cNvPr id="46" name="文本框 45"/>
            <p:cNvSpPr txBox="1"/>
            <p:nvPr>
              <p:custDataLst>
                <p:tags r:id="rId11"/>
              </p:custDataLst>
            </p:nvPr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1</a:t>
              </a:r>
              <a:endParaRPr kumimoji="0" lang="zh-CN" altLang="en-US" sz="5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2"/>
              </p:custDataLst>
            </p:nvPr>
          </p:nvSpPr>
          <p:spPr>
            <a:xfrm>
              <a:off x="6355262" y="1304201"/>
              <a:ext cx="1863972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17145">
                <a:spcBef>
                  <a:spcPts val="105"/>
                </a:spcBef>
              </a:pPr>
              <a:r>
                <a:rPr lang="zh-CN" altLang="en-US" sz="3600" b="1" dirty="0">
                  <a:solidFill>
                    <a:srgbClr val="C00000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</a:rPr>
                <a:t>研究问题与网络</a:t>
              </a:r>
            </a:p>
          </p:txBody>
        </p:sp>
      </p:grpSp>
      <p:grpSp>
        <p:nvGrpSpPr>
          <p:cNvPr id="59" name="组合 58"/>
          <p:cNvGrpSpPr/>
          <p:nvPr>
            <p:custDataLst>
              <p:tags r:id="rId2"/>
            </p:custDataLst>
          </p:nvPr>
        </p:nvGrpSpPr>
        <p:grpSpPr>
          <a:xfrm>
            <a:off x="5683198" y="2012029"/>
            <a:ext cx="4278628" cy="1481021"/>
            <a:chOff x="5337036" y="1031947"/>
            <a:chExt cx="4278628" cy="1481021"/>
          </a:xfrm>
        </p:grpSpPr>
        <p:sp>
          <p:nvSpPr>
            <p:cNvPr id="60" name="文本框 59"/>
            <p:cNvSpPr txBox="1"/>
            <p:nvPr>
              <p:custDataLst>
                <p:tags r:id="rId9"/>
              </p:custDataLst>
            </p:nvPr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002B84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2</a:t>
              </a:r>
              <a:endParaRPr kumimoji="0" lang="zh-CN" alt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002B84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文本框 61"/>
            <p:cNvSpPr txBox="1"/>
            <p:nvPr>
              <p:custDataLst>
                <p:tags r:id="rId10"/>
              </p:custDataLst>
            </p:nvPr>
          </p:nvSpPr>
          <p:spPr>
            <a:xfrm>
              <a:off x="6384010" y="1248904"/>
              <a:ext cx="3231654" cy="126406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3600" b="1" dirty="0">
                  <a:solidFill>
                    <a:srgbClr val="002B84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</a:rPr>
                <a:t>系统模型与求解</a:t>
              </a:r>
            </a:p>
            <a:p>
              <a:pPr lvl="0">
                <a:lnSpc>
                  <a:spcPct val="120000"/>
                </a:lnSpc>
              </a:pPr>
              <a:endParaRPr lang="zh-CN" altLang="en-US" sz="3600" b="1" dirty="0">
                <a:solidFill>
                  <a:srgbClr val="002B84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>
            <p:custDataLst>
              <p:tags r:id="rId3"/>
            </p:custDataLst>
          </p:nvPr>
        </p:nvGrpSpPr>
        <p:grpSpPr>
          <a:xfrm>
            <a:off x="5675907" y="4918106"/>
            <a:ext cx="3804264" cy="1098506"/>
            <a:chOff x="5337036" y="1031947"/>
            <a:chExt cx="3804264" cy="1098506"/>
          </a:xfrm>
        </p:grpSpPr>
        <p:sp>
          <p:nvSpPr>
            <p:cNvPr id="67" name="文本框 66"/>
            <p:cNvSpPr txBox="1"/>
            <p:nvPr>
              <p:custDataLst>
                <p:tags r:id="rId7"/>
              </p:custDataLst>
            </p:nvPr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002B84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4</a:t>
              </a:r>
              <a:endParaRPr kumimoji="0" lang="zh-CN" alt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002B84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9" name="文本框 68"/>
            <p:cNvSpPr txBox="1"/>
            <p:nvPr>
              <p:custDataLst>
                <p:tags r:id="rId8"/>
              </p:custDataLst>
            </p:nvPr>
          </p:nvSpPr>
          <p:spPr>
            <a:xfrm>
              <a:off x="6371311" y="1290123"/>
              <a:ext cx="2769989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3600" b="1" dirty="0">
                  <a:solidFill>
                    <a:srgbClr val="002B84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ea"/>
                </a:rPr>
                <a:t>新版研究方案</a:t>
              </a:r>
              <a:endParaRPr lang="zh-CN" altLang="en-US" sz="3600" b="1" dirty="0">
                <a:solidFill>
                  <a:srgbClr val="013A89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3" name="组合 12"/>
          <p:cNvGrpSpPr/>
          <p:nvPr>
            <p:custDataLst>
              <p:tags r:id="rId4"/>
            </p:custDataLst>
          </p:nvPr>
        </p:nvGrpSpPr>
        <p:grpSpPr>
          <a:xfrm>
            <a:off x="5675658" y="3484713"/>
            <a:ext cx="5663622" cy="1098506"/>
            <a:chOff x="5337036" y="1031947"/>
            <a:chExt cx="5663622" cy="1098506"/>
          </a:xfrm>
        </p:grpSpPr>
        <p:sp>
          <p:nvSpPr>
            <p:cNvPr id="14" name="文本框 13"/>
            <p:cNvSpPr txBox="1"/>
            <p:nvPr>
              <p:custDataLst>
                <p:tags r:id="rId5"/>
              </p:custDataLst>
            </p:nvPr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013A89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3</a:t>
              </a:r>
              <a:endParaRPr kumimoji="0" lang="zh-CN" alt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013A89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6"/>
              </p:custDataLst>
            </p:nvPr>
          </p:nvSpPr>
          <p:spPr>
            <a:xfrm>
              <a:off x="6384010" y="1248904"/>
              <a:ext cx="4616648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3600" b="1" dirty="0">
                  <a:solidFill>
                    <a:srgbClr val="002B84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ea"/>
                </a:rPr>
                <a:t>误差机制与验证</a:t>
              </a:r>
              <a:endParaRPr lang="zh-CN" altLang="en-GB" sz="3600" b="1" dirty="0">
                <a:solidFill>
                  <a:srgbClr val="002B84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</a:endParaRPr>
            </a:p>
          </p:txBody>
        </p:sp>
      </p:grp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研究问题与目标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61872"/>
            <a:ext cx="11183112" cy="365760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9224" y="1261872"/>
            <a:ext cx="10954512" cy="36576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1">
                <a:solidFill>
                  <a:srgbClr val="092B56"/>
                </a:solidFill>
                <a:latin typeface="Microsoft YaHei"/>
              </a:rPr>
              <a:t>实际困难 → 当前方法 → 需要核验的结果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962656" cy="75895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9384"/>
            <a:ext cx="2761488" cy="6400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icrosoft YaHei"/>
              </a:rPr>
              <a:t>SRS/CSI 精度随链路变化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30168" y="2258568"/>
            <a:ext cx="329184" cy="0"/>
          </a:xfrm>
          <a:prstGeom prst="line">
            <a:avLst/>
          </a:prstGeom>
          <a:ln w="2540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14215" y="1874519"/>
            <a:ext cx="3685032" cy="758952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42232" y="1929384"/>
            <a:ext cx="3419856" cy="6400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70" b="0">
                <a:solidFill>
                  <a:srgbClr val="000000"/>
                </a:solidFill>
                <a:latin typeface="Microsoft YaHei"/>
              </a:rPr>
              <a:t>链路条件协方差 C；测量质量分组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63256" y="2258568"/>
            <a:ext cx="329184" cy="0"/>
          </a:xfrm>
          <a:prstGeom prst="line">
            <a:avLst/>
          </a:prstGeom>
          <a:ln w="2540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56448" y="1874519"/>
            <a:ext cx="3419856" cy="75895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929384"/>
            <a:ext cx="3154680" cy="6400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50" b="0">
                <a:solidFill>
                  <a:srgbClr val="000000"/>
                </a:solidFill>
                <a:latin typeface="Microsoft YaHei"/>
              </a:rPr>
              <a:t>同条件比较边缘体验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935224"/>
            <a:ext cx="2962656" cy="75895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90088"/>
            <a:ext cx="2761488" cy="6400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icrosoft YaHei"/>
              </a:rPr>
              <a:t>边缘 UE 协同受干扰影响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30168" y="3319272"/>
            <a:ext cx="329184" cy="0"/>
          </a:xfrm>
          <a:prstGeom prst="line">
            <a:avLst/>
          </a:prstGeom>
          <a:ln w="25400">
            <a:solidFill>
              <a:srgbClr val="DF7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014215" y="2935224"/>
            <a:ext cx="3685032" cy="758952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42232" y="2990088"/>
            <a:ext cx="3419856" cy="6400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70" b="0">
                <a:solidFill>
                  <a:srgbClr val="000000"/>
                </a:solidFill>
                <a:latin typeface="Microsoft YaHei"/>
              </a:rPr>
              <a:t>用户中心服务＋WMMSE 接收更新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63256" y="3319272"/>
            <a:ext cx="329184" cy="0"/>
          </a:xfrm>
          <a:prstGeom prst="line">
            <a:avLst/>
          </a:prstGeom>
          <a:ln w="25400">
            <a:solidFill>
              <a:srgbClr val="DF7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156448" y="2935224"/>
            <a:ext cx="3419856" cy="75895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990088"/>
            <a:ext cx="3154680" cy="6400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50" b="0">
                <a:solidFill>
                  <a:srgbClr val="000000"/>
                </a:solidFill>
                <a:latin typeface="Microsoft YaHei"/>
              </a:rPr>
              <a:t>真信道体验分位与协议口径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995927"/>
            <a:ext cx="2962656" cy="75895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050791"/>
            <a:ext cx="2761488" cy="6400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icrosoft YaHei"/>
              </a:rPr>
              <a:t>跨组功率与正式规模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30168" y="4379975"/>
            <a:ext cx="329184" cy="0"/>
          </a:xfrm>
          <a:prstGeom prst="line">
            <a:avLst/>
          </a:prstGeom>
          <a:ln w="25400">
            <a:solidFill>
              <a:srgbClr val="1C76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014215" y="3995927"/>
            <a:ext cx="3685032" cy="758952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42232" y="4050791"/>
            <a:ext cx="3419856" cy="6400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70" b="0">
                <a:solidFill>
                  <a:srgbClr val="000000"/>
                </a:solidFill>
                <a:latin typeface="Microsoft YaHei"/>
              </a:rPr>
              <a:t>集中式 ADMM 联合功率投影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63256" y="4379975"/>
            <a:ext cx="329184" cy="0"/>
          </a:xfrm>
          <a:prstGeom prst="line">
            <a:avLst/>
          </a:prstGeom>
          <a:ln w="25400">
            <a:solidFill>
              <a:srgbClr val="1C76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156448" y="3995927"/>
            <a:ext cx="3419856" cy="75895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4050791"/>
            <a:ext cx="3154680" cy="6400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50" b="0">
                <a:solidFill>
                  <a:srgbClr val="000000"/>
                </a:solidFill>
                <a:latin typeface="Microsoft YaHei"/>
              </a:rPr>
              <a:t>预算违规、残差及运行规模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" y="5276088"/>
            <a:ext cx="10954512" cy="749808"/>
          </a:xfrm>
          <a:prstGeom prst="roundRect">
            <a:avLst/>
          </a:prstGeom>
          <a:solidFill>
            <a:srgbClr val="FFF7EB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321808"/>
            <a:ext cx="10643616" cy="6583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Microsoft YaHei"/>
              </a:rPr>
              <a:t>当前：统计误差与集中求解已接入；最坏情况椭球、TRP 本地求解仍属研究方案。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网络拓扑与协同架构</a:t>
            </a:r>
          </a:p>
        </p:txBody>
      </p:sp>
      <p:pic>
        <p:nvPicPr>
          <p:cNvPr id="3" name="Picture 2" descr="topology_full.png"/>
          <p:cNvPicPr>
            <a:picLocks noChangeAspect="1"/>
          </p:cNvPicPr>
          <p:nvPr/>
        </p:nvPicPr>
        <p:blipFill>
          <a:blip r:embed="rId3"/>
          <a:srcRect l="21400"/>
          <a:stretch>
            <a:fillRect/>
          </a:stretch>
        </p:blipFill>
        <p:spPr>
          <a:xfrm>
            <a:off x="417308" y="1280160"/>
            <a:ext cx="6119515" cy="514414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51775" y="1325880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9" y="1280160"/>
            <a:ext cx="4151376" cy="4114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局部协同与计算</a:t>
            </a:r>
          </a:p>
        </p:txBody>
      </p:sp>
      <p:pic>
        <p:nvPicPr>
          <p:cNvPr id="6" name="Picture 5" descr="topology_zoom.png"/>
          <p:cNvPicPr>
            <a:picLocks noChangeAspect="1"/>
          </p:cNvPicPr>
          <p:nvPr/>
        </p:nvPicPr>
        <p:blipFill>
          <a:blip r:embed="rId4"/>
          <a:srcRect l="21261"/>
          <a:stretch>
            <a:fillRect/>
          </a:stretch>
        </p:blipFill>
        <p:spPr>
          <a:xfrm>
            <a:off x="7461503" y="1687854"/>
            <a:ext cx="3624845" cy="31950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61504" y="4882896"/>
            <a:ext cx="3968496" cy="493776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UE 7 由 T01、T02 协同服务。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1504" y="5449824"/>
            <a:ext cx="3968496" cy="89611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SRS → TRP 观测 → CPU 集中求 w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业务与 w 块 → TRP 下行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系统框架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6072" y="1536192"/>
            <a:ext cx="2011680" cy="1517904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092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72" y="1536192"/>
            <a:ext cx="2011680" cy="384048"/>
          </a:xfrm>
          <a:prstGeom prst="roundRect">
            <a:avLst/>
          </a:prstGeom>
          <a:solidFill>
            <a:srgbClr val="092B56"/>
          </a:solidFill>
          <a:ln w="10160">
            <a:solidFill>
              <a:srgbClr val="092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1545336"/>
            <a:ext cx="1865376" cy="35661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  <a:latin typeface="Microsoft YaHei"/>
              </a:rPr>
              <a:t>位置与扇区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93391"/>
            <a:ext cx="1792224" cy="4114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90" b="0">
                <a:solidFill>
                  <a:srgbClr val="000000"/>
                </a:solidFill>
                <a:latin typeface="Microsoft YaHei"/>
              </a:rPr>
              <a:t>站址、UE 坐标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59736"/>
            <a:ext cx="1792224" cy="4480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10" b="1">
                <a:solidFill>
                  <a:srgbClr val="000000"/>
                </a:solidFill>
                <a:latin typeface="Microsoft YaHei"/>
              </a:rPr>
              <a:t>生成 Hᵗʳᵘᵉ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96896" y="2286000"/>
            <a:ext cx="192024" cy="0"/>
          </a:xfrm>
          <a:prstGeom prst="line">
            <a:avLst/>
          </a:prstGeom>
          <a:ln w="25400">
            <a:solidFill>
              <a:srgbClr val="092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07208" y="1536192"/>
            <a:ext cx="2011680" cy="1517904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8" y="1536192"/>
            <a:ext cx="2011680" cy="384048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545336"/>
            <a:ext cx="1865376" cy="35661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  <a:latin typeface="Microsoft YaHei"/>
              </a:rPr>
              <a:t>SRS / CSI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6936" y="1993391"/>
            <a:ext cx="1792224" cy="4114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90" b="0">
                <a:solidFill>
                  <a:srgbClr val="000000"/>
                </a:solidFill>
                <a:latin typeface="Microsoft YaHei"/>
              </a:rPr>
              <a:t>Hᵗʳᵘᵉ、质量/年龄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936" y="2459736"/>
            <a:ext cx="1792224" cy="4480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10" b="1">
                <a:solidFill>
                  <a:srgbClr val="000000"/>
                </a:solidFill>
                <a:latin typeface="Microsoft YaHei"/>
              </a:rPr>
              <a:t>输出 Ĥ、C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28032" y="2286000"/>
            <a:ext cx="192023" cy="0"/>
          </a:xfrm>
          <a:prstGeom prst="line">
            <a:avLst/>
          </a:prstGeom>
          <a:ln w="2540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38344" y="1536192"/>
            <a:ext cx="2011680" cy="1517904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38344" y="1536192"/>
            <a:ext cx="2011680" cy="384048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1496" y="1545336"/>
            <a:ext cx="1865376" cy="35661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  <a:latin typeface="Microsoft YaHei"/>
              </a:rPr>
              <a:t>资源规则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72" y="1993391"/>
            <a:ext cx="1792224" cy="4114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90" b="0">
                <a:solidFill>
                  <a:srgbClr val="000000"/>
                </a:solidFill>
                <a:latin typeface="Microsoft YaHei"/>
              </a:rPr>
              <a:t>Ĥ、归属、业务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8072" y="2459736"/>
            <a:ext cx="1792224" cy="4480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10" b="1">
                <a:solidFill>
                  <a:srgbClr val="000000"/>
                </a:solidFill>
                <a:latin typeface="Microsoft YaHei"/>
              </a:rPr>
              <a:t>固定 b、χ、r、ν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59168" y="2286000"/>
            <a:ext cx="192024" cy="0"/>
          </a:xfrm>
          <a:prstGeom prst="line">
            <a:avLst/>
          </a:prstGeom>
          <a:ln w="25400">
            <a:solidFill>
              <a:srgbClr val="1C76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269480" y="1536192"/>
            <a:ext cx="2011680" cy="1517904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69480" y="1536192"/>
            <a:ext cx="2011680" cy="384048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42632" y="1545336"/>
            <a:ext cx="1865376" cy="35661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  <a:latin typeface="Microsoft YaHei"/>
              </a:rPr>
              <a:t>WMMSE–ADMM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9208" y="1993391"/>
            <a:ext cx="1792224" cy="4114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90" b="0">
                <a:solidFill>
                  <a:srgbClr val="000000"/>
                </a:solidFill>
                <a:latin typeface="Microsoft YaHei"/>
              </a:rPr>
              <a:t>Ĥ、C、b/χ/r/ν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9208" y="2459736"/>
            <a:ext cx="1792224" cy="4480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10" b="1">
                <a:solidFill>
                  <a:srgbClr val="000000"/>
                </a:solidFill>
                <a:latin typeface="Microsoft YaHei"/>
              </a:rPr>
              <a:t>优化 w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90304" y="2286000"/>
            <a:ext cx="192024" cy="0"/>
          </a:xfrm>
          <a:prstGeom prst="line">
            <a:avLst/>
          </a:prstGeom>
          <a:ln w="25400">
            <a:solidFill>
              <a:srgbClr val="DF7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500616" y="1536192"/>
            <a:ext cx="2011680" cy="1517904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B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00616" y="1536192"/>
            <a:ext cx="2011680" cy="384048"/>
          </a:xfrm>
          <a:prstGeom prst="roundRect">
            <a:avLst/>
          </a:prstGeom>
          <a:solidFill>
            <a:srgbClr val="B12A30"/>
          </a:solidFill>
          <a:ln w="10160">
            <a:solidFill>
              <a:srgbClr val="B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73768" y="1545336"/>
            <a:ext cx="1865376" cy="35661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  <a:latin typeface="Microsoft YaHei"/>
              </a:rPr>
              <a:t>真实信道评价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0344" y="1993391"/>
            <a:ext cx="1792224" cy="4114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90" b="0">
                <a:solidFill>
                  <a:srgbClr val="000000"/>
                </a:solidFill>
                <a:latin typeface="Microsoft YaHei"/>
              </a:rPr>
              <a:t>Hᵗʳᵘᵉ、w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0344" y="2459736"/>
            <a:ext cx="1792224" cy="4480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10" b="1">
                <a:solidFill>
                  <a:srgbClr val="000000"/>
                </a:solidFill>
                <a:latin typeface="Microsoft YaHei"/>
              </a:rPr>
              <a:t>速率/体验/功率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703320"/>
            <a:ext cx="11183112" cy="365760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" y="3703320"/>
            <a:ext cx="10954512" cy="36576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1">
                <a:solidFill>
                  <a:srgbClr val="092B56"/>
                </a:solidFill>
                <a:latin typeface="Microsoft YaHei"/>
              </a:rPr>
              <a:t>UE–TRP–CPU：当前集中式仿真中的测量、计算与下行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" y="4352544"/>
            <a:ext cx="2880360" cy="84124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4379975"/>
            <a:ext cx="2615184" cy="32918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800" b="1">
                <a:solidFill>
                  <a:srgbClr val="092B56"/>
                </a:solidFill>
                <a:latin typeface="Microsoft YaHei"/>
              </a:rPr>
              <a:t>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" y="4727448"/>
            <a:ext cx="2615184" cy="36576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20" b="0">
                <a:solidFill>
                  <a:srgbClr val="000000"/>
                </a:solidFill>
                <a:latin typeface="Microsoft YaHei"/>
              </a:rPr>
              <a:t>上行 SRS / 业务需求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06240" y="4352544"/>
            <a:ext cx="2880360" cy="84124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25112" y="4379975"/>
            <a:ext cx="2615184" cy="32918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800" b="1">
                <a:solidFill>
                  <a:srgbClr val="092B56"/>
                </a:solidFill>
                <a:latin typeface="Microsoft YaHei"/>
              </a:rPr>
              <a:t>21 个 TRP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25112" y="4727448"/>
            <a:ext cx="2615184" cy="36576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20" b="0">
                <a:solidFill>
                  <a:srgbClr val="000000"/>
                </a:solidFill>
                <a:latin typeface="Microsoft YaHei"/>
              </a:rPr>
              <a:t>接收测量；执行预编码块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2440" y="4352544"/>
            <a:ext cx="2880360" cy="84124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1312" y="4379975"/>
            <a:ext cx="2615184" cy="32918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800" b="1">
                <a:solidFill>
                  <a:srgbClr val="092B56"/>
                </a:solidFill>
                <a:latin typeface="Microsoft YaHei"/>
              </a:rPr>
              <a:t>逻辑 CPU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4727448"/>
            <a:ext cx="2615184" cy="36576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20" b="0">
                <a:solidFill>
                  <a:srgbClr val="000000"/>
                </a:solidFill>
                <a:latin typeface="Microsoft YaHei"/>
              </a:rPr>
              <a:t>形成 Ĥ、C；集中求 w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557015" y="4654296"/>
            <a:ext cx="640081" cy="0"/>
          </a:xfrm>
          <a:prstGeom prst="line">
            <a:avLst/>
          </a:prstGeom>
          <a:ln w="2540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916935" y="4489704"/>
            <a:ext cx="1920240" cy="3200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00" b="0">
                <a:solidFill>
                  <a:srgbClr val="124A8F"/>
                </a:solidFill>
                <a:latin typeface="Microsoft YaHei"/>
              </a:rPr>
              <a:t>SRS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104888" y="4636007"/>
            <a:ext cx="960120" cy="0"/>
          </a:xfrm>
          <a:prstGeom prst="line">
            <a:avLst/>
          </a:prstGeom>
          <a:ln w="2540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624827" y="4471416"/>
            <a:ext cx="1920240" cy="3200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00" b="0">
                <a:solidFill>
                  <a:srgbClr val="124A8F"/>
                </a:solidFill>
                <a:latin typeface="Microsoft YaHei"/>
              </a:rPr>
              <a:t>测量/质量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7104888" y="5340096"/>
            <a:ext cx="969264" cy="0"/>
          </a:xfrm>
          <a:prstGeom prst="line">
            <a:avLst/>
          </a:prstGeom>
          <a:ln w="25400">
            <a:solidFill>
              <a:srgbClr val="DF7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629400" y="5175504"/>
            <a:ext cx="1920240" cy="3200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00" b="0">
                <a:solidFill>
                  <a:srgbClr val="DF7B27"/>
                </a:solidFill>
                <a:latin typeface="Microsoft YaHei"/>
              </a:rPr>
              <a:t>业务数据、wₗ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3575304" y="5358383"/>
            <a:ext cx="612648" cy="0"/>
          </a:xfrm>
          <a:prstGeom prst="line">
            <a:avLst/>
          </a:prstGeom>
          <a:ln w="25400">
            <a:solidFill>
              <a:srgbClr val="DF7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921508" y="5193792"/>
            <a:ext cx="1920240" cy="3200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00" b="0">
                <a:solidFill>
                  <a:srgbClr val="DF7B27"/>
                </a:solidFill>
                <a:latin typeface="Microsoft YaHei"/>
              </a:rPr>
              <a:t>下行信号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550407"/>
            <a:ext cx="10735056" cy="32918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10" b="1">
                <a:solidFill>
                  <a:srgbClr val="000000"/>
                </a:solidFill>
                <a:latin typeface="Microsoft YaHei"/>
              </a:rPr>
              <a:t>虚拟协调节点；目前无 TRP 本地 ADMM、前传协议或编解码实现。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信道与测量模型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399032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76656" y="1353312"/>
            <a:ext cx="4882896" cy="4114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 dirty="0" err="1">
                <a:solidFill>
                  <a:srgbClr val="000000"/>
                </a:solidFill>
                <a:latin typeface="Microsoft YaHei"/>
              </a:rPr>
              <a:t>几何与真信道</a:t>
            </a:r>
            <a:endParaRPr sz="1900" b="1" dirty="0">
              <a:solidFill>
                <a:srgbClr val="000000"/>
              </a:solidFill>
              <a:latin typeface="Microsoft YaHei"/>
            </a:endParaRPr>
          </a:p>
        </p:txBody>
      </p:sp>
      <p:pic>
        <p:nvPicPr>
          <p:cNvPr id="5" name="Picture 4" descr="cha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892807"/>
            <a:ext cx="4585127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" y="2670048"/>
            <a:ext cx="4754880" cy="121615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β：链路大尺度增益；Lrx：接收相关因子；Ξ：小尺度随机矩阵。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16168" y="1399032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62472" y="1353312"/>
            <a:ext cx="5522976" cy="4114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观测与条件误差</a:t>
            </a:r>
          </a:p>
        </p:txBody>
      </p:sp>
      <p:pic>
        <p:nvPicPr>
          <p:cNvPr id="9" name="Picture 8" descr="posteri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04" y="1892807"/>
            <a:ext cx="5440680" cy="529082"/>
          </a:xfrm>
          <a:prstGeom prst="rect">
            <a:avLst/>
          </a:prstGeom>
        </p:spPr>
      </p:pic>
      <p:pic>
        <p:nvPicPr>
          <p:cNvPr id="10" name="Picture 9" descr="estim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904" y="2761488"/>
            <a:ext cx="5085707" cy="6035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89904" y="3566160"/>
            <a:ext cx="5239512" cy="13258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C：4×4 条件误差协方差；Hhat：4×64 估计信道。nc、ns 为 CSI-RS 与 SRS 的有效噪声方差。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5175504"/>
            <a:ext cx="10927080" cy="0"/>
          </a:xfrm>
          <a:prstGeom prst="line">
            <a:avLst/>
          </a:prstGeom>
          <a:ln w="15240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2376" y="5394960"/>
            <a:ext cx="10652760" cy="71323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测量质量和 CSI 年龄使各链路的 C 不同；当前尚未将 C 解释为已校准的确定性误差椭球。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资源变量与两时间尺度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61872"/>
            <a:ext cx="11183112" cy="365760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9224" y="1261872"/>
            <a:ext cx="10954512" cy="36576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1">
                <a:solidFill>
                  <a:srgbClr val="092B56"/>
                </a:solidFill>
                <a:latin typeface="Microsoft YaHei"/>
              </a:rPr>
              <a:t>物理时刻 t → 测量更新 → 固定配置下求一个可评价的预编码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" y="1837944"/>
            <a:ext cx="2752344" cy="1316736"/>
          </a:xfrm>
          <a:prstGeom prst="roundRect">
            <a:avLst/>
          </a:prstGeom>
          <a:solidFill>
            <a:srgbClr val="FFF5E9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929384"/>
            <a:ext cx="2468880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800" b="1">
                <a:solidFill>
                  <a:srgbClr val="092B56"/>
                </a:solidFill>
                <a:latin typeface="Microsoft YaHei"/>
              </a:rPr>
              <a:t>历史慢层候选搜索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331720"/>
            <a:ext cx="2468880" cy="7132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40" b="0">
                <a:solidFill>
                  <a:srgbClr val="000000"/>
                </a:solidFill>
                <a:latin typeface="Microsoft YaHei"/>
              </a:rPr>
              <a:t>连接数、调度阈值、rank 与惩罚/修复参数；GA 交叉变异，PSO 位置速度更新。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15383" y="1837944"/>
            <a:ext cx="3090672" cy="1316736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1688" y="1929384"/>
            <a:ext cx="2816352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800" b="1">
                <a:solidFill>
                  <a:srgbClr val="092B56"/>
                </a:solidFill>
                <a:latin typeface="Microsoft YaHei"/>
              </a:rPr>
              <a:t>SRS / CSI 测量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1688" y="2331720"/>
            <a:ext cx="2798064" cy="69494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20" b="0">
                <a:solidFill>
                  <a:srgbClr val="000000"/>
                </a:solidFill>
                <a:latin typeface="Microsoft YaHei"/>
              </a:rPr>
              <a:t>质量与 CSI 年龄 → 估计信道 Ĥ、条件协方差 C。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37944"/>
            <a:ext cx="3364992" cy="1316736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1929384"/>
            <a:ext cx="3072384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800" b="1">
                <a:solidFill>
                  <a:srgbClr val="092B56"/>
                </a:solidFill>
                <a:latin typeface="Microsoft YaHei"/>
              </a:rPr>
              <a:t>当前正式快层求解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2331720"/>
            <a:ext cx="3072384" cy="70408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固定 b、χ、r、ν；WMMSE 外迭代中调用 ADMM 求 w。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29000" y="2487168"/>
            <a:ext cx="758952" cy="0"/>
          </a:xfrm>
          <a:prstGeom prst="line">
            <a:avLst/>
          </a:prstGeom>
          <a:ln w="25400">
            <a:solidFill>
              <a:srgbClr val="DF7B2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848356" y="2322576"/>
            <a:ext cx="1920240" cy="3200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00" b="0">
                <a:solidFill>
                  <a:srgbClr val="DF7B27"/>
                </a:solidFill>
                <a:latin typeface="Microsoft YaHei"/>
              </a:rPr>
              <a:t>拟接入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0" y="2487168"/>
            <a:ext cx="749808" cy="0"/>
          </a:xfrm>
          <a:prstGeom prst="line">
            <a:avLst/>
          </a:prstGeom>
          <a:ln w="2540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29983" y="2322576"/>
            <a:ext cx="1920240" cy="3200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00" b="0">
                <a:solidFill>
                  <a:srgbClr val="124A8F"/>
                </a:solidFill>
                <a:latin typeface="Microsoft YaHei"/>
              </a:rPr>
              <a:t>Ĥ、C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4" y="3712464"/>
            <a:ext cx="3355848" cy="786384"/>
          </a:xfrm>
          <a:prstGeom prst="roundRect">
            <a:avLst/>
          </a:prstGeom>
          <a:solidFill>
            <a:srgbClr val="EEF7F4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3803904"/>
            <a:ext cx="3072384" cy="55778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Microsoft YaHei"/>
              </a:rPr>
              <a:t>真信道评价：体验、功率、停止状态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47504" y="3154680"/>
            <a:ext cx="0" cy="539496"/>
          </a:xfrm>
          <a:prstGeom prst="line">
            <a:avLst/>
          </a:prstGeom>
          <a:ln w="25400">
            <a:solidFill>
              <a:srgbClr val="1C76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787384" y="3259836"/>
            <a:ext cx="1920240" cy="3200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00" b="0">
                <a:solidFill>
                  <a:srgbClr val="1C7663"/>
                </a:solidFill>
                <a:latin typeface="Microsoft YaHei"/>
              </a:rPr>
              <a:t>w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493008" y="4096512"/>
            <a:ext cx="4581144" cy="0"/>
          </a:xfrm>
          <a:prstGeom prst="line">
            <a:avLst/>
          </a:prstGeom>
          <a:ln w="25400">
            <a:solidFill>
              <a:srgbClr val="DF7B2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823459" y="3931920"/>
            <a:ext cx="1920240" cy="3200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00" b="0">
                <a:solidFill>
                  <a:srgbClr val="DF7B27"/>
                </a:solidFill>
                <a:latin typeface="Microsoft YaHei"/>
              </a:rPr>
              <a:t>反馈搜索：拟接入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828032"/>
            <a:ext cx="10808208" cy="886968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4910327"/>
            <a:ext cx="10479024" cy="7315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60" b="0">
                <a:solidFill>
                  <a:srgbClr val="000000"/>
                </a:solidFill>
                <a:latin typeface="Microsoft YaHei"/>
              </a:rPr>
              <a:t>四种“循环”不同：物理 TTI／候选迭代／WMMSE 外轮／ADMM 内轮。当前正式入口仅接通测量→固定资源→快层求解→评价。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接收模型与速率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389888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1344168"/>
            <a:ext cx="5248656" cy="4114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多 TRP 相干叠加</a:t>
            </a:r>
          </a:p>
        </p:txBody>
      </p:sp>
      <p:pic>
        <p:nvPicPr>
          <p:cNvPr id="5" name="Picture 4" descr="eff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856231"/>
            <a:ext cx="3159440" cy="612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" y="2633472"/>
            <a:ext cx="5001768" cy="114300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F：4×r 有效信道。先把各服务 TRP 的复数贡献相加，再形成接收功率。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0176" y="1389888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0" y="1344168"/>
            <a:ext cx="5385816" cy="4114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接收协方差</a:t>
            </a:r>
          </a:p>
        </p:txBody>
      </p:sp>
      <p:pic>
        <p:nvPicPr>
          <p:cNvPr id="9" name="Picture 8" descr="covari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856231"/>
            <a:ext cx="3653956" cy="6217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81344" y="2633472"/>
            <a:ext cx="5047488" cy="11521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Ryy：4×4；含有用信号、所有用户干扰、归一化噪声与误差统计项。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4" y="4114800"/>
            <a:ext cx="10881360" cy="0"/>
          </a:xfrm>
          <a:prstGeom prst="line">
            <a:avLst/>
          </a:prstGeom>
          <a:ln w="15240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21207" y="4398264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4352544"/>
            <a:ext cx="5340096" cy="4114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速率计算</a:t>
            </a:r>
          </a:p>
        </p:txBody>
      </p:sp>
      <p:pic>
        <p:nvPicPr>
          <p:cNvPr id="14" name="Picture 13" descr="r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864608"/>
            <a:ext cx="5321808" cy="5531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36208" y="4873752"/>
            <a:ext cx="5001768" cy="100584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Rint：干扰加噪声协方差，4×4；RSE：频谱效率，bit/s/Hz。体验另按业务协议统计。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WMMSE 更新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61872"/>
            <a:ext cx="11183112" cy="365760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9224" y="1261872"/>
            <a:ext cx="10954512" cy="36576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1">
                <a:solidFill>
                  <a:srgbClr val="092B56"/>
                </a:solidFill>
                <a:latin typeface="Microsoft YaHei"/>
              </a:rPr>
              <a:t>外层 WMMSE：当前可行 w → 接收统计 → 固定量 → 内层 ADMM → 接受 / 停止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975104"/>
            <a:ext cx="2057400" cy="114300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2075688"/>
            <a:ext cx="1828800" cy="33832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700" b="1">
                <a:solidFill>
                  <a:srgbClr val="092B56"/>
                </a:solidFill>
                <a:latin typeface="Microsoft YaHei"/>
              </a:rPr>
              <a:t>① 当前 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496312"/>
            <a:ext cx="1828800" cy="521207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20" b="0">
                <a:solidFill>
                  <a:srgbClr val="000000"/>
                </a:solidFill>
                <a:latin typeface="Microsoft YaHei"/>
              </a:rPr>
              <a:t>服务集外为零；满足功率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975104"/>
            <a:ext cx="2331720" cy="114300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7832" y="2075688"/>
            <a:ext cx="2103120" cy="33832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700" b="1">
                <a:solidFill>
                  <a:srgbClr val="092B56"/>
                </a:solidFill>
                <a:latin typeface="Microsoft YaHei"/>
              </a:rPr>
              <a:t>② F、Rʸʸ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2496312"/>
            <a:ext cx="2103120" cy="521207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20" b="0">
                <a:solidFill>
                  <a:srgbClr val="000000"/>
                </a:solidFill>
                <a:latin typeface="Microsoft YaHei"/>
              </a:rPr>
              <a:t>Ĥw 相干叠加；叠加 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70448" y="1975104"/>
            <a:ext cx="2331720" cy="114300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2075688"/>
            <a:ext cx="2103120" cy="33832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700" b="1">
                <a:solidFill>
                  <a:srgbClr val="092B56"/>
                </a:solidFill>
                <a:latin typeface="Microsoft YaHei"/>
              </a:rPr>
              <a:t>③ A、E、Ω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496312"/>
            <a:ext cx="2103120" cy="521207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20" b="0">
                <a:solidFill>
                  <a:srgbClr val="000000"/>
                </a:solidFill>
                <a:latin typeface="Microsoft YaHei"/>
              </a:rPr>
              <a:t>MMSE 接收与误差权重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1975104"/>
            <a:ext cx="2834640" cy="114300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59952" y="2075688"/>
            <a:ext cx="2606040" cy="33832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700" b="1">
                <a:solidFill>
                  <a:srgbClr val="092B56"/>
                </a:solidFill>
                <a:latin typeface="Microsoft YaHei"/>
              </a:rPr>
              <a:t>④ 二次子问题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2496312"/>
            <a:ext cx="2606040" cy="521207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20" b="0">
                <a:solidFill>
                  <a:srgbClr val="000000"/>
                </a:solidFill>
                <a:latin typeface="Microsoft YaHei"/>
              </a:rPr>
              <a:t>固定 A、Ω、η；更新 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79191" y="2542032"/>
            <a:ext cx="402337" cy="0"/>
          </a:xfrm>
          <a:prstGeom prst="line">
            <a:avLst/>
          </a:prstGeom>
          <a:ln w="2540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449824" y="2542032"/>
            <a:ext cx="393192" cy="0"/>
          </a:xfrm>
          <a:prstGeom prst="line">
            <a:avLst/>
          </a:prstGeom>
          <a:ln w="2540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11312" y="2542032"/>
            <a:ext cx="402336" cy="0"/>
          </a:xfrm>
          <a:prstGeom prst="line">
            <a:avLst/>
          </a:prstGeom>
          <a:ln w="2540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36007" y="3749039"/>
            <a:ext cx="3657600" cy="941832"/>
          </a:xfrm>
          <a:prstGeom prst="roundRect">
            <a:avLst/>
          </a:prstGeom>
          <a:solidFill>
            <a:srgbClr val="FFF5E9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9744" y="3822191"/>
            <a:ext cx="3319272" cy="7223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icrosoft YaHei"/>
              </a:rPr>
              <a:t>内层 ADMM：x → z → y</a:t>
            </a:r>
          </a:p>
          <a:p>
            <a:pPr algn="l"/>
            <a:r>
              <a:rPr sz="1600" b="1">
                <a:solidFill>
                  <a:srgbClr val="000000"/>
                </a:solidFill>
                <a:latin typeface="Microsoft YaHei"/>
              </a:rPr>
              <a:t>CG 求解 · 跨组功率投影 · 残差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8275320" y="3136392"/>
            <a:ext cx="1764792" cy="612647"/>
          </a:xfrm>
          <a:prstGeom prst="line">
            <a:avLst/>
          </a:prstGeom>
          <a:ln w="25400">
            <a:solidFill>
              <a:srgbClr val="DF7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197596" y="3278124"/>
            <a:ext cx="1920240" cy="3200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00" b="0">
                <a:solidFill>
                  <a:srgbClr val="DF7B27"/>
                </a:solidFill>
                <a:latin typeface="Microsoft YaHei"/>
              </a:rPr>
              <a:t>进入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" y="5102352"/>
            <a:ext cx="10323576" cy="612648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4712" y="5148072"/>
            <a:ext cx="9966960" cy="51206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icrosoft YaHei"/>
              </a:rPr>
              <a:t>返回可行副本 z；重算目标并按接受、回溯和外层停止条件判断。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3794760" y="4745736"/>
            <a:ext cx="868680" cy="356616"/>
          </a:xfrm>
          <a:prstGeom prst="line">
            <a:avLst/>
          </a:prstGeom>
          <a:ln w="25400">
            <a:solidFill>
              <a:srgbClr val="DF7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68980" y="4759452"/>
            <a:ext cx="1920240" cy="3200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00" b="0">
                <a:solidFill>
                  <a:srgbClr val="DF7B27"/>
                </a:solidFill>
                <a:latin typeface="Microsoft YaHei"/>
              </a:rPr>
              <a:t>返回 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ADMM 求解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61872"/>
            <a:ext cx="11183112" cy="365760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9224" y="1261872"/>
            <a:ext cx="10954512" cy="36576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1">
                <a:solidFill>
                  <a:srgbClr val="092B56"/>
                </a:solidFill>
                <a:latin typeface="Microsoft YaHei"/>
              </a:rPr>
              <a:t>固定 A、Ω、η 和资源掩码；内层联合更新全部资源组的预编码副本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93392"/>
            <a:ext cx="2542032" cy="125272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103120"/>
            <a:ext cx="2258568" cy="3931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800" b="1">
                <a:solidFill>
                  <a:srgbClr val="092B56"/>
                </a:solidFill>
                <a:latin typeface="Microsoft YaHei"/>
              </a:rPr>
              <a:t>x：原变量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578608"/>
            <a:ext cx="2258568" cy="5486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CG 近似解二次线性系统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91256" y="2615184"/>
            <a:ext cx="210312" cy="0"/>
          </a:xfrm>
          <a:prstGeom prst="line">
            <a:avLst/>
          </a:prstGeom>
          <a:ln w="2540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29000" y="1993392"/>
            <a:ext cx="2542032" cy="125272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7015" y="2103120"/>
            <a:ext cx="2258568" cy="3931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800" b="1">
                <a:solidFill>
                  <a:srgbClr val="092B56"/>
                </a:solidFill>
                <a:latin typeface="Microsoft YaHei"/>
              </a:rPr>
              <a:t>z：可行副本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5" y="2578608"/>
            <a:ext cx="2258568" cy="5486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跨全部 g 投影到每 TRP 预算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80176" y="2615184"/>
            <a:ext cx="210312" cy="0"/>
          </a:xfrm>
          <a:prstGeom prst="line">
            <a:avLst/>
          </a:prstGeom>
          <a:ln w="25400">
            <a:solidFill>
              <a:srgbClr val="1C76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17920" y="1993392"/>
            <a:ext cx="2542032" cy="125272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2103120"/>
            <a:ext cx="2258568" cy="3931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800" b="1">
                <a:solidFill>
                  <a:srgbClr val="092B56"/>
                </a:solidFill>
                <a:latin typeface="Microsoft YaHei"/>
              </a:rPr>
              <a:t>y：缩放对偶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578608"/>
            <a:ext cx="2258568" cy="5486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y ← y + x − z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69096" y="2615184"/>
            <a:ext cx="210312" cy="0"/>
          </a:xfrm>
          <a:prstGeom prst="line">
            <a:avLst/>
          </a:prstGeom>
          <a:ln w="25400">
            <a:solidFill>
              <a:srgbClr val="DF7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06840" y="1993392"/>
            <a:ext cx="2542032" cy="125272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B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4856" y="2103120"/>
            <a:ext cx="2258568" cy="3931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800" b="1">
                <a:solidFill>
                  <a:srgbClr val="092B56"/>
                </a:solidFill>
                <a:latin typeface="Microsoft YaHei"/>
              </a:rPr>
              <a:t>残差判断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2578608"/>
            <a:ext cx="2258568" cy="5486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原始/对偶残差＋CG 阈值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" y="3767328"/>
            <a:ext cx="5010912" cy="1097280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822191"/>
            <a:ext cx="4663440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30" b="1">
                <a:solidFill>
                  <a:srgbClr val="000000"/>
                </a:solidFill>
                <a:latin typeface="Microsoft YaHei"/>
              </a:rPr>
              <a:t>CG 所解的线性系统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469" y="4142232"/>
            <a:ext cx="4473316" cy="48463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309359" y="3767328"/>
            <a:ext cx="5010912" cy="1097280"/>
          </a:xfrm>
          <a:prstGeom prst="roundRect">
            <a:avLst/>
          </a:prstGeom>
          <a:solidFill>
            <a:srgbClr val="EEF7F4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3822191"/>
            <a:ext cx="4654296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30" b="1">
                <a:solidFill>
                  <a:srgbClr val="000000"/>
                </a:solidFill>
                <a:latin typeface="Microsoft YaHei"/>
              </a:rPr>
              <a:t>所有资源组共享同一 TRP 预算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8835" y="4123944"/>
            <a:ext cx="1697097" cy="475488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50392" y="5330952"/>
            <a:ext cx="10460736" cy="539496"/>
          </a:xfrm>
          <a:prstGeom prst="roundRect">
            <a:avLst/>
          </a:prstGeom>
          <a:solidFill>
            <a:srgbClr val="FFF7EB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" y="5367527"/>
            <a:ext cx="10149840" cy="4480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80" b="1">
                <a:solidFill>
                  <a:srgbClr val="000000"/>
                </a:solidFill>
                <a:latin typeface="Microsoft YaHei"/>
              </a:rPr>
              <a:t>返回 z 给外层；功率可行、数值对拍、内层收敛、外层停止须分别判断。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非均匀误差机制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61872"/>
            <a:ext cx="11183112" cy="365760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9224" y="1261872"/>
            <a:ext cx="10954512" cy="36576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1">
                <a:solidFill>
                  <a:srgbClr val="092B56"/>
                </a:solidFill>
                <a:latin typeface="Microsoft YaHei"/>
              </a:rPr>
              <a:t>链路测量质量 → 条件误差统计 → 接收器与预编码二次项 → 真信道评价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66544"/>
            <a:ext cx="2057400" cy="1225296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157984"/>
            <a:ext cx="1828800" cy="4297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39" b="1">
                <a:solidFill>
                  <a:srgbClr val="092B56"/>
                </a:solidFill>
                <a:latin typeface="Microsoft YaHei"/>
              </a:rPr>
              <a:t>SRS SINR、CSI 年龄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1828800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90" b="0">
                <a:solidFill>
                  <a:srgbClr val="000000"/>
                </a:solidFill>
                <a:latin typeface="Microsoft YaHei"/>
              </a:rPr>
              <a:t>有效观测噪声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2679192"/>
            <a:ext cx="283464" cy="0"/>
          </a:xfrm>
          <a:prstGeom prst="line">
            <a:avLst/>
          </a:prstGeom>
          <a:ln w="2540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71800" y="2066544"/>
            <a:ext cx="2157984" cy="1225296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0672" y="2157984"/>
            <a:ext cx="1929384" cy="4297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39" b="1">
                <a:solidFill>
                  <a:srgbClr val="092B56"/>
                </a:solidFill>
                <a:latin typeface="Microsoft YaHei"/>
              </a:rPr>
              <a:t>条件协方差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651760"/>
            <a:ext cx="1929384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90" b="0">
                <a:solidFill>
                  <a:srgbClr val="000000"/>
                </a:solidFill>
                <a:latin typeface="Microsoft YaHei"/>
              </a:rPr>
              <a:t>4×4；链路/组不同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29784" y="2679192"/>
            <a:ext cx="301752" cy="0"/>
          </a:xfrm>
          <a:prstGeom prst="line">
            <a:avLst/>
          </a:prstGeom>
          <a:ln w="25400">
            <a:solidFill>
              <a:srgbClr val="DF7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68112" y="2066544"/>
            <a:ext cx="2487168" cy="1225296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86983" y="2157984"/>
            <a:ext cx="2258568" cy="4297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39" b="1">
                <a:solidFill>
                  <a:srgbClr val="092B56"/>
                </a:solidFill>
                <a:latin typeface="Microsoft YaHei"/>
              </a:rPr>
              <a:t>接收器 A、MSE 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6983" y="2651760"/>
            <a:ext cx="2258568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90" b="0">
                <a:solidFill>
                  <a:srgbClr val="000000"/>
                </a:solidFill>
                <a:latin typeface="Microsoft YaHei"/>
              </a:rPr>
              <a:t>Ryy 增加误差干扰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55280" y="2679192"/>
            <a:ext cx="301752" cy="0"/>
          </a:xfrm>
          <a:prstGeom prst="line">
            <a:avLst/>
          </a:prstGeom>
          <a:ln w="25400">
            <a:solidFill>
              <a:srgbClr val="1C76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93608" y="2066544"/>
            <a:ext cx="3200400" cy="1225296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B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157984"/>
            <a:ext cx="2971800" cy="4297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39" b="1">
                <a:solidFill>
                  <a:srgbClr val="092B56"/>
                </a:solidFill>
                <a:latin typeface="Microsoft YaHei"/>
              </a:rPr>
              <a:t>Q(C) → w → 评价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651760"/>
            <a:ext cx="2971800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90" b="0">
                <a:solidFill>
                  <a:srgbClr val="000000"/>
                </a:solidFill>
                <a:latin typeface="Microsoft YaHei"/>
              </a:rPr>
              <a:t>误差惩罚改变预编码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41064"/>
            <a:ext cx="6601968" cy="987552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977639"/>
            <a:ext cx="6263640" cy="2651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icrosoft YaHei"/>
              </a:rPr>
              <a:t>后验精度由先验、CSI-RS 与 SRS 相加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4512" y="4315968"/>
            <a:ext cx="4419406" cy="429768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662672" y="3941064"/>
            <a:ext cx="3794760" cy="987552"/>
          </a:xfrm>
          <a:prstGeom prst="roundRect">
            <a:avLst/>
          </a:prstGeom>
          <a:solidFill>
            <a:srgbClr val="FFF7EB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4023360"/>
            <a:ext cx="3493008" cy="79552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70" b="1">
                <a:solidFill>
                  <a:srgbClr val="000000"/>
                </a:solidFill>
                <a:latin typeface="Microsoft YaHei"/>
              </a:rPr>
              <a:t>公平对照：固定场景、预算和初值</a:t>
            </a:r>
          </a:p>
          <a:p>
            <a:pPr algn="l"/>
            <a:r>
              <a:rPr sz="1470" b="1">
                <a:solidFill>
                  <a:srgbClr val="000000"/>
                </a:solidFill>
                <a:latin typeface="Microsoft YaHei"/>
              </a:rPr>
              <a:t>仅改变误差模型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5248656"/>
            <a:ext cx="10579608" cy="5029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20" b="1">
                <a:solidFill>
                  <a:srgbClr val="000000"/>
                </a:solidFill>
                <a:latin typeface="Microsoft YaHei"/>
              </a:rPr>
              <a:t>当前是统计误差模型；拟议椭球最坏情况内层尚未实现，性能改善尚无有效对照结论。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核心变量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89888"/>
            <a:ext cx="1243584" cy="38404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符号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46504" y="1389888"/>
            <a:ext cx="2798064" cy="38404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中文含义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44568" y="1389888"/>
            <a:ext cx="1591056" cy="38404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维度 / 单位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810512"/>
            <a:ext cx="5632704" cy="0"/>
          </a:xfrm>
          <a:prstGeom prst="line">
            <a:avLst/>
          </a:prstGeom>
          <a:ln w="19050">
            <a:solidFill>
              <a:srgbClr val="092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920240"/>
            <a:ext cx="1243584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l,k,j,g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46504" y="1920240"/>
            <a:ext cx="2798064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TRP、目标UE、干扰UE、资源组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920240"/>
            <a:ext cx="1591056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索引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2478024"/>
            <a:ext cx="5632704" cy="0"/>
          </a:xfrm>
          <a:prstGeom prst="line">
            <a:avLst/>
          </a:prstGeom>
          <a:ln w="8255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2514600"/>
            <a:ext cx="1243584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Nt,Nr,r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46504" y="2514600"/>
            <a:ext cx="2798064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发射端口、接收天线、数据流数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514600"/>
            <a:ext cx="1591056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64、4、2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3072384"/>
            <a:ext cx="5632704" cy="0"/>
          </a:xfrm>
          <a:prstGeom prst="line">
            <a:avLst/>
          </a:prstGeom>
          <a:ln w="8255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3108960"/>
            <a:ext cx="1243584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Htrue, Hhat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46504" y="3108960"/>
            <a:ext cx="2798064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真信道、估计信道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3108960"/>
            <a:ext cx="1591056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4×64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3666744"/>
            <a:ext cx="5632704" cy="0"/>
          </a:xfrm>
          <a:prstGeom prst="line">
            <a:avLst/>
          </a:prstGeom>
          <a:ln w="8255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3703320"/>
            <a:ext cx="1243584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6504" y="3703320"/>
            <a:ext cx="2798064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链路条件误差协方差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3703320"/>
            <a:ext cx="1591056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4×4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4261104"/>
            <a:ext cx="5632704" cy="0"/>
          </a:xfrm>
          <a:prstGeom prst="line">
            <a:avLst/>
          </a:prstGeom>
          <a:ln w="8255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4297680"/>
            <a:ext cx="1243584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b, χ, 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46504" y="4297680"/>
            <a:ext cx="2798064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调度、服务掩码、发射RB权重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297680"/>
            <a:ext cx="1591056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0/1、0/1、无量纲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4855464"/>
            <a:ext cx="5632704" cy="0"/>
          </a:xfrm>
          <a:prstGeom prst="line">
            <a:avLst/>
          </a:prstGeom>
          <a:ln w="8255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4892040"/>
            <a:ext cx="1243584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46504" y="4892040"/>
            <a:ext cx="2798064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含幅度的预编码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4892040"/>
            <a:ext cx="1591056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64×r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5449824"/>
            <a:ext cx="5632704" cy="0"/>
          </a:xfrm>
          <a:prstGeom prst="line">
            <a:avLst/>
          </a:prstGeom>
          <a:ln w="8255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5486400"/>
            <a:ext cx="1243584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p, Pₗ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46504" y="5486400"/>
            <a:ext cx="2798064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组内TRP功率、TRP总预算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4568" y="5486400"/>
            <a:ext cx="1591056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224" y="1389888"/>
            <a:ext cx="1243584" cy="38404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符号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1389888"/>
            <a:ext cx="2496312" cy="38404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中文含义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1389888"/>
            <a:ext cx="1591056" cy="38404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维度 / 单位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64224" y="1810512"/>
            <a:ext cx="5330952" cy="0"/>
          </a:xfrm>
          <a:prstGeom prst="line">
            <a:avLst/>
          </a:prstGeom>
          <a:ln w="19050">
            <a:solidFill>
              <a:srgbClr val="092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364224" y="1920240"/>
            <a:ext cx="1243584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07808" y="1920240"/>
            <a:ext cx="2496312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跨TRP相干有效信道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04120" y="1920240"/>
            <a:ext cx="1591056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4×r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64224" y="2478024"/>
            <a:ext cx="5330952" cy="0"/>
          </a:xfrm>
          <a:prstGeom prst="line">
            <a:avLst/>
          </a:prstGeom>
          <a:ln w="8255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64224" y="2514600"/>
            <a:ext cx="1243584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Ryy, 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07808" y="2514600"/>
            <a:ext cx="2496312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接收协方差、接收矩阵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04120" y="2514600"/>
            <a:ext cx="1591056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4×4、4×r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364224" y="3072384"/>
            <a:ext cx="5330952" cy="0"/>
          </a:xfrm>
          <a:prstGeom prst="line">
            <a:avLst/>
          </a:prstGeom>
          <a:ln w="8255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364224" y="3108960"/>
            <a:ext cx="1243584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E, Ω, 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07808" y="3108960"/>
            <a:ext cx="2496312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MSE、权重、效用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04120" y="3108960"/>
            <a:ext cx="1591056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r×r；r×r；标量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364224" y="3666744"/>
            <a:ext cx="5330952" cy="0"/>
          </a:xfrm>
          <a:prstGeom prst="line">
            <a:avLst/>
          </a:prstGeom>
          <a:ln w="8255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364224" y="3703320"/>
            <a:ext cx="1243584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x,z,y,ρ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07808" y="3703320"/>
            <a:ext cx="2496312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原变量、副本、对偶、罚参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04120" y="3703320"/>
            <a:ext cx="1591056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同w；ρ为标量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364224" y="4261104"/>
            <a:ext cx="5330952" cy="0"/>
          </a:xfrm>
          <a:prstGeom prst="line">
            <a:avLst/>
          </a:prstGeom>
          <a:ln w="8255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364224" y="4297680"/>
            <a:ext cx="1243584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RSE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07808" y="4297680"/>
            <a:ext cx="2496312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频谱效率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04120" y="4297680"/>
            <a:ext cx="1591056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bit/s/Hz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364224" y="4855464"/>
            <a:ext cx="5330952" cy="0"/>
          </a:xfrm>
          <a:prstGeom prst="line">
            <a:avLst/>
          </a:prstGeom>
          <a:ln w="8255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364224" y="4892040"/>
            <a:ext cx="1243584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Rexp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07808" y="4892040"/>
            <a:ext cx="2496312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业务协议体验率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04120" y="4892040"/>
            <a:ext cx="1591056" cy="5029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bit/s 或协议定义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新版系统方案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417320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76656" y="1371600"/>
            <a:ext cx="5111496" cy="4114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链路不确定性</a:t>
            </a:r>
          </a:p>
        </p:txBody>
      </p:sp>
      <p:pic>
        <p:nvPicPr>
          <p:cNvPr id="5" name="Picture 4" descr="rob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901952"/>
            <a:ext cx="3944149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2587752"/>
            <a:ext cx="4882896" cy="1170432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Σ：拟议椭球尺度；δ：半径。需由测量统计标定，不能直接把当前 C 当作已校准椭球。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7608" y="1417320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53912" y="1371600"/>
            <a:ext cx="5184648" cy="4114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拟议目标</a:t>
            </a:r>
          </a:p>
        </p:txBody>
      </p:sp>
      <p:pic>
        <p:nvPicPr>
          <p:cNvPr id="9" name="Picture 8" descr="propos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938528"/>
            <a:ext cx="5102352" cy="63071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99632" y="2770632"/>
            <a:ext cx="4892040" cy="13258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兼顾公平效用、功率和链路组稀疏；权重 λp、λs 及效用 U 尚须定标。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5216" y="4645152"/>
            <a:ext cx="10890504" cy="0"/>
          </a:xfrm>
          <a:prstGeom prst="line">
            <a:avLst/>
          </a:prstGeom>
          <a:ln w="15240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4910328"/>
            <a:ext cx="10552176" cy="96012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方案是待验证的研究路径；当前代码仍按条件协方差进行集中式预编码优化。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新方案关键机制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539496" y="1426464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80744"/>
            <a:ext cx="10735056" cy="4114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01  误差椭球与最坏情况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1947672"/>
            <a:ext cx="10378440" cy="6949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先标定链路误差尺度，再定义内层最坏情况问题；联合问题仍需分析凸性。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72" y="2788920"/>
            <a:ext cx="10917936" cy="0"/>
          </a:xfrm>
          <a:prstGeom prst="line">
            <a:avLst/>
          </a:prstGeom>
          <a:ln w="15240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39496" y="2999232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953512"/>
            <a:ext cx="10735056" cy="4114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02  功率与组稀疏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3520440"/>
            <a:ext cx="10378440" cy="6949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在公平效用外加入功率和链路稀疏代价；关闭链路与TRP休眠分别判定。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6072" y="4361688"/>
            <a:ext cx="10917936" cy="0"/>
          </a:xfrm>
          <a:prstGeom prst="line">
            <a:avLst/>
          </a:prstGeom>
          <a:ln w="15240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39496" y="4572000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526280"/>
            <a:ext cx="10735056" cy="411480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03  本地共识与事件触发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5093208"/>
            <a:ext cx="10378440" cy="694944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定义TRP本地变量、CPU共识、消息缓存与触发条件；以通信量及收敛实测验证。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172200"/>
            <a:ext cx="10479024" cy="292608"/>
          </a:xfrm>
          <a:prstGeom prst="rect">
            <a:avLst/>
          </a:prstGeom>
          <a:noFill/>
        </p:spPr>
        <p:txBody>
          <a:bodyPr wrap="square" lIns="13716" tIns="13716" r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当前边界：最坏情况、TRP 分布式与事件触发均未接入正式运行链。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JmYmVhMGQ2YWQwOTc0ZDFkYmVkZTE0NzFkNThlYz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heme/theme1.xml><?xml version="1.0" encoding="utf-8"?>
<a:theme xmlns:a="http://schemas.openxmlformats.org/drawingml/2006/main" name="Office 主题​​">
  <a:themeElements>
    <a:clrScheme name="自定义 3">
      <a:dk1>
        <a:sysClr val="windowText" lastClr="000000"/>
      </a:dk1>
      <a:lt1>
        <a:sysClr val="window" lastClr="FFFFFF"/>
      </a:lt1>
      <a:dk2>
        <a:srgbClr val="003399"/>
      </a:dk2>
      <a:lt2>
        <a:srgbClr val="FFFFFF"/>
      </a:lt2>
      <a:accent1>
        <a:srgbClr val="00339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3">
      <a:dk1>
        <a:sysClr val="windowText" lastClr="000000"/>
      </a:dk1>
      <a:lt1>
        <a:sysClr val="window" lastClr="FFFFFF"/>
      </a:lt1>
      <a:dk2>
        <a:srgbClr val="003399"/>
      </a:dk2>
      <a:lt2>
        <a:srgbClr val="FFFFFF"/>
      </a:lt2>
      <a:accent1>
        <a:srgbClr val="00339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1850</Words>
  <Application>Microsoft Office PowerPoint</Application>
  <PresentationFormat>宽屏</PresentationFormat>
  <Paragraphs>178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Microsoft YaHei</vt:lpstr>
      <vt:lpstr>Microsoft YaHei</vt:lpstr>
      <vt:lpstr>微软雅黑 Light</vt:lpstr>
      <vt:lpstr>Arial</vt:lpstr>
      <vt:lpstr>Calibri</vt:lpstr>
      <vt:lpstr>Century Gothic</vt:lpstr>
      <vt:lpstr>Office 主题​​</vt:lpstr>
      <vt:lpstr>1_Office 主题​​</vt:lpstr>
      <vt:lpstr>PowerPoint 演示文稿</vt:lpstr>
      <vt:lpstr>主要内容</vt:lpstr>
      <vt:lpstr>研究问题与目标</vt:lpstr>
      <vt:lpstr>网络拓扑与协同架构</vt:lpstr>
      <vt:lpstr>系统框架</vt:lpstr>
      <vt:lpstr>信道与测量模型</vt:lpstr>
      <vt:lpstr>资源变量与优化目标</vt:lpstr>
      <vt:lpstr>接收模型与速率</vt:lpstr>
      <vt:lpstr>WMMSE 更新</vt:lpstr>
      <vt:lpstr>ADMM 求解</vt:lpstr>
      <vt:lpstr>非均匀误差机制</vt:lpstr>
      <vt:lpstr>核心变量</vt:lpstr>
      <vt:lpstr>新版系统方案</vt:lpstr>
      <vt:lpstr>新方案关键机制</vt:lpstr>
    </vt:vector>
  </TitlesOfParts>
  <Company>Guilddesign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Sung Ha, Park</dc:creator>
  <cp:lastModifiedBy>亚萍 宋</cp:lastModifiedBy>
  <cp:revision>1</cp:revision>
  <cp:lastPrinted>2025-12-14T09:05:23Z</cp:lastPrinted>
  <dcterms:created xsi:type="dcterms:W3CDTF">2025-12-14T09:05:23Z</dcterms:created>
  <dcterms:modified xsi:type="dcterms:W3CDTF">2026-10-20T02:55:18Z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5F83327A812F4435B25E525EBED23916_13</vt:lpwstr>
  </property>
  <property fmtid="{D5CDD505-2E9C-101B-9397-08002B2CF9AE}" pid="3" name="KSOProductBuildVer">
    <vt:lpwstr>2052-12.9.0.24013</vt:lpwstr>
  </property>
</Properties>
</file>