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9" r:id="rId2"/>
  </p:sldMasterIdLst>
  <p:notesMasterIdLst>
    <p:notesMasterId r:id="rId17"/>
  </p:notesMasterIdLst>
  <p:handoutMasterIdLst>
    <p:handoutMasterId r:id="rId18"/>
  </p:handoutMasterIdLst>
  <p:sldIdLst>
    <p:sldId id="2531" r:id="rId3"/>
    <p:sldId id="5977" r:id="rId4"/>
    <p:sldId id="5978" r:id="rId5"/>
    <p:sldId id="5979" r:id="rId6"/>
    <p:sldId id="5980" r:id="rId7"/>
    <p:sldId id="5981" r:id="rId8"/>
    <p:sldId id="5982" r:id="rId9"/>
    <p:sldId id="5983" r:id="rId10"/>
    <p:sldId id="5984" r:id="rId11"/>
    <p:sldId id="5985" r:id="rId12"/>
    <p:sldId id="5986" r:id="rId13"/>
    <p:sldId id="5987" r:id="rId14"/>
    <p:sldId id="5989" r:id="rId15"/>
    <p:sldId id="5990" r:id="rId16"/>
  </p:sldIdLst>
  <p:sldSz cx="12192000" cy="6858000"/>
  <p:notesSz cx="7099300" cy="10234613"/>
  <p:custDataLst>
    <p:tags r:id="rId1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2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576" userDrawn="1">
          <p15:clr>
            <a:srgbClr val="A4A3A4"/>
          </p15:clr>
        </p15:guide>
        <p15:guide id="4" orient="horz" pos="3998" userDrawn="1">
          <p15:clr>
            <a:srgbClr val="A4A3A4"/>
          </p15:clr>
        </p15:guide>
        <p15:guide id="5" orient="horz" pos="3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452">
          <p15:clr>
            <a:srgbClr val="A4A3A4"/>
          </p15:clr>
        </p15:guide>
        <p15:guide id="2" pos="2183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4" clrIdx="0"/>
  <p:cmAuthor id="2" name="lj" initials="l" lastIdx="1" clrIdx="1"/>
  <p:cmAuthor id="3" name="Jason Zhang" initials="JZ" lastIdx="12" clrIdx="2"/>
  <p:cmAuthor id="4" name="可爱的小马驹ヾ" initials="可" lastIdx="1" clrIdx="3"/>
  <p:cmAuthor id="5" name="Tyselina Zheng" initials="TZ" lastIdx="2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F528F"/>
    <a:srgbClr val="CBCDDE"/>
    <a:srgbClr val="002B84"/>
    <a:srgbClr val="95D1E2"/>
    <a:srgbClr val="E7E8EF"/>
    <a:srgbClr val="E6E6E6"/>
    <a:srgbClr val="003399"/>
    <a:srgbClr val="C00000"/>
    <a:srgbClr val="DCF0F5"/>
    <a:srgbClr val="FBD4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82" autoAdjust="0"/>
    <p:restoredTop sz="90663" autoAdjust="0"/>
  </p:normalViewPr>
  <p:slideViewPr>
    <p:cSldViewPr showGuides="1">
      <p:cViewPr varScale="1">
        <p:scale>
          <a:sx n="75" d="100"/>
          <a:sy n="75" d="100"/>
        </p:scale>
        <p:origin x="1032" y="43"/>
      </p:cViewPr>
      <p:guideLst>
        <p:guide pos="392"/>
        <p:guide pos="7256"/>
        <p:guide orient="horz" pos="576"/>
        <p:guide orient="horz" pos="3998"/>
        <p:guide orient="horz" pos="3800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1186"/>
    </p:cViewPr>
  </p:sorterViewPr>
  <p:notesViewPr>
    <p:cSldViewPr>
      <p:cViewPr varScale="1">
        <p:scale>
          <a:sx n="30" d="100"/>
          <a:sy n="30" d="100"/>
        </p:scale>
        <p:origin x="-2261" y="-67"/>
      </p:cViewPr>
      <p:guideLst>
        <p:guide orient="horz" pos="3452"/>
        <p:guide pos="2183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9" y="1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9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FEB6453C-91E2-453A-8CFB-E8A5E658B759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139" y="1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/>
          <a:lstStyle>
            <a:lvl1pPr algn="r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F6709892-4A62-41CA-BB2D-19E92E32BA1A}" type="datetimeFigureOut">
              <a:rPr lang="zh-CN" altLang="en-US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63" tIns="47133" rIns="94263" bIns="47133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613" y="4859338"/>
            <a:ext cx="5680075" cy="4606925"/>
          </a:xfrm>
          <a:prstGeom prst="rect">
            <a:avLst/>
          </a:prstGeom>
        </p:spPr>
        <p:txBody>
          <a:bodyPr vert="horz" lIns="94263" tIns="47133" rIns="94263" bIns="47133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4263" tIns="47133" rIns="94263" bIns="47133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139" y="9721850"/>
            <a:ext cx="3076575" cy="511175"/>
          </a:xfrm>
          <a:prstGeom prst="rect">
            <a:avLst/>
          </a:prstGeom>
        </p:spPr>
        <p:txBody>
          <a:bodyPr vert="horz" wrap="square" lIns="94263" tIns="47133" rIns="94263" bIns="47133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20B90B85-D45D-43B0-886B-48C061D8B8B2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73038" y="796925"/>
            <a:ext cx="7069137" cy="3976688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研究对象：茶思任务中的非理想SRS/CSI与用户中心多TRP协同。本材料对应已提交代码 db9d7e3；当前另一个会话的工作区更改不包含在本材料。研究结果尚不能等同正式验收。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给出四段讲述顺序。第一部分界定困难、目标与物理网络；第二部分沿通信变量讲建模与当前求解；第三部分说明非均匀误差和现有证据；第四部分单列202610版系统方案。每段均区分原始任务、当前实现、已验证结果与研究设想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本页沿困难→方法→可验证量讲。前三列对应原始难题、验收场景与系统方案；协方差 C、集中式 WMMSE–ADMM 已在当前 MATLAB 正式入口，最坏情况椭球和分布式仍待实现。当前正式规模停止条件未通过。来源：茶思三张原图、chasi_generate_scene.m、chasi_matrix_wmmse.m、chasi_evaluate.m，db9d7e3。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回答：七站三扇区、UE 空间分布、服务关系和 CPU 分工。左图是 MATLAB 输出的真实坐标；全部210个 UE 均为独立散点，未重复画点。MATLAB lines(7)颜色按 home 所在站 S1–S7：S1蓝、S2橙、S3黄、S4紫、S5绿、S6青、S7洋红/暗红。颜色不是调度或完整服务集合。右图 UE7 的 home=T01，服务集合 T01/T02；两TRP共址，服务连线可能重合。CPU 为逻辑协调节点，不是实际部署坐标。原材料规定每小区10–20 UE、小区内均匀分布；当前10 UE/小区，总210。chasi_geometry_from_samples.m 以中心(450,450)m、外围6站距中心300m生成；每站三个 TRP 共址；UE 在每扇区25–150m环扇区，以 θ=φ_l+(v−1/2)2π/3 与 r=sqrt(rmin²+u(rmax²−rmin²))采样，因此面积均匀。25–150m边界是项目假设。home 为生成扇区，服务集合为 home 加最近活动 TRP，当前上限2。扇形不是无干扰硬覆盖。下一页沿变量看执行链。追问：紫色点是什么？是初始归属 S4 的真实 UE。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沿编号讲真实执行顺序。chasi_run.m 调 chasi_generate_scene.m → chasi_generate_traffic.m → chasi_matrix_wmmse.m → chasi_evaluate.m，当前是原生 MATLAB 求解，不再经旧 Python 桥接。Htrue 参与仿真测量生成及最后评价；非理想优化输入 Ĥ、C。b/χ/r/ν 为规则生成，w 为求解量。历史 GA/PSO 与正式链未接通。db9d7e3。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 UE→TRP→逻辑 CPU→TRP→UE 的泳道读。chasi_generate_scene.m 用真实信道模拟 CSI-RS 与 2 行 SRS 观测，measurement SINR、年龄进入等效噪声，后验估计输出 H_est(4×64) 与每列接收侧协方差 C(4×4)；资源规则和集中求解在单进程数值实现。这里的 UE/TRP/CPU 是物理解释，并非已实现上行波形、信令、前传或分布式 ADMM。db9d7e3。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正式入口 chasi_run.m 当前从资源规则直接进入矩阵 WMMSE–ADMM。历史 GA/PSO 搜索代码在 matlab/core，候选含连接数、调度阈值、rank 门限及修复参数等，评价器与正式物理层目标不同；不能把独立搜索画成已接通。图中虚线是可能的未来接口。正式功率约束 ΣgνgΣj||w_ljg||²≤P_l。db9d7e3。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按三条横带讲：发射→传播→接收→物理速率→业务交付→用户体验。w_lkg 是 64×r 含幅度预编码，Htrue_klg 是 4×64 真信道，有用部分对同一 UE 的服务 TRP 相干求和；其余同组 UE 数据是干扰，另加单位噪声。chasi_evaluate.m 的 true_rates 在 Htrue 上计算 logdet 总协方差减干扰协方差；再由 RB 带宽和 TTI 得交付容量，与业务到达/队列共同得到体验 Mbps 和分位。不能将优化目标等同最终验收指标。db9d7e3。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外层：w 初始可行；F_kjg=Σ_l Hhat_klg w_ljg，相干叠加；Ryy_kg=I+Σ_j F_kjg F_kjg^H+Σ_l p_lg C_klg；A=(Ryy)^−1 Fkk；E 为 MSE 矩阵；Ω=E^-1；η 为用户效用权重。固定 A/Ω/η 构建预编码二次子问题。内层 ADMM 以 CG 更新 x，所有组联合投影 z 到每 TRP 功率预算，y+=x-z，并判原始/对偶/CG 残差；未停止闭合回到 x。返回 z 后外层重新计算目标并进行接受/回溯和停止检查；未停止返回状态更新。当前为集中式单进程求解，正式规模停止条件尚未满足。chasi_matrix_wmmse.m，db9d7e3。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源码 chasi_matrix_wmmse.m ADMM 段。每组 x 的正规方程含 νg Qg + ρ/2 I，与增广目标定义一致。z 是跨全部资源组的联合投影，y 为缩放对偶。检查原始/对偶残差及 CG 精度，ρ 可自适应。返回功率可行的 z 供外层接受/回溯。当前正式规模未满足算法停止条件。db9d7e3。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chasi_generate_scene.m 的 awgn_independent 分支按先验 βRrx、CSI-RS、两行 SRS 等效观测形成每发射列接收侧 4×4 条件协方差 C；测量质量与年龄改变等效噪声。chasi_matrix_wmmse.m 中 C 进入 Ryy=I+ΣFF^H+Σ_l p_lg C_klg，也进入固定接收器后的二次算子，进而改变 w。另有 pilot_reuse_gaussian 分支，不能笼统称同一个后验公式适用于所有分支。最坏情况椭球未接入，效果待验证。db9d7e3。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跨图使用的核心符号各表示什么，哪些有物理单位。维度r随用户与资源组变化，表中符号省略下标。Htrue/Hhat∈C^{4×64}，C、Ryy∈C^{4×4}，w∈C^{64×r}，A/F∈C^{4×r}，E/Ω∈C^{r×r}；x/z/y与w同维。ν为RB计数/权重，p和P_l按当前归一化功率制说明；SE=bit/s/Hz，Rexp依业务协议和采样规则定义。完整符号见现有FORMULA_TRACE与SYMBOLS.md。辅助索引、维度及假设可口头解释。下一页只介绍独立新版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202610-系统方案v2.pdf提出了什么，当前到哪一步。椭球、功率与公平效用、组稀疏、事件触发是拟研究组合，未接入当前集中式统计误差WMMSE–ADMM。当前条件协方差C不可直接称已标定椭球；最坏情况子问题、组稀疏优化、本地TRP共识与事件触发通信未实现。椭球参考[6] Zheng et al. 2008 DOI:10.1155/2008/609028；组稀疏参考[7] Shi et al., Group Sparse Beamforming for Green Cloud-RAN, IEEE TWC 2014, DOI:10.1109/TWC.2014.040214.131770。关闭部分TRP–UE链路不等于整TRP休眠。下一页说明机制成立还要解决的数学和系统问题。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回答：新版方案要从想法走到可运行需要哪些论证。公式是目标结构示意，精确效用U、罚项系数和误差集合尚待定义。WMMSE联合问题通常非凸；固定部分变量后的子问题凸性需逐项证明。一般耦合二次项加组稀疏不能声称整个子问题一次软阈值完成。TRP本地更新与事件触发还需定义通信缓存、共识更新时序及收敛条件。更大CSI误差不必然形成更宽波束；关闭一条服务链路不等于TRP休眠。功率或消息节省比例是待实测目标。依据202610-系统方案v2.pdf以及当前代码未实现边界。[7] Shi et al. 2014用于组稀疏方法背景，不证明当前代码效果。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1.xml"/><Relationship Id="rId4" Type="http://schemas.openxmlformats.org/officeDocument/2006/relationships/image" Target="../media/image2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tags" Target="../tags/tag14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2.xml"/><Relationship Id="rId3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2.xml"/><Relationship Id="rId4" Type="http://schemas.openxmlformats.org/officeDocument/2006/relationships/image" Target="../media/image2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7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jpeg"/><Relationship Id="rId3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4214818"/>
            <a:ext cx="8534400" cy="142398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0"/>
          </p:nvPr>
        </p:nvSpPr>
        <p:spPr>
          <a:xfrm>
            <a:off x="11049000" y="6492876"/>
            <a:ext cx="1143000" cy="365125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kumimoji="0">
                <a:solidFill>
                  <a:prstClr val="black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91EDFD1-D3AB-4518-98BC-E386A1BB961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itchFamily="2" charset="-122"/>
              <a:cs typeface="+mn-cs"/>
            </a:endParaRPr>
          </a:p>
        </p:txBody>
      </p:sp>
      <p:sp>
        <p:nvSpPr>
          <p:cNvPr id="5" name="TextBox 11"/>
          <p:cNvSpPr txBox="1">
            <a:spLocks noChangeArrowheads="1"/>
          </p:cNvSpPr>
          <p:nvPr userDrawn="1"/>
        </p:nvSpPr>
        <p:spPr bwMode="auto">
          <a:xfrm>
            <a:off x="11620500" y="116632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椭圆 88"/>
          <p:cNvSpPr/>
          <p:nvPr userDrawn="1"/>
        </p:nvSpPr>
        <p:spPr>
          <a:xfrm>
            <a:off x="-3625080" y="-1541834"/>
            <a:ext cx="8697505" cy="9941668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88" name="椭圆 87"/>
          <p:cNvSpPr/>
          <p:nvPr userDrawn="1"/>
        </p:nvSpPr>
        <p:spPr>
          <a:xfrm>
            <a:off x="-3999568" y="-1541834"/>
            <a:ext cx="8697505" cy="9941668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87" name="图片 8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809587" y="1"/>
            <a:ext cx="5507524" cy="6857999"/>
          </a:xfrm>
          <a:custGeom>
            <a:avLst/>
            <a:gdLst>
              <a:gd name="connsiteX0" fmla="*/ 0 w 5919101"/>
              <a:gd name="connsiteY0" fmla="*/ 0 h 6858000"/>
              <a:gd name="connsiteX1" fmla="*/ 4714485 w 5919101"/>
              <a:gd name="connsiteY1" fmla="*/ 0 h 6858000"/>
              <a:gd name="connsiteX2" fmla="*/ 4786974 w 5919101"/>
              <a:gd name="connsiteY2" fmla="*/ 86723 h 6858000"/>
              <a:gd name="connsiteX3" fmla="*/ 5919101 w 5919101"/>
              <a:gd name="connsiteY3" fmla="*/ 3429000 h 6858000"/>
              <a:gd name="connsiteX4" fmla="*/ 4786974 w 5919101"/>
              <a:gd name="connsiteY4" fmla="*/ 6771277 h 6858000"/>
              <a:gd name="connsiteX5" fmla="*/ 4714485 w 5919101"/>
              <a:gd name="connsiteY5" fmla="*/ 6858000 h 6858000"/>
              <a:gd name="connsiteX6" fmla="*/ 0 w 59191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6" name="椭圆 85"/>
          <p:cNvSpPr/>
          <p:nvPr userDrawn="1"/>
        </p:nvSpPr>
        <p:spPr>
          <a:xfrm>
            <a:off x="-3913112" y="-1570588"/>
            <a:ext cx="8697505" cy="9941668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056440" y="167430"/>
            <a:ext cx="1871503" cy="5617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screen"/>
          <a:srcRect r="25963"/>
          <a:stretch>
            <a:fillRect/>
          </a:stretch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49208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3549208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3549208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3549208" y="1484311"/>
            <a:ext cx="7287114" cy="238680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单击此处</a:t>
            </a:r>
            <a:endParaRPr lang="en-US" altLang="zh-CN" dirty="0"/>
          </a:p>
          <a:p>
            <a:pPr lvl="0"/>
            <a:r>
              <a:rPr lang="zh-CN" altLang="en-US" dirty="0"/>
              <a:t>输入大标题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118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4600575" y="133072"/>
            <a:ext cx="6791691" cy="6535793"/>
          </a:xfrm>
          <a:prstGeom prst="rect">
            <a:avLst/>
          </a:prstGeom>
        </p:spPr>
      </p:pic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16315" y="3871615"/>
            <a:ext cx="7287114" cy="781876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14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1216315" y="5438453"/>
            <a:ext cx="7287114" cy="41033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5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1216315" y="4908366"/>
            <a:ext cx="7287114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16315" y="1484311"/>
            <a:ext cx="7287114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6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667561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925830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888242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9832019" y="2031917"/>
            <a:ext cx="1732861" cy="3286784"/>
            <a:chOff x="9778366" y="1977238"/>
            <a:chExt cx="1732861" cy="3286784"/>
          </a:xfrm>
          <a:solidFill>
            <a:schemeClr val="bg1">
              <a:alpha val="5000"/>
            </a:schemeClr>
          </a:solidFill>
        </p:grpSpPr>
        <p:grpSp>
          <p:nvGrpSpPr>
            <p:cNvPr id="17" name="组合 16"/>
            <p:cNvGrpSpPr/>
            <p:nvPr/>
          </p:nvGrpSpPr>
          <p:grpSpPr>
            <a:xfrm>
              <a:off x="9778366" y="2020414"/>
              <a:ext cx="567014" cy="3193100"/>
              <a:chOff x="11305242" y="2003776"/>
              <a:chExt cx="354194" cy="1994619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1382341" y="3698614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380187" y="2628491"/>
                <a:ext cx="208353" cy="2412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8" name="组合 17"/>
            <p:cNvGrpSpPr/>
            <p:nvPr/>
          </p:nvGrpSpPr>
          <p:grpSpPr>
            <a:xfrm>
              <a:off x="10861863" y="1977238"/>
              <a:ext cx="649364" cy="3286784"/>
              <a:chOff x="10232762" y="2216649"/>
              <a:chExt cx="405635" cy="2053139"/>
            </a:xfrm>
            <a:grpFill/>
          </p:grpSpPr>
          <p:grpSp>
            <p:nvGrpSpPr>
              <p:cNvPr id="19" name="组合 18"/>
              <p:cNvGrpSpPr/>
              <p:nvPr/>
            </p:nvGrpSpPr>
            <p:grpSpPr>
              <a:xfrm>
                <a:off x="10279016" y="3306476"/>
                <a:ext cx="313128" cy="329555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10268702" y="2216649"/>
                <a:ext cx="355220" cy="448646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10332867" y="2868571"/>
                <a:ext cx="238182" cy="20533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10232762" y="3871448"/>
                <a:ext cx="405635" cy="398340"/>
                <a:chOff x="11854992" y="1994536"/>
                <a:chExt cx="405635" cy="398340"/>
              </a:xfrm>
              <a:grpFill/>
            </p:grpSpPr>
            <p:sp>
              <p:nvSpPr>
                <p:cNvPr id="23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6"/>
                  <a:ext cx="284528" cy="398340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2"/>
                <p:cNvSpPr/>
                <p:nvPr/>
              </p:nvSpPr>
              <p:spPr bwMode="auto">
                <a:xfrm>
                  <a:off x="11854992" y="2009127"/>
                  <a:ext cx="153208" cy="383749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41" name="文本框 40"/>
          <p:cNvSpPr txBox="1"/>
          <p:nvPr userDrawn="1"/>
        </p:nvSpPr>
        <p:spPr>
          <a:xfrm rot="16200000">
            <a:off x="-1443469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alpha val="5000"/>
                  </a:schemeClr>
                </a:solidFill>
              </a:rPr>
              <a:t>BEIJING INSTITUTE OF TECHNOLOGY</a:t>
            </a: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52633" y="548450"/>
            <a:ext cx="2295327" cy="504694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666749" y="1329225"/>
            <a:ext cx="0" cy="4714736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 userDrawn="1"/>
        </p:nvCxnSpPr>
        <p:spPr>
          <a:xfrm>
            <a:off x="9258300" y="1280160"/>
            <a:ext cx="0" cy="483516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8" name="任意多边形: 形状 39"/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任意多边形: 形状 39"/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30418" y="2616692"/>
            <a:ext cx="705595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54709" y="2352090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55638" y="430418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1899117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◀ BIT</a:t>
            </a:r>
            <a:r>
              <a:rPr lang="en-US" altLang="zh-CN" sz="2400" b="1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2400" b="1" i="0" spc="100" dirty="0">
                <a:solidFill>
                  <a:schemeClr val="accent3"/>
                </a:solidFill>
                <a:latin typeface="+mn-ea"/>
              </a:rPr>
              <a:t>▶</a:t>
            </a:r>
            <a:endParaRPr lang="zh-CN" altLang="en-US" sz="2400" b="1" i="0" spc="100" dirty="0">
              <a:solidFill>
                <a:schemeClr val="accent3"/>
              </a:solidFill>
              <a:latin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4" name="组合 23"/>
          <p:cNvGrpSpPr/>
          <p:nvPr userDrawn="1"/>
        </p:nvGrpSpPr>
        <p:grpSpPr>
          <a:xfrm>
            <a:off x="671368" y="6083135"/>
            <a:ext cx="2542613" cy="276499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25" name="组合 2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3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1" name="组合 4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4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6" name="组合 2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27" name="组合 2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/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13420" y="2558484"/>
            <a:ext cx="6236023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98880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06" name="任意多边形: 形状 105"/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8" name="任意多边形: 形状 117"/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0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9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063320" y="5540739"/>
            <a:ext cx="4065361" cy="3447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指导教师： </a:t>
            </a:r>
            <a:r>
              <a:rPr lang="en-US" altLang="zh-CN" dirty="0"/>
              <a:t>XXX	</a:t>
            </a:r>
            <a:r>
              <a:rPr lang="zh-CN" altLang="en-US" dirty="0"/>
              <a:t>答辩学生： 芃苇</a:t>
            </a: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2" name="组合 51"/>
          <p:cNvGrpSpPr/>
          <p:nvPr userDrawn="1"/>
        </p:nvGrpSpPr>
        <p:grpSpPr>
          <a:xfrm>
            <a:off x="10083479" y="631518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53" name="组合 5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5" name="组合 5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28" r="23340"/>
          <a:stretch>
            <a:fillRect/>
          </a:stretch>
        </p:blipFill>
        <p:spPr>
          <a:xfrm>
            <a:off x="4303956" y="0"/>
            <a:ext cx="7888043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3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 l="15573" r="198"/>
          <a:stretch>
            <a:fillRect/>
          </a:stretch>
        </p:blipFill>
        <p:spPr>
          <a:xfrm>
            <a:off x="0" y="0"/>
            <a:ext cx="8678174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9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4768810" y="7452"/>
            <a:ext cx="7423189" cy="6850548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gradFill>
            <a:gsLst>
              <a:gs pos="10000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06026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40452" y="479393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4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 userDrawn="1"/>
        </p:nvPicPr>
        <p:blipFill rotWithShape="1">
          <a:blip r:embed="rId2" cstate="hqprint"/>
          <a:srcRect/>
          <a:stretch>
            <a:fillRect/>
          </a:stretch>
        </p:blipFill>
        <p:spPr>
          <a:xfrm>
            <a:off x="-10414" y="0"/>
            <a:ext cx="8336943" cy="686004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10414" y="0"/>
            <a:ext cx="1220241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  <a:alpha val="0"/>
                </a:schemeClr>
              </a:gs>
              <a:gs pos="5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7382858" y="5927166"/>
            <a:ext cx="4041392" cy="448671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16" name="组合 15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2" name="组合 3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" name="组合 16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18" name="组合 1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9" name="组合 1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03566" y="501046"/>
            <a:ext cx="2203058" cy="616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-6352" y="0"/>
            <a:ext cx="12198351" cy="5024521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-6351" y="0"/>
            <a:ext cx="12198349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0"/>
                </a:schemeClr>
              </a:gs>
              <a:gs pos="66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550546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7223405" y="2402693"/>
            <a:ext cx="4785100" cy="47749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>
            <a:off x="14873" y="5340546"/>
            <a:ext cx="6018099" cy="151836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screen"/>
          <a:srcRect l="6610" b="12305"/>
          <a:stretch>
            <a:fillRect/>
          </a:stretch>
        </p:blipFill>
        <p:spPr>
          <a:xfrm flipH="1">
            <a:off x="6154789" y="5340546"/>
            <a:ext cx="6018099" cy="151836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5018002" y="2568943"/>
            <a:ext cx="2143294" cy="59991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5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0" y="0"/>
            <a:ext cx="12192000" cy="5902493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bg1">
                  <a:alpha val="30000"/>
                </a:schemeClr>
              </a:gs>
              <a:gs pos="60000">
                <a:schemeClr val="accent1">
                  <a:lumMod val="100000"/>
                </a:schemeClr>
              </a:gs>
              <a:gs pos="100000">
                <a:schemeClr val="accent1">
                  <a:lumMod val="10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4626145"/>
            <a:ext cx="10858500" cy="0"/>
          </a:xfrm>
          <a:prstGeom prst="line">
            <a:avLst/>
          </a:prstGeom>
          <a:ln w="9525" cmpd="sng">
            <a:gradFill>
              <a:gsLst>
                <a:gs pos="50000">
                  <a:srgbClr val="F3F8FF">
                    <a:alpha val="77000"/>
                  </a:srgbClr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V="1">
            <a:off x="14873" y="-15231"/>
            <a:ext cx="6018099" cy="151836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3" cstate="screen"/>
          <a:srcRect l="6610" b="12305"/>
          <a:stretch>
            <a:fillRect/>
          </a:stretch>
        </p:blipFill>
        <p:spPr>
          <a:xfrm flipH="1" flipV="1">
            <a:off x="6154789" y="-15231"/>
            <a:ext cx="6018099" cy="1518363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18002" y="2577573"/>
            <a:ext cx="2143294" cy="599913"/>
          </a:xfrm>
          <a:prstGeom prst="rect">
            <a:avLst/>
          </a:prstGeom>
        </p:spPr>
      </p:pic>
      <p:grpSp>
        <p:nvGrpSpPr>
          <p:cNvPr id="17" name="组合 16"/>
          <p:cNvGrpSpPr/>
          <p:nvPr userDrawn="1"/>
        </p:nvGrpSpPr>
        <p:grpSpPr>
          <a:xfrm>
            <a:off x="3040886" y="5719548"/>
            <a:ext cx="6136451" cy="681262"/>
            <a:chOff x="582366" y="5719539"/>
            <a:chExt cx="6136451" cy="681262"/>
          </a:xfrm>
          <a:gradFill flip="none" rotWithShape="1">
            <a:gsLst>
              <a:gs pos="100000">
                <a:schemeClr val="bg1">
                  <a:alpha val="9000"/>
                </a:schemeClr>
              </a:gs>
              <a:gs pos="0">
                <a:schemeClr val="bg1">
                  <a:alpha val="3000"/>
                </a:schemeClr>
              </a:gs>
            </a:gsLst>
            <a:lin ang="16200000" scaled="1"/>
            <a:tileRect/>
          </a:gradFill>
        </p:grpSpPr>
        <p:grpSp>
          <p:nvGrpSpPr>
            <p:cNvPr id="18" name="组合 17"/>
            <p:cNvGrpSpPr/>
            <p:nvPr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32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4" name="组合 33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9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6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7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8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" name="组合 18"/>
            <p:cNvGrpSpPr/>
            <p:nvPr/>
          </p:nvGrpSpPr>
          <p:grpSpPr>
            <a:xfrm>
              <a:off x="582366" y="5719539"/>
              <a:ext cx="2716733" cy="681262"/>
              <a:chOff x="6738929" y="2270918"/>
              <a:chExt cx="2766486" cy="693738"/>
            </a:xfrm>
            <a:grpFill/>
          </p:grpSpPr>
          <p:grpSp>
            <p:nvGrpSpPr>
              <p:cNvPr id="20" name="组合 19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30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组合 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8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组合 21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5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29" y="-2924"/>
            <a:ext cx="12193057" cy="3633531"/>
          </a:xfrm>
          <a:prstGeom prst="rect">
            <a:avLst/>
          </a:prstGeom>
        </p:spPr>
      </p:pic>
      <p:sp>
        <p:nvSpPr>
          <p:cNvPr id="37" name="任意形状 36"/>
          <p:cNvSpPr/>
          <p:nvPr userDrawn="1"/>
        </p:nvSpPr>
        <p:spPr>
          <a:xfrm>
            <a:off x="-134112" y="-106934"/>
            <a:ext cx="12468264" cy="3829332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0" y="0"/>
            <a:ext cx="12192000" cy="16328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502191" y="3048198"/>
            <a:ext cx="1193467" cy="1192626"/>
          </a:xfrm>
          <a:prstGeom prst="rect">
            <a:avLst/>
          </a:prstGeom>
        </p:spPr>
      </p:pic>
      <p:sp>
        <p:nvSpPr>
          <p:cNvPr id="43" name="文本框 42"/>
          <p:cNvSpPr txBox="1"/>
          <p:nvPr userDrawn="1"/>
        </p:nvSpPr>
        <p:spPr>
          <a:xfrm>
            <a:off x="150844" y="617414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400" b="1" i="0" spc="100" dirty="0">
                <a:solidFill>
                  <a:schemeClr val="accent3"/>
                </a:solidFill>
                <a:latin typeface="+mn-ea"/>
                <a:ea typeface="+mn-ea"/>
              </a:rPr>
              <a:t>BIT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|</a:t>
            </a:r>
            <a:r>
              <a:rPr lang="en-US" altLang="zh-CN" sz="1400" b="0" i="0" spc="100" baseline="0" dirty="0">
                <a:solidFill>
                  <a:schemeClr val="accent3"/>
                </a:solidFill>
                <a:latin typeface="+mn-ea"/>
              </a:rPr>
              <a:t> </a:t>
            </a:r>
            <a:r>
              <a:rPr lang="en-US" altLang="zh-CN" sz="1400" b="1" i="0" spc="100" baseline="0" dirty="0">
                <a:solidFill>
                  <a:schemeClr val="accent3"/>
                </a:solidFill>
                <a:latin typeface="+mn-ea"/>
              </a:rPr>
              <a:t>SINCE 1940</a:t>
            </a:r>
            <a:endParaRPr lang="zh-CN" altLang="en-US" sz="1400" b="1" i="0" spc="100" dirty="0">
              <a:solidFill>
                <a:schemeClr val="accent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0083479" y="6400645"/>
            <a:ext cx="1765866" cy="192031"/>
            <a:chOff x="598941" y="6399999"/>
            <a:chExt cx="2542613" cy="276499"/>
          </a:xfrm>
          <a:solidFill>
            <a:schemeClr val="bg1">
              <a:lumMod val="65000"/>
            </a:schemeClr>
          </a:solidFill>
        </p:grpSpPr>
        <p:grpSp>
          <p:nvGrpSpPr>
            <p:cNvPr id="45" name="组合 44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7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222990" y="1401505"/>
            <a:ext cx="3746000" cy="104851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7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057" cy="4066384"/>
          </a:xfrm>
          <a:prstGeom prst="rect">
            <a:avLst/>
          </a:prstGeom>
        </p:spPr>
      </p:pic>
      <p:sp>
        <p:nvSpPr>
          <p:cNvPr id="19" name="任意多边形: 形状 20"/>
          <p:cNvSpPr/>
          <p:nvPr userDrawn="1"/>
        </p:nvSpPr>
        <p:spPr>
          <a:xfrm rot="10800000">
            <a:off x="-18" y="0"/>
            <a:ext cx="12192001" cy="4066750"/>
          </a:xfrm>
          <a:custGeom>
            <a:avLst/>
            <a:gdLst>
              <a:gd name="connsiteX0" fmla="*/ 12192000 w 12192001"/>
              <a:gd name="connsiteY0" fmla="*/ 4062881 h 4062881"/>
              <a:gd name="connsiteX1" fmla="*/ 0 w 12192001"/>
              <a:gd name="connsiteY1" fmla="*/ 4062881 h 4062881"/>
              <a:gd name="connsiteX2" fmla="*/ 0 w 12192001"/>
              <a:gd name="connsiteY2" fmla="*/ 1441627 h 4062881"/>
              <a:gd name="connsiteX3" fmla="*/ 7949 w 12192001"/>
              <a:gd name="connsiteY3" fmla="*/ 1441627 h 4062881"/>
              <a:gd name="connsiteX4" fmla="*/ 6105511 w 12192001"/>
              <a:gd name="connsiteY4" fmla="*/ 0 h 4062881"/>
              <a:gd name="connsiteX5" fmla="*/ 12184078 w 12192001"/>
              <a:gd name="connsiteY5" fmla="*/ 1441627 h 4062881"/>
              <a:gd name="connsiteX6" fmla="*/ 12192000 w 12192001"/>
              <a:gd name="connsiteY6" fmla="*/ 1441627 h 4062881"/>
              <a:gd name="connsiteX7" fmla="*/ 12192000 w 12192001"/>
              <a:gd name="connsiteY7" fmla="*/ 1443506 h 4062881"/>
              <a:gd name="connsiteX8" fmla="*/ 12192001 w 12192001"/>
              <a:gd name="connsiteY8" fmla="*/ 1443506 h 4062881"/>
              <a:gd name="connsiteX9" fmla="*/ 12192000 w 12192001"/>
              <a:gd name="connsiteY9" fmla="*/ 1443506 h 4062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任意多边形: 形状 44"/>
          <p:cNvSpPr/>
          <p:nvPr userDrawn="1"/>
        </p:nvSpPr>
        <p:spPr>
          <a:xfrm>
            <a:off x="0" y="2329236"/>
            <a:ext cx="12191985" cy="1809343"/>
          </a:xfrm>
          <a:custGeom>
            <a:avLst/>
            <a:gdLst>
              <a:gd name="connsiteX0" fmla="*/ 11511615 w 12185612"/>
              <a:gd name="connsiteY0" fmla="*/ 0 h 1809343"/>
              <a:gd name="connsiteX1" fmla="*/ 12185612 w 12185612"/>
              <a:gd name="connsiteY1" fmla="*/ 134799 h 1809343"/>
              <a:gd name="connsiteX2" fmla="*/ 12185612 w 12185612"/>
              <a:gd name="connsiteY2" fmla="*/ 319795 h 1809343"/>
              <a:gd name="connsiteX3" fmla="*/ 11769269 w 12185612"/>
              <a:gd name="connsiteY3" fmla="*/ 431005 h 1809343"/>
              <a:gd name="connsiteX4" fmla="*/ 6098388 w 12185612"/>
              <a:gd name="connsiteY4" fmla="*/ 1809343 h 1809343"/>
              <a:gd name="connsiteX5" fmla="*/ 1030855 w 12185612"/>
              <a:gd name="connsiteY5" fmla="*/ 612528 h 1809343"/>
              <a:gd name="connsiteX6" fmla="*/ 0 w 12185612"/>
              <a:gd name="connsiteY6" fmla="*/ 339538 h 1809343"/>
              <a:gd name="connsiteX7" fmla="*/ 0 w 12185612"/>
              <a:gd name="connsiteY7" fmla="*/ 81678 h 1809343"/>
              <a:gd name="connsiteX8" fmla="*/ 637104 w 12185612"/>
              <a:gd name="connsiteY8" fmla="*/ 607 h 1809343"/>
              <a:gd name="connsiteX9" fmla="*/ 6098821 w 12185612"/>
              <a:gd name="connsiteY9" fmla="*/ 1643974 h 1809343"/>
              <a:gd name="connsiteX10" fmla="*/ 11511615 w 12185612"/>
              <a:gd name="connsiteY10" fmla="*/ 0 h 18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任意多边形: 形状 49"/>
          <p:cNvSpPr/>
          <p:nvPr userDrawn="1"/>
        </p:nvSpPr>
        <p:spPr>
          <a:xfrm>
            <a:off x="450423" y="2315566"/>
            <a:ext cx="11342509" cy="1691715"/>
          </a:xfrm>
          <a:custGeom>
            <a:avLst/>
            <a:gdLst>
              <a:gd name="connsiteX0" fmla="*/ 9728 w 12217941"/>
              <a:gd name="connsiteY0" fmla="*/ 0 h 1605064"/>
              <a:gd name="connsiteX1" fmla="*/ 6108971 w 12217941"/>
              <a:gd name="connsiteY1" fmla="*/ 1498060 h 1605064"/>
              <a:gd name="connsiteX2" fmla="*/ 12208213 w 12217941"/>
              <a:gd name="connsiteY2" fmla="*/ 19456 h 1605064"/>
              <a:gd name="connsiteX3" fmla="*/ 12217941 w 12217941"/>
              <a:gd name="connsiteY3" fmla="*/ 282103 h 1605064"/>
              <a:gd name="connsiteX4" fmla="*/ 6118698 w 12217941"/>
              <a:gd name="connsiteY4" fmla="*/ 1605064 h 1605064"/>
              <a:gd name="connsiteX5" fmla="*/ 0 w 12217941"/>
              <a:gd name="connsiteY5" fmla="*/ 233464 h 1605064"/>
              <a:gd name="connsiteX6" fmla="*/ 9728 w 12217941"/>
              <a:gd name="connsiteY6" fmla="*/ 0 h 1605064"/>
              <a:gd name="connsiteX0-1" fmla="*/ 0 w 12208213"/>
              <a:gd name="connsiteY0-2" fmla="*/ 0 h 1605064"/>
              <a:gd name="connsiteX1-3" fmla="*/ 6099243 w 12208213"/>
              <a:gd name="connsiteY1-4" fmla="*/ 1498060 h 1605064"/>
              <a:gd name="connsiteX2-5" fmla="*/ 12198485 w 12208213"/>
              <a:gd name="connsiteY2-6" fmla="*/ 19456 h 1605064"/>
              <a:gd name="connsiteX3-7" fmla="*/ 12208213 w 12208213"/>
              <a:gd name="connsiteY3-8" fmla="*/ 282103 h 1605064"/>
              <a:gd name="connsiteX4-9" fmla="*/ 6108970 w 12208213"/>
              <a:gd name="connsiteY4-10" fmla="*/ 1605064 h 1605064"/>
              <a:gd name="connsiteX5-11" fmla="*/ 0 w 12208213"/>
              <a:gd name="connsiteY5-12" fmla="*/ 544749 h 1605064"/>
              <a:gd name="connsiteX6-13" fmla="*/ 0 w 12208213"/>
              <a:gd name="connsiteY6-14" fmla="*/ 0 h 1605064"/>
              <a:gd name="connsiteX0-15" fmla="*/ 0 w 12198485"/>
              <a:gd name="connsiteY0-16" fmla="*/ 0 h 1605064"/>
              <a:gd name="connsiteX1-17" fmla="*/ 6099243 w 12198485"/>
              <a:gd name="connsiteY1-18" fmla="*/ 1498060 h 1605064"/>
              <a:gd name="connsiteX2-19" fmla="*/ 12198485 w 12198485"/>
              <a:gd name="connsiteY2-20" fmla="*/ 19456 h 1605064"/>
              <a:gd name="connsiteX3-21" fmla="*/ 12198485 w 12198485"/>
              <a:gd name="connsiteY3-22" fmla="*/ 603115 h 1605064"/>
              <a:gd name="connsiteX4-23" fmla="*/ 6108970 w 12198485"/>
              <a:gd name="connsiteY4-24" fmla="*/ 1605064 h 1605064"/>
              <a:gd name="connsiteX5-25" fmla="*/ 0 w 12198485"/>
              <a:gd name="connsiteY5-26" fmla="*/ 544749 h 1605064"/>
              <a:gd name="connsiteX6-27" fmla="*/ 0 w 12198485"/>
              <a:gd name="connsiteY6-28" fmla="*/ 0 h 1605064"/>
              <a:gd name="connsiteX0-29" fmla="*/ 0 w 12198485"/>
              <a:gd name="connsiteY0-30" fmla="*/ 0 h 1605064"/>
              <a:gd name="connsiteX1-31" fmla="*/ 6108970 w 12198485"/>
              <a:gd name="connsiteY1-32" fmla="*/ 1507788 h 1605064"/>
              <a:gd name="connsiteX2-33" fmla="*/ 12198485 w 12198485"/>
              <a:gd name="connsiteY2-34" fmla="*/ 19456 h 1605064"/>
              <a:gd name="connsiteX3-35" fmla="*/ 12198485 w 12198485"/>
              <a:gd name="connsiteY3-36" fmla="*/ 603115 h 1605064"/>
              <a:gd name="connsiteX4-37" fmla="*/ 6108970 w 12198485"/>
              <a:gd name="connsiteY4-38" fmla="*/ 1605064 h 1605064"/>
              <a:gd name="connsiteX5-39" fmla="*/ 0 w 12198485"/>
              <a:gd name="connsiteY5-40" fmla="*/ 544749 h 1605064"/>
              <a:gd name="connsiteX6-41" fmla="*/ 0 w 12198485"/>
              <a:gd name="connsiteY6-42" fmla="*/ 0 h 1605064"/>
              <a:gd name="connsiteX0-43" fmla="*/ 632298 w 12830783"/>
              <a:gd name="connsiteY0-44" fmla="*/ 0 h 1605064"/>
              <a:gd name="connsiteX1-45" fmla="*/ 6741268 w 12830783"/>
              <a:gd name="connsiteY1-46" fmla="*/ 1507788 h 1605064"/>
              <a:gd name="connsiteX2-47" fmla="*/ 12830783 w 12830783"/>
              <a:gd name="connsiteY2-48" fmla="*/ 19456 h 1605064"/>
              <a:gd name="connsiteX3-49" fmla="*/ 12830783 w 12830783"/>
              <a:gd name="connsiteY3-50" fmla="*/ 603115 h 1605064"/>
              <a:gd name="connsiteX4-51" fmla="*/ 6741268 w 12830783"/>
              <a:gd name="connsiteY4-52" fmla="*/ 1605064 h 1605064"/>
              <a:gd name="connsiteX5-53" fmla="*/ 0 w 12830783"/>
              <a:gd name="connsiteY5-54" fmla="*/ 29183 h 1605064"/>
              <a:gd name="connsiteX6-55" fmla="*/ 632298 w 12830783"/>
              <a:gd name="connsiteY6-56" fmla="*/ 0 h 1605064"/>
              <a:gd name="connsiteX0-57" fmla="*/ 836579 w 12830783"/>
              <a:gd name="connsiteY0-58" fmla="*/ 0 h 1634247"/>
              <a:gd name="connsiteX1-59" fmla="*/ 6741268 w 12830783"/>
              <a:gd name="connsiteY1-60" fmla="*/ 1536971 h 1634247"/>
              <a:gd name="connsiteX2-61" fmla="*/ 12830783 w 12830783"/>
              <a:gd name="connsiteY2-62" fmla="*/ 48639 h 1634247"/>
              <a:gd name="connsiteX3-63" fmla="*/ 12830783 w 12830783"/>
              <a:gd name="connsiteY3-64" fmla="*/ 632298 h 1634247"/>
              <a:gd name="connsiteX4-65" fmla="*/ 6741268 w 12830783"/>
              <a:gd name="connsiteY4-66" fmla="*/ 1634247 h 1634247"/>
              <a:gd name="connsiteX5-67" fmla="*/ 0 w 12830783"/>
              <a:gd name="connsiteY5-68" fmla="*/ 58366 h 1634247"/>
              <a:gd name="connsiteX6-69" fmla="*/ 836579 w 12830783"/>
              <a:gd name="connsiteY6-70" fmla="*/ 0 h 1634247"/>
              <a:gd name="connsiteX0-71" fmla="*/ 836579 w 12830783"/>
              <a:gd name="connsiteY0-72" fmla="*/ 0 h 1702340"/>
              <a:gd name="connsiteX1-73" fmla="*/ 6741268 w 12830783"/>
              <a:gd name="connsiteY1-74" fmla="*/ 1536971 h 1702340"/>
              <a:gd name="connsiteX2-75" fmla="*/ 12830783 w 12830783"/>
              <a:gd name="connsiteY2-76" fmla="*/ 48639 h 1702340"/>
              <a:gd name="connsiteX3-77" fmla="*/ 12830783 w 12830783"/>
              <a:gd name="connsiteY3-78" fmla="*/ 632298 h 1702340"/>
              <a:gd name="connsiteX4-79" fmla="*/ 6750996 w 12830783"/>
              <a:gd name="connsiteY4-80" fmla="*/ 1702340 h 1702340"/>
              <a:gd name="connsiteX5-81" fmla="*/ 0 w 12830783"/>
              <a:gd name="connsiteY5-82" fmla="*/ 58366 h 1702340"/>
              <a:gd name="connsiteX6-83" fmla="*/ 836579 w 12830783"/>
              <a:gd name="connsiteY6-84" fmla="*/ 0 h 1702340"/>
              <a:gd name="connsiteX0-85" fmla="*/ 836579 w 12830783"/>
              <a:gd name="connsiteY0-86" fmla="*/ 0 h 1702340"/>
              <a:gd name="connsiteX1-87" fmla="*/ 6741268 w 12830783"/>
              <a:gd name="connsiteY1-88" fmla="*/ 1536971 h 1702340"/>
              <a:gd name="connsiteX2-89" fmla="*/ 12470860 w 12830783"/>
              <a:gd name="connsiteY2-90" fmla="*/ 19456 h 1702340"/>
              <a:gd name="connsiteX3-91" fmla="*/ 12830783 w 12830783"/>
              <a:gd name="connsiteY3-92" fmla="*/ 632298 h 1702340"/>
              <a:gd name="connsiteX4-93" fmla="*/ 6750996 w 12830783"/>
              <a:gd name="connsiteY4-94" fmla="*/ 1702340 h 1702340"/>
              <a:gd name="connsiteX5-95" fmla="*/ 0 w 12830783"/>
              <a:gd name="connsiteY5-96" fmla="*/ 58366 h 1702340"/>
              <a:gd name="connsiteX6-97" fmla="*/ 836579 w 12830783"/>
              <a:gd name="connsiteY6-98" fmla="*/ 0 h 1702340"/>
              <a:gd name="connsiteX0-99" fmla="*/ 836579 w 13239345"/>
              <a:gd name="connsiteY0-100" fmla="*/ 0 h 1702340"/>
              <a:gd name="connsiteX1-101" fmla="*/ 6741268 w 13239345"/>
              <a:gd name="connsiteY1-102" fmla="*/ 1536971 h 1702340"/>
              <a:gd name="connsiteX2-103" fmla="*/ 12470860 w 13239345"/>
              <a:gd name="connsiteY2-104" fmla="*/ 19456 h 1702340"/>
              <a:gd name="connsiteX3-105" fmla="*/ 13239345 w 13239345"/>
              <a:gd name="connsiteY3-106" fmla="*/ 107004 h 1702340"/>
              <a:gd name="connsiteX4-107" fmla="*/ 6750996 w 13239345"/>
              <a:gd name="connsiteY4-108" fmla="*/ 1702340 h 1702340"/>
              <a:gd name="connsiteX5-109" fmla="*/ 0 w 13239345"/>
              <a:gd name="connsiteY5-110" fmla="*/ 58366 h 1702340"/>
              <a:gd name="connsiteX6-111" fmla="*/ 836579 w 13239345"/>
              <a:gd name="connsiteY6-112" fmla="*/ 0 h 1702340"/>
              <a:gd name="connsiteX0-113" fmla="*/ 836579 w 13239345"/>
              <a:gd name="connsiteY0-114" fmla="*/ 107003 h 1809343"/>
              <a:gd name="connsiteX1-115" fmla="*/ 6741268 w 13239345"/>
              <a:gd name="connsiteY1-116" fmla="*/ 1643974 h 1809343"/>
              <a:gd name="connsiteX2-117" fmla="*/ 12169303 w 13239345"/>
              <a:gd name="connsiteY2-118" fmla="*/ 0 h 1809343"/>
              <a:gd name="connsiteX3-119" fmla="*/ 13239345 w 13239345"/>
              <a:gd name="connsiteY3-120" fmla="*/ 214007 h 1809343"/>
              <a:gd name="connsiteX4-121" fmla="*/ 6750996 w 13239345"/>
              <a:gd name="connsiteY4-122" fmla="*/ 1809343 h 1809343"/>
              <a:gd name="connsiteX5-123" fmla="*/ 0 w 13239345"/>
              <a:gd name="connsiteY5-124" fmla="*/ 165369 h 1809343"/>
              <a:gd name="connsiteX6-125" fmla="*/ 836579 w 13239345"/>
              <a:gd name="connsiteY6-126" fmla="*/ 107003 h 1809343"/>
              <a:gd name="connsiteX0-127" fmla="*/ 1342417 w 13239345"/>
              <a:gd name="connsiteY0-128" fmla="*/ 29182 h 1809343"/>
              <a:gd name="connsiteX1-129" fmla="*/ 6741268 w 13239345"/>
              <a:gd name="connsiteY1-130" fmla="*/ 1643974 h 1809343"/>
              <a:gd name="connsiteX2-131" fmla="*/ 12169303 w 13239345"/>
              <a:gd name="connsiteY2-132" fmla="*/ 0 h 1809343"/>
              <a:gd name="connsiteX3-133" fmla="*/ 13239345 w 13239345"/>
              <a:gd name="connsiteY3-134" fmla="*/ 214007 h 1809343"/>
              <a:gd name="connsiteX4-135" fmla="*/ 6750996 w 13239345"/>
              <a:gd name="connsiteY4-136" fmla="*/ 1809343 h 1809343"/>
              <a:gd name="connsiteX5-137" fmla="*/ 0 w 13239345"/>
              <a:gd name="connsiteY5-138" fmla="*/ 165369 h 1809343"/>
              <a:gd name="connsiteX6-139" fmla="*/ 1342417 w 13239345"/>
              <a:gd name="connsiteY6-140" fmla="*/ 29182 h 1809343"/>
              <a:gd name="connsiteX0-141" fmla="*/ 1294792 w 13239345"/>
              <a:gd name="connsiteY0-142" fmla="*/ 607 h 1809343"/>
              <a:gd name="connsiteX1-143" fmla="*/ 6741268 w 13239345"/>
              <a:gd name="connsiteY1-144" fmla="*/ 1643974 h 1809343"/>
              <a:gd name="connsiteX2-145" fmla="*/ 12169303 w 13239345"/>
              <a:gd name="connsiteY2-146" fmla="*/ 0 h 1809343"/>
              <a:gd name="connsiteX3-147" fmla="*/ 13239345 w 13239345"/>
              <a:gd name="connsiteY3-148" fmla="*/ 214007 h 1809343"/>
              <a:gd name="connsiteX4-149" fmla="*/ 6750996 w 13239345"/>
              <a:gd name="connsiteY4-150" fmla="*/ 1809343 h 1809343"/>
              <a:gd name="connsiteX5-151" fmla="*/ 0 w 13239345"/>
              <a:gd name="connsiteY5-152" fmla="*/ 165369 h 1809343"/>
              <a:gd name="connsiteX6-153" fmla="*/ 1294792 w 13239345"/>
              <a:gd name="connsiteY6-154" fmla="*/ 607 h 1809343"/>
              <a:gd name="connsiteX0-155" fmla="*/ 1294792 w 13239345"/>
              <a:gd name="connsiteY0-156" fmla="*/ 607 h 1809343"/>
              <a:gd name="connsiteX1-157" fmla="*/ 6741268 w 13239345"/>
              <a:gd name="connsiteY1-158" fmla="*/ 1643974 h 1809343"/>
              <a:gd name="connsiteX2-159" fmla="*/ 12169303 w 13239345"/>
              <a:gd name="connsiteY2-160" fmla="*/ 0 h 1809343"/>
              <a:gd name="connsiteX3-161" fmla="*/ 13239345 w 13239345"/>
              <a:gd name="connsiteY3-162" fmla="*/ 214007 h 1809343"/>
              <a:gd name="connsiteX4-163" fmla="*/ 6750996 w 13239345"/>
              <a:gd name="connsiteY4-164" fmla="*/ 1809343 h 1809343"/>
              <a:gd name="connsiteX5-165" fmla="*/ 0 w 13239345"/>
              <a:gd name="connsiteY5-166" fmla="*/ 165369 h 1809343"/>
              <a:gd name="connsiteX6-167" fmla="*/ 1294792 w 13239345"/>
              <a:gd name="connsiteY6-168" fmla="*/ 607 h 1809343"/>
              <a:gd name="connsiteX0-169" fmla="*/ 1294792 w 13239345"/>
              <a:gd name="connsiteY0-170" fmla="*/ 607 h 1809343"/>
              <a:gd name="connsiteX1-171" fmla="*/ 6741268 w 13239345"/>
              <a:gd name="connsiteY1-172" fmla="*/ 1643974 h 1809343"/>
              <a:gd name="connsiteX2-173" fmla="*/ 12169303 w 13239345"/>
              <a:gd name="connsiteY2-174" fmla="*/ 0 h 1809343"/>
              <a:gd name="connsiteX3-175" fmla="*/ 13239345 w 13239345"/>
              <a:gd name="connsiteY3-176" fmla="*/ 214007 h 1809343"/>
              <a:gd name="connsiteX4-177" fmla="*/ 6750996 w 13239345"/>
              <a:gd name="connsiteY4-178" fmla="*/ 1809343 h 1809343"/>
              <a:gd name="connsiteX5-179" fmla="*/ 0 w 13239345"/>
              <a:gd name="connsiteY5-180" fmla="*/ 165369 h 1809343"/>
              <a:gd name="connsiteX6-181" fmla="*/ 1294792 w 13239345"/>
              <a:gd name="connsiteY6-182" fmla="*/ 607 h 1809343"/>
              <a:gd name="connsiteX0-183" fmla="*/ 1294792 w 13239345"/>
              <a:gd name="connsiteY0-184" fmla="*/ 607 h 1809343"/>
              <a:gd name="connsiteX1-185" fmla="*/ 6741268 w 13239345"/>
              <a:gd name="connsiteY1-186" fmla="*/ 1643974 h 1809343"/>
              <a:gd name="connsiteX2-187" fmla="*/ 12169303 w 13239345"/>
              <a:gd name="connsiteY2-188" fmla="*/ 0 h 1809343"/>
              <a:gd name="connsiteX3-189" fmla="*/ 13239345 w 13239345"/>
              <a:gd name="connsiteY3-190" fmla="*/ 214007 h 1809343"/>
              <a:gd name="connsiteX4-191" fmla="*/ 6750996 w 13239345"/>
              <a:gd name="connsiteY4-192" fmla="*/ 1809343 h 1809343"/>
              <a:gd name="connsiteX5-193" fmla="*/ 0 w 13239345"/>
              <a:gd name="connsiteY5-194" fmla="*/ 165369 h 1809343"/>
              <a:gd name="connsiteX6-195" fmla="*/ 1294792 w 13239345"/>
              <a:gd name="connsiteY6-196" fmla="*/ 607 h 1809343"/>
              <a:gd name="connsiteX0-197" fmla="*/ 1294792 w 13239345"/>
              <a:gd name="connsiteY0-198" fmla="*/ 607 h 1809343"/>
              <a:gd name="connsiteX1-199" fmla="*/ 6741268 w 13239345"/>
              <a:gd name="connsiteY1-200" fmla="*/ 1643974 h 1809343"/>
              <a:gd name="connsiteX2-201" fmla="*/ 12169303 w 13239345"/>
              <a:gd name="connsiteY2-202" fmla="*/ 0 h 1809343"/>
              <a:gd name="connsiteX3-203" fmla="*/ 13239345 w 13239345"/>
              <a:gd name="connsiteY3-204" fmla="*/ 214007 h 1809343"/>
              <a:gd name="connsiteX4-205" fmla="*/ 6750996 w 13239345"/>
              <a:gd name="connsiteY4-206" fmla="*/ 1809343 h 1809343"/>
              <a:gd name="connsiteX5-207" fmla="*/ 0 w 13239345"/>
              <a:gd name="connsiteY5-208" fmla="*/ 165369 h 1809343"/>
              <a:gd name="connsiteX6-209" fmla="*/ 1294792 w 13239345"/>
              <a:gd name="connsiteY6-210" fmla="*/ 607 h 1809343"/>
              <a:gd name="connsiteX0-211" fmla="*/ 1294792 w 13239345"/>
              <a:gd name="connsiteY0-212" fmla="*/ 607 h 1809343"/>
              <a:gd name="connsiteX1-213" fmla="*/ 6741268 w 13239345"/>
              <a:gd name="connsiteY1-214" fmla="*/ 1643974 h 1809343"/>
              <a:gd name="connsiteX2-215" fmla="*/ 12169303 w 13239345"/>
              <a:gd name="connsiteY2-216" fmla="*/ 0 h 1809343"/>
              <a:gd name="connsiteX3-217" fmla="*/ 13239345 w 13239345"/>
              <a:gd name="connsiteY3-218" fmla="*/ 214007 h 1809343"/>
              <a:gd name="connsiteX4-219" fmla="*/ 6750996 w 13239345"/>
              <a:gd name="connsiteY4-220" fmla="*/ 1809343 h 1809343"/>
              <a:gd name="connsiteX5-221" fmla="*/ 0 w 13239345"/>
              <a:gd name="connsiteY5-222" fmla="*/ 165369 h 1809343"/>
              <a:gd name="connsiteX6-223" fmla="*/ 1294792 w 13239345"/>
              <a:gd name="connsiteY6-224" fmla="*/ 607 h 1809343"/>
              <a:gd name="connsiteX0-225" fmla="*/ 1294792 w 13239345"/>
              <a:gd name="connsiteY0-226" fmla="*/ 607 h 1809343"/>
              <a:gd name="connsiteX1-227" fmla="*/ 6741268 w 13239345"/>
              <a:gd name="connsiteY1-228" fmla="*/ 1643974 h 1809343"/>
              <a:gd name="connsiteX2-229" fmla="*/ 12169303 w 13239345"/>
              <a:gd name="connsiteY2-230" fmla="*/ 0 h 1809343"/>
              <a:gd name="connsiteX3-231" fmla="*/ 13239345 w 13239345"/>
              <a:gd name="connsiteY3-232" fmla="*/ 214007 h 1809343"/>
              <a:gd name="connsiteX4-233" fmla="*/ 6750996 w 13239345"/>
              <a:gd name="connsiteY4-234" fmla="*/ 1809343 h 1809343"/>
              <a:gd name="connsiteX5-235" fmla="*/ 0 w 13239345"/>
              <a:gd name="connsiteY5-236" fmla="*/ 165369 h 1809343"/>
              <a:gd name="connsiteX6-237" fmla="*/ 1294792 w 13239345"/>
              <a:gd name="connsiteY6-238" fmla="*/ 607 h 1809343"/>
              <a:gd name="connsiteX0-239" fmla="*/ 1294792 w 13239345"/>
              <a:gd name="connsiteY0-240" fmla="*/ 607 h 1809343"/>
              <a:gd name="connsiteX1-241" fmla="*/ 6741268 w 13239345"/>
              <a:gd name="connsiteY1-242" fmla="*/ 1643974 h 1809343"/>
              <a:gd name="connsiteX2-243" fmla="*/ 12169303 w 13239345"/>
              <a:gd name="connsiteY2-244" fmla="*/ 0 h 1809343"/>
              <a:gd name="connsiteX3-245" fmla="*/ 13239345 w 13239345"/>
              <a:gd name="connsiteY3-246" fmla="*/ 214007 h 1809343"/>
              <a:gd name="connsiteX4-247" fmla="*/ 6750996 w 13239345"/>
              <a:gd name="connsiteY4-248" fmla="*/ 1809343 h 1809343"/>
              <a:gd name="connsiteX5-249" fmla="*/ 0 w 13239345"/>
              <a:gd name="connsiteY5-250" fmla="*/ 165369 h 1809343"/>
              <a:gd name="connsiteX6-251" fmla="*/ 1294792 w 13239345"/>
              <a:gd name="connsiteY6-252" fmla="*/ 607 h 1809343"/>
              <a:gd name="connsiteX0-253" fmla="*/ 1294792 w 13239345"/>
              <a:gd name="connsiteY0-254" fmla="*/ 607 h 1809343"/>
              <a:gd name="connsiteX1-255" fmla="*/ 6741268 w 13239345"/>
              <a:gd name="connsiteY1-256" fmla="*/ 1643974 h 1809343"/>
              <a:gd name="connsiteX2-257" fmla="*/ 12169303 w 13239345"/>
              <a:gd name="connsiteY2-258" fmla="*/ 0 h 1809343"/>
              <a:gd name="connsiteX3-259" fmla="*/ 13239345 w 13239345"/>
              <a:gd name="connsiteY3-260" fmla="*/ 214007 h 1809343"/>
              <a:gd name="connsiteX4-261" fmla="*/ 6750996 w 13239345"/>
              <a:gd name="connsiteY4-262" fmla="*/ 1809343 h 1809343"/>
              <a:gd name="connsiteX5-263" fmla="*/ 0 w 13239345"/>
              <a:gd name="connsiteY5-264" fmla="*/ 165369 h 1809343"/>
              <a:gd name="connsiteX6-265" fmla="*/ 1294792 w 13239345"/>
              <a:gd name="connsiteY6-266" fmla="*/ 607 h 1809343"/>
              <a:gd name="connsiteX0-267" fmla="*/ 1294792 w 13239345"/>
              <a:gd name="connsiteY0-268" fmla="*/ 607 h 1809343"/>
              <a:gd name="connsiteX1-269" fmla="*/ 6741268 w 13239345"/>
              <a:gd name="connsiteY1-270" fmla="*/ 1643974 h 1809343"/>
              <a:gd name="connsiteX2-271" fmla="*/ 12169303 w 13239345"/>
              <a:gd name="connsiteY2-272" fmla="*/ 0 h 1809343"/>
              <a:gd name="connsiteX3-273" fmla="*/ 13239345 w 13239345"/>
              <a:gd name="connsiteY3-274" fmla="*/ 214007 h 1809343"/>
              <a:gd name="connsiteX4-275" fmla="*/ 6750996 w 13239345"/>
              <a:gd name="connsiteY4-276" fmla="*/ 1809343 h 1809343"/>
              <a:gd name="connsiteX5-277" fmla="*/ 0 w 13239345"/>
              <a:gd name="connsiteY5-278" fmla="*/ 165369 h 1809343"/>
              <a:gd name="connsiteX6-279" fmla="*/ 1294792 w 13239345"/>
              <a:gd name="connsiteY6-280" fmla="*/ 607 h 1809343"/>
              <a:gd name="connsiteX0-281" fmla="*/ 1294792 w 13239345"/>
              <a:gd name="connsiteY0-282" fmla="*/ 607 h 1809343"/>
              <a:gd name="connsiteX1-283" fmla="*/ 6741268 w 13239345"/>
              <a:gd name="connsiteY1-284" fmla="*/ 1643974 h 1809343"/>
              <a:gd name="connsiteX2-285" fmla="*/ 12169303 w 13239345"/>
              <a:gd name="connsiteY2-286" fmla="*/ 0 h 1809343"/>
              <a:gd name="connsiteX3-287" fmla="*/ 13239345 w 13239345"/>
              <a:gd name="connsiteY3-288" fmla="*/ 214007 h 1809343"/>
              <a:gd name="connsiteX4-289" fmla="*/ 6750996 w 13239345"/>
              <a:gd name="connsiteY4-290" fmla="*/ 1809343 h 1809343"/>
              <a:gd name="connsiteX5-291" fmla="*/ 0 w 13239345"/>
              <a:gd name="connsiteY5-292" fmla="*/ 165369 h 1809343"/>
              <a:gd name="connsiteX6-293" fmla="*/ 1294792 w 13239345"/>
              <a:gd name="connsiteY6-294" fmla="*/ 607 h 1809343"/>
              <a:gd name="connsiteX0-295" fmla="*/ 1294792 w 12651516"/>
              <a:gd name="connsiteY0-296" fmla="*/ 607 h 1809343"/>
              <a:gd name="connsiteX1-297" fmla="*/ 6741268 w 12651516"/>
              <a:gd name="connsiteY1-298" fmla="*/ 1643974 h 1809343"/>
              <a:gd name="connsiteX2-299" fmla="*/ 12169303 w 12651516"/>
              <a:gd name="connsiteY2-300" fmla="*/ 0 h 1809343"/>
              <a:gd name="connsiteX3-301" fmla="*/ 12651516 w 12651516"/>
              <a:gd name="connsiteY3-302" fmla="*/ 83379 h 1809343"/>
              <a:gd name="connsiteX4-303" fmla="*/ 6750996 w 12651516"/>
              <a:gd name="connsiteY4-304" fmla="*/ 1809343 h 1809343"/>
              <a:gd name="connsiteX5-305" fmla="*/ 0 w 12651516"/>
              <a:gd name="connsiteY5-306" fmla="*/ 165369 h 1809343"/>
              <a:gd name="connsiteX6-307" fmla="*/ 1294792 w 12651516"/>
              <a:gd name="connsiteY6-308" fmla="*/ 607 h 1809343"/>
              <a:gd name="connsiteX0-309" fmla="*/ 1294792 w 12564431"/>
              <a:gd name="connsiteY0-310" fmla="*/ 607 h 1809343"/>
              <a:gd name="connsiteX1-311" fmla="*/ 6741268 w 12564431"/>
              <a:gd name="connsiteY1-312" fmla="*/ 1643974 h 1809343"/>
              <a:gd name="connsiteX2-313" fmla="*/ 12169303 w 12564431"/>
              <a:gd name="connsiteY2-314" fmla="*/ 0 h 1809343"/>
              <a:gd name="connsiteX3-315" fmla="*/ 12564431 w 12564431"/>
              <a:gd name="connsiteY3-316" fmla="*/ 83379 h 1809343"/>
              <a:gd name="connsiteX4-317" fmla="*/ 6750996 w 12564431"/>
              <a:gd name="connsiteY4-318" fmla="*/ 1809343 h 1809343"/>
              <a:gd name="connsiteX5-319" fmla="*/ 0 w 12564431"/>
              <a:gd name="connsiteY5-320" fmla="*/ 165369 h 1809343"/>
              <a:gd name="connsiteX6-321" fmla="*/ 1294792 w 12564431"/>
              <a:gd name="connsiteY6-322" fmla="*/ 607 h 1809343"/>
              <a:gd name="connsiteX0-323" fmla="*/ 423935 w 11693574"/>
              <a:gd name="connsiteY0-324" fmla="*/ 607 h 1809343"/>
              <a:gd name="connsiteX1-325" fmla="*/ 5870411 w 11693574"/>
              <a:gd name="connsiteY1-326" fmla="*/ 1643974 h 1809343"/>
              <a:gd name="connsiteX2-327" fmla="*/ 11298446 w 11693574"/>
              <a:gd name="connsiteY2-328" fmla="*/ 0 h 1809343"/>
              <a:gd name="connsiteX3-329" fmla="*/ 11693574 w 11693574"/>
              <a:gd name="connsiteY3-330" fmla="*/ 83379 h 1809343"/>
              <a:gd name="connsiteX4-331" fmla="*/ 5880139 w 11693574"/>
              <a:gd name="connsiteY4-332" fmla="*/ 1809343 h 1809343"/>
              <a:gd name="connsiteX5-333" fmla="*/ 0 w 11693574"/>
              <a:gd name="connsiteY5-334" fmla="*/ 45626 h 1809343"/>
              <a:gd name="connsiteX6-335" fmla="*/ 423935 w 11693574"/>
              <a:gd name="connsiteY6-336" fmla="*/ 607 h 1809343"/>
              <a:gd name="connsiteX0-337" fmla="*/ 423935 w 11693574"/>
              <a:gd name="connsiteY0-338" fmla="*/ 607 h 1733143"/>
              <a:gd name="connsiteX1-339" fmla="*/ 5870411 w 11693574"/>
              <a:gd name="connsiteY1-340" fmla="*/ 1643974 h 1733143"/>
              <a:gd name="connsiteX2-341" fmla="*/ 11298446 w 11693574"/>
              <a:gd name="connsiteY2-342" fmla="*/ 0 h 1733143"/>
              <a:gd name="connsiteX3-343" fmla="*/ 11693574 w 11693574"/>
              <a:gd name="connsiteY3-344" fmla="*/ 83379 h 1733143"/>
              <a:gd name="connsiteX4-345" fmla="*/ 5880139 w 11693574"/>
              <a:gd name="connsiteY4-346" fmla="*/ 1733143 h 1733143"/>
              <a:gd name="connsiteX5-347" fmla="*/ 0 w 11693574"/>
              <a:gd name="connsiteY5-348" fmla="*/ 45626 h 1733143"/>
              <a:gd name="connsiteX6-349" fmla="*/ 423935 w 11693574"/>
              <a:gd name="connsiteY6-350" fmla="*/ 607 h 1733143"/>
              <a:gd name="connsiteX0-351" fmla="*/ 423935 w 11709902"/>
              <a:gd name="connsiteY0-352" fmla="*/ 607 h 1733143"/>
              <a:gd name="connsiteX1-353" fmla="*/ 5870411 w 11709902"/>
              <a:gd name="connsiteY1-354" fmla="*/ 1643974 h 1733143"/>
              <a:gd name="connsiteX2-355" fmla="*/ 11298446 w 11709902"/>
              <a:gd name="connsiteY2-356" fmla="*/ 0 h 1733143"/>
              <a:gd name="connsiteX3-357" fmla="*/ 11709902 w 11709902"/>
              <a:gd name="connsiteY3-358" fmla="*/ 83379 h 1733143"/>
              <a:gd name="connsiteX4-359" fmla="*/ 5880139 w 11709902"/>
              <a:gd name="connsiteY4-360" fmla="*/ 1733143 h 1733143"/>
              <a:gd name="connsiteX5-361" fmla="*/ 0 w 11709902"/>
              <a:gd name="connsiteY5-362" fmla="*/ 45626 h 1733143"/>
              <a:gd name="connsiteX6-363" fmla="*/ 423935 w 11709902"/>
              <a:gd name="connsiteY6-364" fmla="*/ 607 h 1733143"/>
              <a:gd name="connsiteX0-365" fmla="*/ 423935 w 11571109"/>
              <a:gd name="connsiteY0-366" fmla="*/ 607 h 1733143"/>
              <a:gd name="connsiteX1-367" fmla="*/ 5870411 w 11571109"/>
              <a:gd name="connsiteY1-368" fmla="*/ 1643974 h 1733143"/>
              <a:gd name="connsiteX2-369" fmla="*/ 11298446 w 11571109"/>
              <a:gd name="connsiteY2-370" fmla="*/ 0 h 1733143"/>
              <a:gd name="connsiteX3-371" fmla="*/ 11571109 w 11571109"/>
              <a:gd name="connsiteY3-372" fmla="*/ 116036 h 1733143"/>
              <a:gd name="connsiteX4-373" fmla="*/ 5880139 w 11571109"/>
              <a:gd name="connsiteY4-374" fmla="*/ 1733143 h 1733143"/>
              <a:gd name="connsiteX5-375" fmla="*/ 0 w 11571109"/>
              <a:gd name="connsiteY5-376" fmla="*/ 45626 h 1733143"/>
              <a:gd name="connsiteX6-377" fmla="*/ 423935 w 11571109"/>
              <a:gd name="connsiteY6-378" fmla="*/ 607 h 1733143"/>
              <a:gd name="connsiteX0-379" fmla="*/ 423935 w 11579274"/>
              <a:gd name="connsiteY0-380" fmla="*/ 607 h 1733143"/>
              <a:gd name="connsiteX1-381" fmla="*/ 5870411 w 11579274"/>
              <a:gd name="connsiteY1-382" fmla="*/ 1643974 h 1733143"/>
              <a:gd name="connsiteX2-383" fmla="*/ 11298446 w 11579274"/>
              <a:gd name="connsiteY2-384" fmla="*/ 0 h 1733143"/>
              <a:gd name="connsiteX3-385" fmla="*/ 11579274 w 11579274"/>
              <a:gd name="connsiteY3-386" fmla="*/ 116036 h 1733143"/>
              <a:gd name="connsiteX4-387" fmla="*/ 5880139 w 11579274"/>
              <a:gd name="connsiteY4-388" fmla="*/ 1733143 h 1733143"/>
              <a:gd name="connsiteX5-389" fmla="*/ 0 w 11579274"/>
              <a:gd name="connsiteY5-390" fmla="*/ 45626 h 1733143"/>
              <a:gd name="connsiteX6-391" fmla="*/ 423935 w 11579274"/>
              <a:gd name="connsiteY6-392" fmla="*/ 607 h 1733143"/>
              <a:gd name="connsiteX0-393" fmla="*/ 423935 w 11579274"/>
              <a:gd name="connsiteY0-394" fmla="*/ 0 h 1732536"/>
              <a:gd name="connsiteX1-395" fmla="*/ 5870411 w 11579274"/>
              <a:gd name="connsiteY1-396" fmla="*/ 1643367 h 1732536"/>
              <a:gd name="connsiteX2-397" fmla="*/ 11233132 w 11579274"/>
              <a:gd name="connsiteY2-398" fmla="*/ 48379 h 1732536"/>
              <a:gd name="connsiteX3-399" fmla="*/ 11579274 w 11579274"/>
              <a:gd name="connsiteY3-400" fmla="*/ 115429 h 1732536"/>
              <a:gd name="connsiteX4-401" fmla="*/ 5880139 w 11579274"/>
              <a:gd name="connsiteY4-402" fmla="*/ 1732536 h 1732536"/>
              <a:gd name="connsiteX5-403" fmla="*/ 0 w 11579274"/>
              <a:gd name="connsiteY5-404" fmla="*/ 45019 h 1732536"/>
              <a:gd name="connsiteX6-405" fmla="*/ 423935 w 11579274"/>
              <a:gd name="connsiteY6-406" fmla="*/ 0 h 1732536"/>
              <a:gd name="connsiteX0-407" fmla="*/ 423935 w 11579274"/>
              <a:gd name="connsiteY0-408" fmla="*/ 0 h 1732536"/>
              <a:gd name="connsiteX1-409" fmla="*/ 5870411 w 11579274"/>
              <a:gd name="connsiteY1-410" fmla="*/ 1643367 h 1732536"/>
              <a:gd name="connsiteX2-411" fmla="*/ 11241297 w 11579274"/>
              <a:gd name="connsiteY2-412" fmla="*/ 32050 h 1732536"/>
              <a:gd name="connsiteX3-413" fmla="*/ 11579274 w 11579274"/>
              <a:gd name="connsiteY3-414" fmla="*/ 115429 h 1732536"/>
              <a:gd name="connsiteX4-415" fmla="*/ 5880139 w 11579274"/>
              <a:gd name="connsiteY4-416" fmla="*/ 1732536 h 1732536"/>
              <a:gd name="connsiteX5-417" fmla="*/ 0 w 11579274"/>
              <a:gd name="connsiteY5-418" fmla="*/ 45019 h 1732536"/>
              <a:gd name="connsiteX6-419" fmla="*/ 423935 w 11579274"/>
              <a:gd name="connsiteY6-420" fmla="*/ 0 h 1732536"/>
              <a:gd name="connsiteX0-421" fmla="*/ 423935 w 11579274"/>
              <a:gd name="connsiteY0-422" fmla="*/ 0 h 1732536"/>
              <a:gd name="connsiteX1-423" fmla="*/ 5870411 w 11579274"/>
              <a:gd name="connsiteY1-424" fmla="*/ 1643367 h 1732536"/>
              <a:gd name="connsiteX2-425" fmla="*/ 11241297 w 11579274"/>
              <a:gd name="connsiteY2-426" fmla="*/ 32050 h 1732536"/>
              <a:gd name="connsiteX3-427" fmla="*/ 11579274 w 11579274"/>
              <a:gd name="connsiteY3-428" fmla="*/ 115429 h 1732536"/>
              <a:gd name="connsiteX4-429" fmla="*/ 5880139 w 11579274"/>
              <a:gd name="connsiteY4-430" fmla="*/ 1732536 h 1732536"/>
              <a:gd name="connsiteX5-431" fmla="*/ 0 w 11579274"/>
              <a:gd name="connsiteY5-432" fmla="*/ 45019 h 1732536"/>
              <a:gd name="connsiteX6-433" fmla="*/ 423935 w 11579274"/>
              <a:gd name="connsiteY6-434" fmla="*/ 0 h 1732536"/>
              <a:gd name="connsiteX0-435" fmla="*/ 423935 w 11579274"/>
              <a:gd name="connsiteY0-436" fmla="*/ 0 h 1732536"/>
              <a:gd name="connsiteX1-437" fmla="*/ 5870411 w 11579274"/>
              <a:gd name="connsiteY1-438" fmla="*/ 1643367 h 1732536"/>
              <a:gd name="connsiteX2-439" fmla="*/ 11224968 w 11579274"/>
              <a:gd name="connsiteY2-440" fmla="*/ 48379 h 1732536"/>
              <a:gd name="connsiteX3-441" fmla="*/ 11579274 w 11579274"/>
              <a:gd name="connsiteY3-442" fmla="*/ 115429 h 1732536"/>
              <a:gd name="connsiteX4-443" fmla="*/ 5880139 w 11579274"/>
              <a:gd name="connsiteY4-444" fmla="*/ 1732536 h 1732536"/>
              <a:gd name="connsiteX5-445" fmla="*/ 0 w 11579274"/>
              <a:gd name="connsiteY5-446" fmla="*/ 45019 h 1732536"/>
              <a:gd name="connsiteX6-447" fmla="*/ 423935 w 11579274"/>
              <a:gd name="connsiteY6-448" fmla="*/ 0 h 1732536"/>
              <a:gd name="connsiteX0-449" fmla="*/ 219828 w 11375167"/>
              <a:gd name="connsiteY0-450" fmla="*/ 0 h 1732536"/>
              <a:gd name="connsiteX1-451" fmla="*/ 5666304 w 11375167"/>
              <a:gd name="connsiteY1-452" fmla="*/ 1643367 h 1732536"/>
              <a:gd name="connsiteX2-453" fmla="*/ 11020861 w 11375167"/>
              <a:gd name="connsiteY2-454" fmla="*/ 48379 h 1732536"/>
              <a:gd name="connsiteX3-455" fmla="*/ 11375167 w 11375167"/>
              <a:gd name="connsiteY3-456" fmla="*/ 115429 h 1732536"/>
              <a:gd name="connsiteX4-457" fmla="*/ 5676032 w 11375167"/>
              <a:gd name="connsiteY4-458" fmla="*/ 1732536 h 1732536"/>
              <a:gd name="connsiteX5-459" fmla="*/ 0 w 11375167"/>
              <a:gd name="connsiteY5-460" fmla="*/ 77676 h 1732536"/>
              <a:gd name="connsiteX6-461" fmla="*/ 219828 w 11375167"/>
              <a:gd name="connsiteY6-462" fmla="*/ 0 h 1732536"/>
              <a:gd name="connsiteX0-463" fmla="*/ 293307 w 11375167"/>
              <a:gd name="connsiteY0-464" fmla="*/ 0 h 1708044"/>
              <a:gd name="connsiteX1-465" fmla="*/ 5666304 w 11375167"/>
              <a:gd name="connsiteY1-466" fmla="*/ 1618875 h 1708044"/>
              <a:gd name="connsiteX2-467" fmla="*/ 11020861 w 11375167"/>
              <a:gd name="connsiteY2-468" fmla="*/ 23887 h 1708044"/>
              <a:gd name="connsiteX3-469" fmla="*/ 11375167 w 11375167"/>
              <a:gd name="connsiteY3-470" fmla="*/ 90937 h 1708044"/>
              <a:gd name="connsiteX4-471" fmla="*/ 5676032 w 11375167"/>
              <a:gd name="connsiteY4-472" fmla="*/ 1708044 h 1708044"/>
              <a:gd name="connsiteX5-473" fmla="*/ 0 w 11375167"/>
              <a:gd name="connsiteY5-474" fmla="*/ 53184 h 1708044"/>
              <a:gd name="connsiteX6-475" fmla="*/ 293307 w 11375167"/>
              <a:gd name="connsiteY6-476" fmla="*/ 0 h 1708044"/>
              <a:gd name="connsiteX0-477" fmla="*/ 317800 w 11375167"/>
              <a:gd name="connsiteY0-478" fmla="*/ 606 h 1684157"/>
              <a:gd name="connsiteX1-479" fmla="*/ 5666304 w 11375167"/>
              <a:gd name="connsiteY1-480" fmla="*/ 1594988 h 1684157"/>
              <a:gd name="connsiteX2-481" fmla="*/ 11020861 w 11375167"/>
              <a:gd name="connsiteY2-482" fmla="*/ 0 h 1684157"/>
              <a:gd name="connsiteX3-483" fmla="*/ 11375167 w 11375167"/>
              <a:gd name="connsiteY3-484" fmla="*/ 67050 h 1684157"/>
              <a:gd name="connsiteX4-485" fmla="*/ 5676032 w 11375167"/>
              <a:gd name="connsiteY4-486" fmla="*/ 1684157 h 1684157"/>
              <a:gd name="connsiteX5-487" fmla="*/ 0 w 11375167"/>
              <a:gd name="connsiteY5-488" fmla="*/ 29297 h 1684157"/>
              <a:gd name="connsiteX6-489" fmla="*/ 317800 w 11375167"/>
              <a:gd name="connsiteY6-490" fmla="*/ 606 h 1684157"/>
              <a:gd name="connsiteX0-491" fmla="*/ 285142 w 11342509"/>
              <a:gd name="connsiteY0-492" fmla="*/ 606 h 1684157"/>
              <a:gd name="connsiteX1-493" fmla="*/ 5633646 w 11342509"/>
              <a:gd name="connsiteY1-494" fmla="*/ 1594988 h 1684157"/>
              <a:gd name="connsiteX2-495" fmla="*/ 10988203 w 11342509"/>
              <a:gd name="connsiteY2-496" fmla="*/ 0 h 1684157"/>
              <a:gd name="connsiteX3-497" fmla="*/ 11342509 w 11342509"/>
              <a:gd name="connsiteY3-498" fmla="*/ 67050 h 1684157"/>
              <a:gd name="connsiteX4-499" fmla="*/ 5643374 w 11342509"/>
              <a:gd name="connsiteY4-500" fmla="*/ 1684157 h 1684157"/>
              <a:gd name="connsiteX5-501" fmla="*/ 0 w 11342509"/>
              <a:gd name="connsiteY5-502" fmla="*/ 29297 h 1684157"/>
              <a:gd name="connsiteX6-503" fmla="*/ 285142 w 11342509"/>
              <a:gd name="connsiteY6-504" fmla="*/ 606 h 1684157"/>
              <a:gd name="connsiteX0-505" fmla="*/ 276977 w 11342509"/>
              <a:gd name="connsiteY0-506" fmla="*/ 0 h 1691715"/>
              <a:gd name="connsiteX1-507" fmla="*/ 5633646 w 11342509"/>
              <a:gd name="connsiteY1-508" fmla="*/ 1602546 h 1691715"/>
              <a:gd name="connsiteX2-509" fmla="*/ 10988203 w 11342509"/>
              <a:gd name="connsiteY2-510" fmla="*/ 7558 h 1691715"/>
              <a:gd name="connsiteX3-511" fmla="*/ 11342509 w 11342509"/>
              <a:gd name="connsiteY3-512" fmla="*/ 74608 h 1691715"/>
              <a:gd name="connsiteX4-513" fmla="*/ 5643374 w 11342509"/>
              <a:gd name="connsiteY4-514" fmla="*/ 1691715 h 1691715"/>
              <a:gd name="connsiteX5-515" fmla="*/ 0 w 11342509"/>
              <a:gd name="connsiteY5-516" fmla="*/ 36855 h 1691715"/>
              <a:gd name="connsiteX6-517" fmla="*/ 276977 w 11342509"/>
              <a:gd name="connsiteY6-518" fmla="*/ 0 h 1691715"/>
              <a:gd name="connsiteX0-519" fmla="*/ 276977 w 11342509"/>
              <a:gd name="connsiteY0-520" fmla="*/ 0 h 1691715"/>
              <a:gd name="connsiteX1-521" fmla="*/ 5633646 w 11342509"/>
              <a:gd name="connsiteY1-522" fmla="*/ 1602546 h 1691715"/>
              <a:gd name="connsiteX2-523" fmla="*/ 11018020 w 11342509"/>
              <a:gd name="connsiteY2-524" fmla="*/ 17498 h 1691715"/>
              <a:gd name="connsiteX3-525" fmla="*/ 11342509 w 11342509"/>
              <a:gd name="connsiteY3-526" fmla="*/ 74608 h 1691715"/>
              <a:gd name="connsiteX4-527" fmla="*/ 5643374 w 11342509"/>
              <a:gd name="connsiteY4-528" fmla="*/ 1691715 h 1691715"/>
              <a:gd name="connsiteX5-529" fmla="*/ 0 w 11342509"/>
              <a:gd name="connsiteY5-530" fmla="*/ 36855 h 1691715"/>
              <a:gd name="connsiteX6-531" fmla="*/ 276977 w 11342509"/>
              <a:gd name="connsiteY6-532" fmla="*/ 0 h 1691715"/>
              <a:gd name="connsiteX0-533" fmla="*/ 276977 w 11342509"/>
              <a:gd name="connsiteY0-534" fmla="*/ 0 h 1691715"/>
              <a:gd name="connsiteX1-535" fmla="*/ 5633646 w 11342509"/>
              <a:gd name="connsiteY1-536" fmla="*/ 1602546 h 1691715"/>
              <a:gd name="connsiteX2-537" fmla="*/ 11018020 w 11342509"/>
              <a:gd name="connsiteY2-538" fmla="*/ 17498 h 1691715"/>
              <a:gd name="connsiteX3-539" fmla="*/ 11342509 w 11342509"/>
              <a:gd name="connsiteY3-540" fmla="*/ 74608 h 1691715"/>
              <a:gd name="connsiteX4-541" fmla="*/ 5643374 w 11342509"/>
              <a:gd name="connsiteY4-542" fmla="*/ 1691715 h 1691715"/>
              <a:gd name="connsiteX5-543" fmla="*/ 0 w 11342509"/>
              <a:gd name="connsiteY5-544" fmla="*/ 36855 h 1691715"/>
              <a:gd name="connsiteX6-545" fmla="*/ 276977 w 11342509"/>
              <a:gd name="connsiteY6-546" fmla="*/ 0 h 1691715"/>
              <a:gd name="connsiteX0-547" fmla="*/ 276977 w 11342509"/>
              <a:gd name="connsiteY0-548" fmla="*/ 0 h 1691715"/>
              <a:gd name="connsiteX1-549" fmla="*/ 5633646 w 11342509"/>
              <a:gd name="connsiteY1-550" fmla="*/ 1602546 h 1691715"/>
              <a:gd name="connsiteX2-551" fmla="*/ 11047837 w 11342509"/>
              <a:gd name="connsiteY2-552" fmla="*/ 17498 h 1691715"/>
              <a:gd name="connsiteX3-553" fmla="*/ 11342509 w 11342509"/>
              <a:gd name="connsiteY3-554" fmla="*/ 74608 h 1691715"/>
              <a:gd name="connsiteX4-555" fmla="*/ 5643374 w 11342509"/>
              <a:gd name="connsiteY4-556" fmla="*/ 1691715 h 1691715"/>
              <a:gd name="connsiteX5-557" fmla="*/ 0 w 11342509"/>
              <a:gd name="connsiteY5-558" fmla="*/ 36855 h 1691715"/>
              <a:gd name="connsiteX6-559" fmla="*/ 276977 w 11342509"/>
              <a:gd name="connsiteY6-560" fmla="*/ 0 h 1691715"/>
              <a:gd name="connsiteX0-561" fmla="*/ 276977 w 11342509"/>
              <a:gd name="connsiteY0-562" fmla="*/ 0 h 1691715"/>
              <a:gd name="connsiteX1-563" fmla="*/ 5633646 w 11342509"/>
              <a:gd name="connsiteY1-564" fmla="*/ 1602546 h 1691715"/>
              <a:gd name="connsiteX2-565" fmla="*/ 11080494 w 11342509"/>
              <a:gd name="connsiteY2-566" fmla="*/ 17498 h 1691715"/>
              <a:gd name="connsiteX3-567" fmla="*/ 11342509 w 11342509"/>
              <a:gd name="connsiteY3-568" fmla="*/ 74608 h 1691715"/>
              <a:gd name="connsiteX4-569" fmla="*/ 5643374 w 11342509"/>
              <a:gd name="connsiteY4-570" fmla="*/ 1691715 h 1691715"/>
              <a:gd name="connsiteX5-571" fmla="*/ 0 w 11342509"/>
              <a:gd name="connsiteY5-572" fmla="*/ 36855 h 1691715"/>
              <a:gd name="connsiteX6-573" fmla="*/ 276977 w 11342509"/>
              <a:gd name="connsiteY6-574" fmla="*/ 0 h 1691715"/>
              <a:gd name="connsiteX0-575" fmla="*/ 276977 w 11342509"/>
              <a:gd name="connsiteY0-576" fmla="*/ 0 h 1691715"/>
              <a:gd name="connsiteX1-577" fmla="*/ 5633646 w 11342509"/>
              <a:gd name="connsiteY1-578" fmla="*/ 1602546 h 1691715"/>
              <a:gd name="connsiteX2-579" fmla="*/ 11080494 w 11342509"/>
              <a:gd name="connsiteY2-580" fmla="*/ 17498 h 1691715"/>
              <a:gd name="connsiteX3-581" fmla="*/ 11342509 w 11342509"/>
              <a:gd name="connsiteY3-582" fmla="*/ 74608 h 1691715"/>
              <a:gd name="connsiteX4-583" fmla="*/ 5643374 w 11342509"/>
              <a:gd name="connsiteY4-584" fmla="*/ 1691715 h 1691715"/>
              <a:gd name="connsiteX5-585" fmla="*/ 0 w 11342509"/>
              <a:gd name="connsiteY5-586" fmla="*/ 36855 h 1691715"/>
              <a:gd name="connsiteX6-587" fmla="*/ 276977 w 11342509"/>
              <a:gd name="connsiteY6-588" fmla="*/ 0 h 1691715"/>
              <a:gd name="connsiteX0-589" fmla="*/ 276977 w 11342509"/>
              <a:gd name="connsiteY0-590" fmla="*/ 0 h 1691715"/>
              <a:gd name="connsiteX1-591" fmla="*/ 5633646 w 11342509"/>
              <a:gd name="connsiteY1-592" fmla="*/ 1602546 h 1691715"/>
              <a:gd name="connsiteX2-593" fmla="*/ 11080494 w 11342509"/>
              <a:gd name="connsiteY2-594" fmla="*/ 17498 h 1691715"/>
              <a:gd name="connsiteX3-595" fmla="*/ 11342509 w 11342509"/>
              <a:gd name="connsiteY3-596" fmla="*/ 74608 h 1691715"/>
              <a:gd name="connsiteX4-597" fmla="*/ 5643374 w 11342509"/>
              <a:gd name="connsiteY4-598" fmla="*/ 1691715 h 1691715"/>
              <a:gd name="connsiteX5-599" fmla="*/ 0 w 11342509"/>
              <a:gd name="connsiteY5-600" fmla="*/ 36855 h 1691715"/>
              <a:gd name="connsiteX6-601" fmla="*/ 276977 w 11342509"/>
              <a:gd name="connsiteY6-602" fmla="*/ 0 h 1691715"/>
              <a:gd name="connsiteX0-603" fmla="*/ 276977 w 11342509"/>
              <a:gd name="connsiteY0-604" fmla="*/ 0 h 1691715"/>
              <a:gd name="connsiteX1-605" fmla="*/ 5643806 w 11342509"/>
              <a:gd name="connsiteY1-606" fmla="*/ 1602546 h 1691715"/>
              <a:gd name="connsiteX2-607" fmla="*/ 11080494 w 11342509"/>
              <a:gd name="connsiteY2-608" fmla="*/ 17498 h 1691715"/>
              <a:gd name="connsiteX3-609" fmla="*/ 11342509 w 11342509"/>
              <a:gd name="connsiteY3-610" fmla="*/ 74608 h 1691715"/>
              <a:gd name="connsiteX4-611" fmla="*/ 5643374 w 11342509"/>
              <a:gd name="connsiteY4-612" fmla="*/ 1691715 h 1691715"/>
              <a:gd name="connsiteX5-613" fmla="*/ 0 w 11342509"/>
              <a:gd name="connsiteY5-614" fmla="*/ 36855 h 1691715"/>
              <a:gd name="connsiteX6-615" fmla="*/ 276977 w 11342509"/>
              <a:gd name="connsiteY6-616" fmla="*/ 0 h 169171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453730" y="4619682"/>
            <a:ext cx="3284503" cy="72219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b="7394"/>
          <a:stretch>
            <a:fillRect/>
          </a:stretch>
        </p:blipFill>
        <p:spPr>
          <a:xfrm>
            <a:off x="-3165" y="0"/>
            <a:ext cx="1219198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10" y="1"/>
            <a:ext cx="12191980" cy="6857994"/>
          </a:xfrm>
          <a:prstGeom prst="rect">
            <a:avLst/>
          </a:prstGeom>
          <a:gradFill>
            <a:gsLst>
              <a:gs pos="0">
                <a:schemeClr val="accent1">
                  <a:alpha val="90000"/>
                  <a:lumMod val="85000"/>
                </a:schemeClr>
              </a:gs>
              <a:gs pos="50000">
                <a:schemeClr val="accent1">
                  <a:alpha val="90000"/>
                  <a:lumMod val="85000"/>
                </a:schemeClr>
              </a:gs>
              <a:gs pos="100000">
                <a:schemeClr val="accent1">
                  <a:alpha val="90000"/>
                  <a:lumMod val="8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00"/>
              </a:spcAft>
              <a:buFontTx/>
              <a:buNone/>
            </a:pPr>
            <a:endParaRPr lang="zh-CN" altLang="en-US"/>
          </a:p>
        </p:txBody>
      </p:sp>
      <p:sp>
        <p:nvSpPr>
          <p:cNvPr id="6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72100" y="3028371"/>
            <a:ext cx="9041450" cy="911074"/>
          </a:xfrm>
        </p:spPr>
        <p:txBody>
          <a:bodyPr/>
          <a:lstStyle>
            <a:lvl1pPr marL="0" indent="0" algn="ctr">
              <a:buFontTx/>
              <a:buNone/>
              <a:defRPr sz="4800" b="1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北京理工大学毕业答辩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3767417" y="1018488"/>
            <a:ext cx="4650816" cy="1301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81566"/>
            <a:ext cx="12192000" cy="324493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0" y="3317875"/>
            <a:ext cx="12192000" cy="35401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66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 bwMode="auto">
          <a:xfrm>
            <a:off x="9790632" y="109143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224285" y="-494144"/>
            <a:ext cx="3165893" cy="412436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9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12192000" cy="5089582"/>
            <a:chOff x="0" y="0"/>
            <a:chExt cx="12192000" cy="5089582"/>
          </a:xfrm>
          <a:solidFill>
            <a:schemeClr val="accent1"/>
          </a:solidFill>
        </p:grpSpPr>
        <p:sp>
          <p:nvSpPr>
            <p:cNvPr id="3" name="等腰三角形 2"/>
            <p:cNvSpPr/>
            <p:nvPr/>
          </p:nvSpPr>
          <p:spPr>
            <a:xfrm flipV="1">
              <a:off x="0" y="4123423"/>
              <a:ext cx="12192000" cy="966159"/>
            </a:xfrm>
            <a:prstGeom prst="triangle">
              <a:avLst/>
            </a:prstGeom>
            <a:grpFill/>
            <a:ln>
              <a:noFill/>
            </a:ln>
            <a:effectLst>
              <a:outerShdw blurRad="76200" dist="12700" dir="5400000" sx="103000" sy="103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0" y="0"/>
              <a:ext cx="12192000" cy="41234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" name="组合 4"/>
          <p:cNvGrpSpPr/>
          <p:nvPr userDrawn="1"/>
        </p:nvGrpSpPr>
        <p:grpSpPr>
          <a:xfrm>
            <a:off x="1866428" y="1872369"/>
            <a:ext cx="8481919" cy="863927"/>
            <a:chOff x="1797415" y="1328902"/>
            <a:chExt cx="8481919" cy="863927"/>
          </a:xfrm>
        </p:grpSpPr>
        <p:grpSp>
          <p:nvGrpSpPr>
            <p:cNvPr id="6" name="组合 5"/>
            <p:cNvGrpSpPr/>
            <p:nvPr/>
          </p:nvGrpSpPr>
          <p:grpSpPr>
            <a:xfrm>
              <a:off x="6886532" y="1337094"/>
              <a:ext cx="3392802" cy="846135"/>
              <a:chOff x="10340336" y="2247899"/>
              <a:chExt cx="2724438" cy="679451"/>
            </a:xfrm>
          </p:grpSpPr>
          <p:sp>
            <p:nvSpPr>
              <p:cNvPr id="2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solidFill>
                <a:schemeClr val="bg1"/>
              </a:solidFill>
            </p:grpSpPr>
            <p:sp>
              <p:nvSpPr>
                <p:cNvPr id="2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组合 2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solidFill>
                <a:schemeClr val="bg1"/>
              </a:solidFill>
            </p:grpSpPr>
            <p:sp>
              <p:nvSpPr>
                <p:cNvPr id="2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" name="组合 6"/>
            <p:cNvGrpSpPr/>
            <p:nvPr/>
          </p:nvGrpSpPr>
          <p:grpSpPr>
            <a:xfrm>
              <a:off x="1797415" y="1328902"/>
              <a:ext cx="3445163" cy="863927"/>
              <a:chOff x="6738929" y="2270918"/>
              <a:chExt cx="2766486" cy="693738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solidFill>
                <a:schemeClr val="bg1"/>
              </a:solidFill>
            </p:grpSpPr>
            <p:sp>
              <p:nvSpPr>
                <p:cNvPr id="1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solidFill>
                <a:schemeClr val="bg1"/>
              </a:solidFill>
            </p:grpSpPr>
            <p:sp>
              <p:nvSpPr>
                <p:cNvPr id="1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组合 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solidFill>
                <a:schemeClr val="bg1"/>
              </a:solidFill>
            </p:grpSpPr>
            <p:sp>
              <p:nvSpPr>
                <p:cNvPr id="1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67"/>
            <a:ext cx="5022689" cy="6857433"/>
          </a:xfrm>
          <a:prstGeom prst="rect">
            <a:avLst/>
          </a:prstGeom>
        </p:spPr>
      </p:pic>
      <p:sp>
        <p:nvSpPr>
          <p:cNvPr id="3" name="矩形 白1"/>
          <p:cNvSpPr/>
          <p:nvPr userDrawn="1"/>
        </p:nvSpPr>
        <p:spPr>
          <a:xfrm rot="5400000">
            <a:off x="-917658" y="918223"/>
            <a:ext cx="6858002" cy="5022690"/>
          </a:xfrm>
          <a:prstGeom prst="rect">
            <a:avLst/>
          </a:prstGeom>
          <a:gradFill flip="none" rotWithShape="1">
            <a:gsLst>
              <a:gs pos="50000">
                <a:schemeClr val="bg1">
                  <a:alpha val="50000"/>
                </a:schemeClr>
              </a:gs>
              <a:gs pos="0">
                <a:schemeClr val="bg1"/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15558" b="38705"/>
          <a:stretch>
            <a:fillRect/>
          </a:stretch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screen"/>
          <a:srcRect l="49471"/>
          <a:stretch>
            <a:fillRect/>
          </a:stretch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screen"/>
          <a:srcRect r="49912"/>
          <a:stretch>
            <a:fillRect/>
          </a:stretch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 rot="16200000">
            <a:off x="-1538864" y="2653429"/>
            <a:ext cx="522963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spc="5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Contents</a:t>
            </a:r>
            <a:r>
              <a:rPr lang="en-US" altLang="zh-CN" sz="4400" b="1" spc="50" dirty="0">
                <a:solidFill>
                  <a:schemeClr val="accent4"/>
                </a:solidFill>
                <a:latin typeface="+mj-lt"/>
              </a:rPr>
              <a:t>■</a:t>
            </a:r>
            <a:endParaRPr lang="zh-CN" altLang="en-US" sz="4400" b="1" spc="5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116549" y="3752395"/>
            <a:ext cx="738664" cy="224676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spc="600" dirty="0">
                <a:solidFill>
                  <a:schemeClr val="accent1"/>
                </a:solidFill>
              </a:rPr>
              <a:t>结构大纲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19824" y="6600901"/>
            <a:ext cx="25234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000" spc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</a:t>
            </a:r>
            <a:r>
              <a:rPr lang="en-US" altLang="zh-CN" sz="1000" spc="0" baseline="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INSTITUTE OF TECHNOLOGY</a:t>
            </a:r>
            <a:endParaRPr lang="zh-CN" altLang="en-US" sz="1000" spc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041148" y="78493"/>
            <a:ext cx="2025400" cy="566914"/>
          </a:xfrm>
          <a:prstGeom prst="rect">
            <a:avLst/>
          </a:prstGeom>
        </p:spPr>
      </p:pic>
      <p:sp>
        <p:nvSpPr>
          <p:cNvPr id="82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83" name="图片 8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84" name="矩形 83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86" name="组合 85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00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1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02" name="组合 101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4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7" name="组合 86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88" name="组合 87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91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2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 r="20215"/>
          <a:stretch>
            <a:fillRect/>
          </a:stretch>
        </p:blipFill>
        <p:spPr>
          <a:xfrm>
            <a:off x="6592525" y="0"/>
            <a:ext cx="5609371" cy="6765696"/>
          </a:xfrm>
          <a:prstGeom prst="rect">
            <a:avLst/>
          </a:prstGeom>
        </p:spPr>
      </p:pic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793498" y="249943"/>
            <a:ext cx="2025400" cy="566914"/>
          </a:xfrm>
          <a:prstGeom prst="rect">
            <a:avLst/>
          </a:prstGeom>
        </p:spPr>
      </p:pic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6" name="组合 6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67" name="组合 6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3" name="组合 8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8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8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8" name="组合 6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69" name="组合 6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7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0" name="组合 6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7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7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 spd="med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r="30571" b="46397"/>
          <a:stretch>
            <a:fillRect/>
          </a:stretch>
        </p:blipFill>
        <p:spPr>
          <a:xfrm>
            <a:off x="9019185" y="4400550"/>
            <a:ext cx="3194586" cy="24693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4398806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63500" dir="540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screen"/>
          <a:srcRect t="-74" b="12515"/>
          <a:stretch>
            <a:fillRect/>
          </a:stretch>
        </p:blipFill>
        <p:spPr>
          <a:xfrm>
            <a:off x="0" y="0"/>
            <a:ext cx="12191999" cy="440055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0"/>
            <a:ext cx="12192001" cy="440055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-71956" y="4398806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9701847" y="142154"/>
            <a:ext cx="2242503" cy="627682"/>
          </a:xfrm>
          <a:prstGeom prst="rect">
            <a:avLst/>
          </a:prstGeom>
        </p:spPr>
      </p:pic>
      <p:sp>
        <p:nvSpPr>
          <p:cNvPr id="18" name="矩形: 圆角 162"/>
          <p:cNvSpPr/>
          <p:nvPr userDrawn="1"/>
        </p:nvSpPr>
        <p:spPr>
          <a:xfrm>
            <a:off x="1664486" y="3107981"/>
            <a:ext cx="8945408" cy="3014890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8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63"/>
          <p:cNvSpPr/>
          <p:nvPr userDrawn="1"/>
        </p:nvSpPr>
        <p:spPr>
          <a:xfrm>
            <a:off x="1463942" y="3222979"/>
            <a:ext cx="9346497" cy="2899892"/>
          </a:xfrm>
          <a:prstGeom prst="roundRect">
            <a:avLst>
              <a:gd name="adj" fmla="val 3205"/>
            </a:avLst>
          </a:prstGeom>
          <a:solidFill>
            <a:sysClr val="window" lastClr="FFFFFF">
              <a:alpha val="94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矩形: 圆角 164"/>
          <p:cNvSpPr/>
          <p:nvPr userDrawn="1"/>
        </p:nvSpPr>
        <p:spPr>
          <a:xfrm>
            <a:off x="1200150" y="3365257"/>
            <a:ext cx="9791700" cy="2757614"/>
          </a:xfrm>
          <a:prstGeom prst="roundRect">
            <a:avLst>
              <a:gd name="adj" fmla="val 3205"/>
            </a:avLst>
          </a:prstGeom>
          <a:gradFill flip="none" rotWithShape="1">
            <a:gsLst>
              <a:gs pos="0">
                <a:sysClr val="window" lastClr="FFFFFF"/>
              </a:gs>
              <a:gs pos="100000">
                <a:srgbClr val="F8F8F8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sysClr val="window" lastClr="FFFFFF">
                <a:lumMod val="75000"/>
                <a:alpha val="40000"/>
              </a:sysClr>
            </a:outerShdw>
          </a:effectLst>
        </p:spPr>
        <p:txBody>
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<a:noAutofit/>
          </a:bodyPr>
          <a:lstStyle/>
          <a:p>
            <a:pPr marL="0" marR="0" lvl="0" indent="45720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screen"/>
          <a:srcRect l="29063" r="32938"/>
          <a:stretch>
            <a:fillRect/>
          </a:stretch>
        </p:blipFill>
        <p:spPr>
          <a:xfrm>
            <a:off x="0" y="0"/>
            <a:ext cx="3914775" cy="6857999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1"/>
            <a:ext cx="3914775" cy="6857999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0"/>
            <a:ext cx="3914774" cy="6858000"/>
          </a:xfrm>
          <a:prstGeom prst="rect">
            <a:avLst/>
          </a:prstGeom>
          <a:gradFill flip="none" rotWithShape="1">
            <a:gsLst>
              <a:gs pos="25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3960456" y="0"/>
            <a:ext cx="0" cy="68580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 userDrawn="1"/>
        </p:nvGrpSpPr>
        <p:grpSpPr>
          <a:xfrm>
            <a:off x="3961505" y="2797003"/>
            <a:ext cx="122686" cy="1263995"/>
            <a:chOff x="4630742" y="2258287"/>
            <a:chExt cx="122686" cy="1263995"/>
          </a:xfrm>
          <a:solidFill>
            <a:schemeClr val="accent4"/>
          </a:solidFill>
        </p:grpSpPr>
        <p:sp>
          <p:nvSpPr>
            <p:cNvPr id="22" name="等腰三角形 21"/>
            <p:cNvSpPr/>
            <p:nvPr/>
          </p:nvSpPr>
          <p:spPr>
            <a:xfrm rot="5400000">
              <a:off x="4620926" y="2839164"/>
              <a:ext cx="142318" cy="122686"/>
            </a:xfrm>
            <a:prstGeom prst="triangl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630742" y="2258287"/>
              <a:ext cx="0" cy="1263995"/>
            </a:xfrm>
            <a:prstGeom prst="line">
              <a:avLst/>
            </a:prstGeom>
            <a:grpFill/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直接连接符 41"/>
          <p:cNvCxnSpPr/>
          <p:nvPr userDrawn="1"/>
        </p:nvCxnSpPr>
        <p:spPr>
          <a:xfrm>
            <a:off x="1053541" y="2793542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 userDrawn="1"/>
        </p:nvSpPr>
        <p:spPr>
          <a:xfrm>
            <a:off x="846867" y="2752385"/>
            <a:ext cx="21971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5400" spc="600" dirty="0">
                <a:solidFill>
                  <a:schemeClr val="bg1"/>
                </a:solidFill>
                <a:latin typeface="+mn-ea"/>
                <a:ea typeface="+mn-ea"/>
              </a:rPr>
              <a:t>目录</a:t>
            </a:r>
          </a:p>
        </p:txBody>
      </p:sp>
      <p:sp>
        <p:nvSpPr>
          <p:cNvPr id="44" name="矩形 43"/>
          <p:cNvSpPr/>
          <p:nvPr userDrawn="1"/>
        </p:nvSpPr>
        <p:spPr>
          <a:xfrm>
            <a:off x="963806" y="3595872"/>
            <a:ext cx="19065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en-US" altLang="zh-CN" sz="2400" dirty="0">
                <a:solidFill>
                  <a:schemeClr val="bg1"/>
                </a:solidFill>
              </a:rPr>
              <a:t>CONTENTS</a:t>
            </a:r>
          </a:p>
        </p:txBody>
      </p:sp>
      <p:cxnSp>
        <p:nvCxnSpPr>
          <p:cNvPr id="45" name="直接连接符 44"/>
          <p:cNvCxnSpPr/>
          <p:nvPr userDrawn="1"/>
        </p:nvCxnSpPr>
        <p:spPr>
          <a:xfrm>
            <a:off x="1053541" y="4060998"/>
            <a:ext cx="172703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64854" y="2218510"/>
            <a:ext cx="1715719" cy="4802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4" cstate="screen"/>
          <a:srcRect r="15912" b="16285"/>
          <a:stretch>
            <a:fillRect/>
          </a:stretch>
        </p:blipFill>
        <p:spPr>
          <a:xfrm>
            <a:off x="7258050" y="1942165"/>
            <a:ext cx="4949784" cy="493364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6-2">
    <p:bg>
      <p:bgPr>
        <a:gradFill>
          <a:gsLst>
            <a:gs pos="25000">
              <a:schemeClr val="accent1">
                <a:alpha val="0"/>
              </a:schemeClr>
            </a:gs>
            <a:gs pos="100000">
              <a:schemeClr val="accent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493231"/>
            <a:ext cx="5251028" cy="5254131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6943725" y="0"/>
            <a:ext cx="5248273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矩形 119"/>
          <p:cNvSpPr/>
          <p:nvPr userDrawn="1"/>
        </p:nvSpPr>
        <p:spPr>
          <a:xfrm>
            <a:off x="660400" y="6054314"/>
            <a:ext cx="2014538" cy="1438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510342" y="982400"/>
            <a:ext cx="3551237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spc="1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第几部分 ▶</a:t>
            </a:r>
          </a:p>
        </p:txBody>
      </p:sp>
      <p:sp>
        <p:nvSpPr>
          <p:cNvPr id="122" name="文本占位符 15"/>
          <p:cNvSpPr>
            <a:spLocks noGrp="1"/>
          </p:cNvSpPr>
          <p:nvPr>
            <p:ph type="body" sz="quarter" idx="13" hasCustomPrompt="1"/>
          </p:nvPr>
        </p:nvSpPr>
        <p:spPr>
          <a:xfrm>
            <a:off x="510342" y="2742089"/>
            <a:ext cx="7197752" cy="606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spc="1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请在此处添加你的标题</a:t>
            </a:r>
          </a:p>
        </p:txBody>
      </p:sp>
      <p:sp>
        <p:nvSpPr>
          <p:cNvPr id="123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561172" y="3837713"/>
            <a:ext cx="7146922" cy="152291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400" spc="100" baseline="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这里可以写一点点文字，介绍此章节主要内容</a:t>
            </a:r>
            <a:endParaRPr lang="en-US" altLang="zh-CN" dirty="0"/>
          </a:p>
          <a:p>
            <a:pPr lvl="0"/>
            <a:r>
              <a:rPr lang="zh-CN" altLang="en-US" dirty="0"/>
              <a:t>国外现状</a:t>
            </a:r>
            <a:endParaRPr lang="en-US" altLang="zh-CN" dirty="0"/>
          </a:p>
          <a:p>
            <a:pPr lvl="0"/>
            <a:r>
              <a:rPr lang="zh-CN" altLang="en-US" dirty="0"/>
              <a:t>国内现状</a:t>
            </a:r>
            <a:endParaRPr lang="en-US" altLang="zh-CN" dirty="0"/>
          </a:p>
          <a:p>
            <a:pPr lvl="0"/>
            <a:r>
              <a:rPr lang="en-US" altLang="zh-CN" dirty="0"/>
              <a:t>…</a:t>
            </a:r>
          </a:p>
          <a:p>
            <a:pPr lvl="0"/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6167300"/>
            <a:ext cx="12192000" cy="690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30000"/>
              </a:lnSpc>
            </a:pPr>
            <a:endParaRPr lang="zh-CN" altLang="en-US">
              <a:cs typeface="+mn-ea"/>
            </a:endParaRPr>
          </a:p>
        </p:txBody>
      </p:sp>
      <p:grpSp>
        <p:nvGrpSpPr>
          <p:cNvPr id="115" name="组合 114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117" name="组合 11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134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5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136" name="组合 135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41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2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38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18" name="组合 11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9" name="组合 11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132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30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4" name="组合 123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27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29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25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6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143" name="图片 142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10203766" y="6386257"/>
            <a:ext cx="1257421" cy="2764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2041996" y="3927615"/>
            <a:ext cx="8108006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t="-74" b="196"/>
          <a:stretch>
            <a:fillRect/>
          </a:stretch>
        </p:blipFill>
        <p:spPr>
          <a:xfrm>
            <a:off x="0" y="-1"/>
            <a:ext cx="12191999" cy="5019675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5019674"/>
            <a:ext cx="12192001" cy="183832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5019674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461" y="5009909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473992" y="3927615"/>
            <a:ext cx="9244014" cy="216458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1532412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 l="1" t="13078" r="-1" b="115"/>
          <a:stretch>
            <a:fillRect/>
          </a:stretch>
        </p:blipFill>
        <p:spPr>
          <a:xfrm>
            <a:off x="0" y="-1"/>
            <a:ext cx="12191999" cy="4362681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0" y="4346687"/>
            <a:ext cx="12192001" cy="2511313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1" cy="4346687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-73936" y="4346687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 userDrawn="1"/>
        </p:nvSpPr>
        <p:spPr>
          <a:xfrm>
            <a:off x="1828800" y="2524126"/>
            <a:ext cx="8494006" cy="3568078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69" name="图片 68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4554764" y="861200"/>
            <a:ext cx="3082473" cy="86279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7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7423183" y="0"/>
            <a:ext cx="4768815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5" name="文本框 44"/>
          <p:cNvSpPr txBox="1"/>
          <p:nvPr userDrawn="1"/>
        </p:nvSpPr>
        <p:spPr>
          <a:xfrm>
            <a:off x="-2647787" y="-2281727"/>
            <a:ext cx="6031920" cy="11172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0" dirty="0">
                <a:solidFill>
                  <a:schemeClr val="bg1">
                    <a:alpha val="40000"/>
                  </a:schemeClr>
                </a:solidFill>
              </a:rPr>
              <a:t>0</a:t>
            </a:r>
            <a:endParaRPr lang="zh-CN" altLang="en-US" sz="72000" dirty="0">
              <a:solidFill>
                <a:schemeClr val="bg1">
                  <a:alpha val="40000"/>
                </a:schemeClr>
              </a:solidFill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7E42"/>
              </a:gs>
              <a:gs pos="100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6943725" y="1087685"/>
            <a:ext cx="5251028" cy="5254131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6870981" y="0"/>
            <a:ext cx="5321017" cy="6858001"/>
          </a:xfrm>
          <a:prstGeom prst="rect">
            <a:avLst/>
          </a:prstGeom>
          <a:gradFill flip="none" rotWithShape="1">
            <a:gsLst>
              <a:gs pos="0">
                <a:srgbClr val="006C39">
                  <a:alpha val="0"/>
                </a:srgbClr>
              </a:gs>
              <a:gs pos="100000">
                <a:schemeClr val="accent1">
                  <a:alpha val="7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 userDrawn="1"/>
        </p:nvSpPr>
        <p:spPr>
          <a:xfrm>
            <a:off x="6873734" y="3188524"/>
            <a:ext cx="5318266" cy="1205346"/>
          </a:xfrm>
          <a:prstGeom prst="rect">
            <a:avLst/>
          </a:prstGeom>
          <a:solidFill>
            <a:sysClr val="window" lastClr="FFFFFF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6873734" y="3188522"/>
            <a:ext cx="549449" cy="1205348"/>
          </a:xfrm>
          <a:prstGeom prst="rect">
            <a:avLst/>
          </a:prstGeom>
          <a:solidFill>
            <a:schemeClr val="accent4"/>
          </a:solidFill>
          <a:ln w="76200" cap="flat" cmpd="sng" algn="ctr">
            <a:noFill/>
            <a:prstDash val="solid"/>
            <a:miter lim="800000"/>
          </a:ln>
          <a:effectLst>
            <a:outerShdw blurRad="5588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cs typeface="+mn-cs"/>
            </a:endParaRPr>
          </a:p>
        </p:txBody>
      </p:sp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3" cstate="screen"/>
          <a:stretch>
            <a:fillRect/>
          </a:stretch>
        </p:blipFill>
        <p:spPr>
          <a:xfrm>
            <a:off x="9485140" y="203173"/>
            <a:ext cx="2510452" cy="702681"/>
          </a:xfrm>
          <a:prstGeom prst="rect">
            <a:avLst/>
          </a:prstGeom>
        </p:spPr>
      </p:pic>
      <p:grpSp>
        <p:nvGrpSpPr>
          <p:cNvPr id="9" name="Group 6"/>
          <p:cNvGrpSpPr/>
          <p:nvPr userDrawn="1"/>
        </p:nvGrpSpPr>
        <p:grpSpPr bwMode="auto">
          <a:xfrm>
            <a:off x="778934" y="687917"/>
            <a:ext cx="3299884" cy="5425016"/>
            <a:chOff x="0" y="0"/>
            <a:chExt cx="2476153" cy="4069266"/>
          </a:xfrm>
          <a:solidFill>
            <a:schemeClr val="bg1">
              <a:alpha val="25000"/>
            </a:schemeClr>
          </a:solidFill>
        </p:grpSpPr>
        <p:sp>
          <p:nvSpPr>
            <p:cNvPr id="10" name="矩形 3"/>
            <p:cNvSpPr>
              <a:spLocks noChangeArrowheads="1"/>
            </p:cNvSpPr>
            <p:nvPr/>
          </p:nvSpPr>
          <p:spPr bwMode="auto">
            <a:xfrm>
              <a:off x="0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" name="矩形 4"/>
            <p:cNvSpPr>
              <a:spLocks noChangeArrowheads="1"/>
            </p:cNvSpPr>
            <p:nvPr/>
          </p:nvSpPr>
          <p:spPr bwMode="auto">
            <a:xfrm>
              <a:off x="437624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4" name="矩形 5"/>
            <p:cNvSpPr>
              <a:spLocks noChangeArrowheads="1"/>
            </p:cNvSpPr>
            <p:nvPr/>
          </p:nvSpPr>
          <p:spPr bwMode="auto">
            <a:xfrm>
              <a:off x="875248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1312872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矩形 7"/>
            <p:cNvSpPr>
              <a:spLocks noChangeArrowheads="1"/>
            </p:cNvSpPr>
            <p:nvPr/>
          </p:nvSpPr>
          <p:spPr bwMode="auto">
            <a:xfrm>
              <a:off x="1750496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7" name="矩形 8"/>
            <p:cNvSpPr>
              <a:spLocks noChangeArrowheads="1"/>
            </p:cNvSpPr>
            <p:nvPr/>
          </p:nvSpPr>
          <p:spPr bwMode="auto">
            <a:xfrm>
              <a:off x="2188121" y="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8" name="矩形 59"/>
            <p:cNvSpPr>
              <a:spLocks noChangeArrowheads="1"/>
            </p:cNvSpPr>
            <p:nvPr/>
          </p:nvSpPr>
          <p:spPr bwMode="auto">
            <a:xfrm>
              <a:off x="0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9" name="矩形 60"/>
            <p:cNvSpPr>
              <a:spLocks noChangeArrowheads="1"/>
            </p:cNvSpPr>
            <p:nvPr/>
          </p:nvSpPr>
          <p:spPr bwMode="auto">
            <a:xfrm>
              <a:off x="437624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0" name="矩形 61"/>
            <p:cNvSpPr>
              <a:spLocks noChangeArrowheads="1"/>
            </p:cNvSpPr>
            <p:nvPr/>
          </p:nvSpPr>
          <p:spPr bwMode="auto">
            <a:xfrm>
              <a:off x="875248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1" name="矩形 62"/>
            <p:cNvSpPr>
              <a:spLocks noChangeArrowheads="1"/>
            </p:cNvSpPr>
            <p:nvPr/>
          </p:nvSpPr>
          <p:spPr bwMode="auto">
            <a:xfrm>
              <a:off x="1312872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矩形 63"/>
            <p:cNvSpPr>
              <a:spLocks noChangeArrowheads="1"/>
            </p:cNvSpPr>
            <p:nvPr/>
          </p:nvSpPr>
          <p:spPr bwMode="auto">
            <a:xfrm>
              <a:off x="1750496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矩形 64"/>
            <p:cNvSpPr>
              <a:spLocks noChangeArrowheads="1"/>
            </p:cNvSpPr>
            <p:nvPr/>
          </p:nvSpPr>
          <p:spPr bwMode="auto">
            <a:xfrm>
              <a:off x="2188121" y="406202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矩形 66"/>
            <p:cNvSpPr>
              <a:spLocks noChangeArrowheads="1"/>
            </p:cNvSpPr>
            <p:nvPr/>
          </p:nvSpPr>
          <p:spPr bwMode="auto">
            <a:xfrm>
              <a:off x="0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矩形 67"/>
            <p:cNvSpPr>
              <a:spLocks noChangeArrowheads="1"/>
            </p:cNvSpPr>
            <p:nvPr/>
          </p:nvSpPr>
          <p:spPr bwMode="auto">
            <a:xfrm>
              <a:off x="437624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矩形 68"/>
            <p:cNvSpPr>
              <a:spLocks noChangeArrowheads="1"/>
            </p:cNvSpPr>
            <p:nvPr/>
          </p:nvSpPr>
          <p:spPr bwMode="auto">
            <a:xfrm>
              <a:off x="875248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矩形 69"/>
            <p:cNvSpPr>
              <a:spLocks noChangeArrowheads="1"/>
            </p:cNvSpPr>
            <p:nvPr/>
          </p:nvSpPr>
          <p:spPr bwMode="auto">
            <a:xfrm>
              <a:off x="1312872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矩形 70"/>
            <p:cNvSpPr>
              <a:spLocks noChangeArrowheads="1"/>
            </p:cNvSpPr>
            <p:nvPr/>
          </p:nvSpPr>
          <p:spPr bwMode="auto">
            <a:xfrm>
              <a:off x="1750496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矩形 71"/>
            <p:cNvSpPr>
              <a:spLocks noChangeArrowheads="1"/>
            </p:cNvSpPr>
            <p:nvPr/>
          </p:nvSpPr>
          <p:spPr bwMode="auto">
            <a:xfrm>
              <a:off x="2188121" y="828081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矩形 73"/>
            <p:cNvSpPr>
              <a:spLocks noChangeArrowheads="1"/>
            </p:cNvSpPr>
            <p:nvPr/>
          </p:nvSpPr>
          <p:spPr bwMode="auto">
            <a:xfrm>
              <a:off x="0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矩形 74"/>
            <p:cNvSpPr>
              <a:spLocks noChangeArrowheads="1"/>
            </p:cNvSpPr>
            <p:nvPr/>
          </p:nvSpPr>
          <p:spPr bwMode="auto">
            <a:xfrm>
              <a:off x="437624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矩形 75"/>
            <p:cNvSpPr>
              <a:spLocks noChangeArrowheads="1"/>
            </p:cNvSpPr>
            <p:nvPr/>
          </p:nvSpPr>
          <p:spPr bwMode="auto">
            <a:xfrm>
              <a:off x="875248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矩形 76"/>
            <p:cNvSpPr>
              <a:spLocks noChangeArrowheads="1"/>
            </p:cNvSpPr>
            <p:nvPr/>
          </p:nvSpPr>
          <p:spPr bwMode="auto">
            <a:xfrm>
              <a:off x="1312872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矩形 77"/>
            <p:cNvSpPr>
              <a:spLocks noChangeArrowheads="1"/>
            </p:cNvSpPr>
            <p:nvPr/>
          </p:nvSpPr>
          <p:spPr bwMode="auto">
            <a:xfrm>
              <a:off x="1750496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矩形 78"/>
            <p:cNvSpPr>
              <a:spLocks noChangeArrowheads="1"/>
            </p:cNvSpPr>
            <p:nvPr/>
          </p:nvSpPr>
          <p:spPr bwMode="auto">
            <a:xfrm>
              <a:off x="2188121" y="1249960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矩形 80"/>
            <p:cNvSpPr>
              <a:spLocks noChangeArrowheads="1"/>
            </p:cNvSpPr>
            <p:nvPr/>
          </p:nvSpPr>
          <p:spPr bwMode="auto">
            <a:xfrm>
              <a:off x="0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矩形 81"/>
            <p:cNvSpPr>
              <a:spLocks noChangeArrowheads="1"/>
            </p:cNvSpPr>
            <p:nvPr/>
          </p:nvSpPr>
          <p:spPr bwMode="auto">
            <a:xfrm>
              <a:off x="437624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矩形 82"/>
            <p:cNvSpPr>
              <a:spLocks noChangeArrowheads="1"/>
            </p:cNvSpPr>
            <p:nvPr/>
          </p:nvSpPr>
          <p:spPr bwMode="auto">
            <a:xfrm>
              <a:off x="875248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矩形 83"/>
            <p:cNvSpPr>
              <a:spLocks noChangeArrowheads="1"/>
            </p:cNvSpPr>
            <p:nvPr/>
          </p:nvSpPr>
          <p:spPr bwMode="auto">
            <a:xfrm>
              <a:off x="1312872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矩形 84"/>
            <p:cNvSpPr>
              <a:spLocks noChangeArrowheads="1"/>
            </p:cNvSpPr>
            <p:nvPr/>
          </p:nvSpPr>
          <p:spPr bwMode="auto">
            <a:xfrm>
              <a:off x="1750496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矩形 85"/>
            <p:cNvSpPr>
              <a:spLocks noChangeArrowheads="1"/>
            </p:cNvSpPr>
            <p:nvPr/>
          </p:nvSpPr>
          <p:spPr bwMode="auto">
            <a:xfrm>
              <a:off x="2188121" y="1671839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矩形 87"/>
            <p:cNvSpPr>
              <a:spLocks noChangeArrowheads="1"/>
            </p:cNvSpPr>
            <p:nvPr/>
          </p:nvSpPr>
          <p:spPr bwMode="auto">
            <a:xfrm>
              <a:off x="0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7" name="矩形 88"/>
            <p:cNvSpPr>
              <a:spLocks noChangeArrowheads="1"/>
            </p:cNvSpPr>
            <p:nvPr/>
          </p:nvSpPr>
          <p:spPr bwMode="auto">
            <a:xfrm>
              <a:off x="437624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8" name="矩形 89"/>
            <p:cNvSpPr>
              <a:spLocks noChangeArrowheads="1"/>
            </p:cNvSpPr>
            <p:nvPr/>
          </p:nvSpPr>
          <p:spPr bwMode="auto">
            <a:xfrm>
              <a:off x="875248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9" name="矩形 90"/>
            <p:cNvSpPr>
              <a:spLocks noChangeArrowheads="1"/>
            </p:cNvSpPr>
            <p:nvPr/>
          </p:nvSpPr>
          <p:spPr bwMode="auto">
            <a:xfrm>
              <a:off x="1312872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0" name="矩形 91"/>
            <p:cNvSpPr>
              <a:spLocks noChangeArrowheads="1"/>
            </p:cNvSpPr>
            <p:nvPr/>
          </p:nvSpPr>
          <p:spPr bwMode="auto">
            <a:xfrm>
              <a:off x="1750496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1" name="矩形 92"/>
            <p:cNvSpPr>
              <a:spLocks noChangeArrowheads="1"/>
            </p:cNvSpPr>
            <p:nvPr/>
          </p:nvSpPr>
          <p:spPr bwMode="auto">
            <a:xfrm>
              <a:off x="2188121" y="2093718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2" name="矩形 94"/>
            <p:cNvSpPr>
              <a:spLocks noChangeArrowheads="1"/>
            </p:cNvSpPr>
            <p:nvPr/>
          </p:nvSpPr>
          <p:spPr bwMode="auto">
            <a:xfrm>
              <a:off x="0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3" name="矩形 95"/>
            <p:cNvSpPr>
              <a:spLocks noChangeArrowheads="1"/>
            </p:cNvSpPr>
            <p:nvPr/>
          </p:nvSpPr>
          <p:spPr bwMode="auto">
            <a:xfrm>
              <a:off x="437624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4" name="矩形 96"/>
            <p:cNvSpPr>
              <a:spLocks noChangeArrowheads="1"/>
            </p:cNvSpPr>
            <p:nvPr/>
          </p:nvSpPr>
          <p:spPr bwMode="auto">
            <a:xfrm>
              <a:off x="875248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5" name="矩形 97"/>
            <p:cNvSpPr>
              <a:spLocks noChangeArrowheads="1"/>
            </p:cNvSpPr>
            <p:nvPr/>
          </p:nvSpPr>
          <p:spPr bwMode="auto">
            <a:xfrm>
              <a:off x="1312872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6" name="矩形 98"/>
            <p:cNvSpPr>
              <a:spLocks noChangeArrowheads="1"/>
            </p:cNvSpPr>
            <p:nvPr/>
          </p:nvSpPr>
          <p:spPr bwMode="auto">
            <a:xfrm>
              <a:off x="1750496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7" name="矩形 99"/>
            <p:cNvSpPr>
              <a:spLocks noChangeArrowheads="1"/>
            </p:cNvSpPr>
            <p:nvPr/>
          </p:nvSpPr>
          <p:spPr bwMode="auto">
            <a:xfrm>
              <a:off x="2188121" y="2515597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8" name="矩形 101"/>
            <p:cNvSpPr>
              <a:spLocks noChangeArrowheads="1"/>
            </p:cNvSpPr>
            <p:nvPr/>
          </p:nvSpPr>
          <p:spPr bwMode="auto">
            <a:xfrm>
              <a:off x="0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59" name="矩形 102"/>
            <p:cNvSpPr>
              <a:spLocks noChangeArrowheads="1"/>
            </p:cNvSpPr>
            <p:nvPr/>
          </p:nvSpPr>
          <p:spPr bwMode="auto">
            <a:xfrm>
              <a:off x="437624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0" name="矩形 103"/>
            <p:cNvSpPr>
              <a:spLocks noChangeArrowheads="1"/>
            </p:cNvSpPr>
            <p:nvPr/>
          </p:nvSpPr>
          <p:spPr bwMode="auto">
            <a:xfrm>
              <a:off x="875248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1" name="矩形 104"/>
            <p:cNvSpPr>
              <a:spLocks noChangeArrowheads="1"/>
            </p:cNvSpPr>
            <p:nvPr/>
          </p:nvSpPr>
          <p:spPr bwMode="auto">
            <a:xfrm>
              <a:off x="1312872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矩形 105"/>
            <p:cNvSpPr>
              <a:spLocks noChangeArrowheads="1"/>
            </p:cNvSpPr>
            <p:nvPr/>
          </p:nvSpPr>
          <p:spPr bwMode="auto">
            <a:xfrm>
              <a:off x="1750496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矩形 106"/>
            <p:cNvSpPr>
              <a:spLocks noChangeArrowheads="1"/>
            </p:cNvSpPr>
            <p:nvPr/>
          </p:nvSpPr>
          <p:spPr bwMode="auto">
            <a:xfrm>
              <a:off x="2188121" y="2937476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矩形 108"/>
            <p:cNvSpPr>
              <a:spLocks noChangeArrowheads="1"/>
            </p:cNvSpPr>
            <p:nvPr/>
          </p:nvSpPr>
          <p:spPr bwMode="auto">
            <a:xfrm>
              <a:off x="0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矩形 109"/>
            <p:cNvSpPr>
              <a:spLocks noChangeArrowheads="1"/>
            </p:cNvSpPr>
            <p:nvPr/>
          </p:nvSpPr>
          <p:spPr bwMode="auto">
            <a:xfrm>
              <a:off x="437624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6" name="矩形 110"/>
            <p:cNvSpPr>
              <a:spLocks noChangeArrowheads="1"/>
            </p:cNvSpPr>
            <p:nvPr/>
          </p:nvSpPr>
          <p:spPr bwMode="auto">
            <a:xfrm>
              <a:off x="875248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7" name="矩形 111"/>
            <p:cNvSpPr>
              <a:spLocks noChangeArrowheads="1"/>
            </p:cNvSpPr>
            <p:nvPr/>
          </p:nvSpPr>
          <p:spPr bwMode="auto">
            <a:xfrm>
              <a:off x="1312872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8" name="矩形 112"/>
            <p:cNvSpPr>
              <a:spLocks noChangeArrowheads="1"/>
            </p:cNvSpPr>
            <p:nvPr/>
          </p:nvSpPr>
          <p:spPr bwMode="auto">
            <a:xfrm>
              <a:off x="1750496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9" name="矩形 113"/>
            <p:cNvSpPr>
              <a:spLocks noChangeArrowheads="1"/>
            </p:cNvSpPr>
            <p:nvPr/>
          </p:nvSpPr>
          <p:spPr bwMode="auto">
            <a:xfrm>
              <a:off x="2188121" y="3359355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0" name="矩形 115"/>
            <p:cNvSpPr>
              <a:spLocks noChangeArrowheads="1"/>
            </p:cNvSpPr>
            <p:nvPr/>
          </p:nvSpPr>
          <p:spPr bwMode="auto">
            <a:xfrm>
              <a:off x="0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1" name="矩形 116"/>
            <p:cNvSpPr>
              <a:spLocks noChangeArrowheads="1"/>
            </p:cNvSpPr>
            <p:nvPr/>
          </p:nvSpPr>
          <p:spPr bwMode="auto">
            <a:xfrm>
              <a:off x="437624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2" name="矩形 117"/>
            <p:cNvSpPr>
              <a:spLocks noChangeArrowheads="1"/>
            </p:cNvSpPr>
            <p:nvPr/>
          </p:nvSpPr>
          <p:spPr bwMode="auto">
            <a:xfrm>
              <a:off x="875248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3" name="矩形 118"/>
            <p:cNvSpPr>
              <a:spLocks noChangeArrowheads="1"/>
            </p:cNvSpPr>
            <p:nvPr/>
          </p:nvSpPr>
          <p:spPr bwMode="auto">
            <a:xfrm>
              <a:off x="1312872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4" name="矩形 119"/>
            <p:cNvSpPr>
              <a:spLocks noChangeArrowheads="1"/>
            </p:cNvSpPr>
            <p:nvPr/>
          </p:nvSpPr>
          <p:spPr bwMode="auto">
            <a:xfrm>
              <a:off x="1750496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75" name="矩形 120"/>
            <p:cNvSpPr>
              <a:spLocks noChangeArrowheads="1"/>
            </p:cNvSpPr>
            <p:nvPr/>
          </p:nvSpPr>
          <p:spPr bwMode="auto">
            <a:xfrm>
              <a:off x="2188121" y="3781234"/>
              <a:ext cx="288032" cy="28803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17309" y="362097"/>
            <a:ext cx="8643848" cy="5909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36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cxnSp>
        <p:nvCxnSpPr>
          <p:cNvPr id="87" name="直接连接符 86"/>
          <p:cNvCxnSpPr/>
          <p:nvPr userDrawn="1"/>
        </p:nvCxnSpPr>
        <p:spPr>
          <a:xfrm>
            <a:off x="442913" y="957831"/>
            <a:ext cx="1130617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877585" y="334397"/>
            <a:ext cx="1871503" cy="561768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447254" y="957831"/>
            <a:ext cx="7808986" cy="94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11792769" y="56260"/>
            <a:ext cx="363220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itchFamily="2" charset="-122"/>
              </a:defRPr>
            </a:lvl9pPr>
          </a:lstStyle>
          <a:p>
            <a:pPr>
              <a:defRPr/>
            </a:pPr>
            <a:fld id="{ED856349-79DF-4269-BEE4-3014BAD1A95F}" type="slidenum">
              <a:rPr lang="en-US" altLang="zh-CN" sz="1400" b="1" smtClean="0">
                <a:solidFill>
                  <a:srgbClr val="404040"/>
                </a:solidFill>
              </a:rPr>
              <a:t>‹#›</a:t>
            </a:fld>
            <a:endParaRPr lang="zh-CN" altLang="en-US" sz="1400" b="1" dirty="0">
              <a:solidFill>
                <a:srgbClr val="404040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/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72" name="组合 71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73" name="组合 7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8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8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89" name="组合 8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9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9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4" name="组合 7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75" name="组合 7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8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6" name="组合 7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8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8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7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96" name="直接连接符 95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/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/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/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/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screen"/>
          <a:srcRect l="-333"/>
          <a:stretch>
            <a:fillRect/>
          </a:stretch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9" name="组合 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25" name="组合 2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" name="组合 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1" name="组合 1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" name="组合 1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1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" name="组合 1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1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cxnSp>
        <p:nvCxnSpPr>
          <p:cNvPr id="38" name="直接连接符 37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chemeClr val="bg1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8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30" name="组合 29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5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6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组合 30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32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34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6" name="组合 15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6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7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4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5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21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2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3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19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ïşlíḓè"/>
          <p:cNvSpPr/>
          <p:nvPr userDrawn="1"/>
        </p:nvSpPr>
        <p:spPr>
          <a:xfrm>
            <a:off x="-3560" y="2387600"/>
            <a:ext cx="9581785" cy="4470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iśļïḓê"/>
          <p:cNvSpPr/>
          <p:nvPr userDrawn="1"/>
        </p:nvSpPr>
        <p:spPr bwMode="auto">
          <a:xfrm flipH="1">
            <a:off x="-1" y="-4989"/>
            <a:ext cx="9581785" cy="6865116"/>
          </a:xfrm>
          <a:custGeom>
            <a:avLst/>
            <a:gdLst>
              <a:gd name="connsiteX0" fmla="*/ 9581785 w 9581785"/>
              <a:gd name="connsiteY0" fmla="*/ 0 h 6865116"/>
              <a:gd name="connsiteX1" fmla="*/ 6463 w 9581785"/>
              <a:gd name="connsiteY1" fmla="*/ 0 h 6865116"/>
              <a:gd name="connsiteX2" fmla="*/ 0 w 9581785"/>
              <a:gd name="connsiteY2" fmla="*/ 6865116 h 6865116"/>
              <a:gd name="connsiteX3" fmla="*/ 9435691 w 9581785"/>
              <a:gd name="connsiteY3" fmla="*/ 3424381 h 6865116"/>
              <a:gd name="connsiteX4" fmla="*/ 9581785 w 9581785"/>
              <a:gd name="connsiteY4" fmla="*/ 3311401 h 6865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1785" h="6865116">
                <a:moveTo>
                  <a:pt x="9581785" y="0"/>
                </a:moveTo>
                <a:lnTo>
                  <a:pt x="6463" y="0"/>
                </a:lnTo>
                <a:lnTo>
                  <a:pt x="0" y="6865116"/>
                </a:lnTo>
                <a:cubicBezTo>
                  <a:pt x="5057128" y="5756514"/>
                  <a:pt x="7899338" y="4547950"/>
                  <a:pt x="9435691" y="3424381"/>
                </a:cubicBezTo>
                <a:lnTo>
                  <a:pt x="9581785" y="331140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4" name="ïSļîḑè"/>
          <p:cNvSpPr/>
          <p:nvPr userDrawn="1"/>
        </p:nvSpPr>
        <p:spPr bwMode="auto">
          <a:xfrm flipH="1">
            <a:off x="3558" y="44794"/>
            <a:ext cx="9578226" cy="6590321"/>
          </a:xfrm>
          <a:custGeom>
            <a:avLst/>
            <a:gdLst>
              <a:gd name="connsiteX0" fmla="*/ 9578226 w 9578226"/>
              <a:gd name="connsiteY0" fmla="*/ 0 h 6590321"/>
              <a:gd name="connsiteX1" fmla="*/ 6205 w 9578226"/>
              <a:gd name="connsiteY1" fmla="*/ 0 h 6590321"/>
              <a:gd name="connsiteX2" fmla="*/ 0 w 9578226"/>
              <a:gd name="connsiteY2" fmla="*/ 6590321 h 6590321"/>
              <a:gd name="connsiteX3" fmla="*/ 9493338 w 9578226"/>
              <a:gd name="connsiteY3" fmla="*/ 2984432 h 6590321"/>
              <a:gd name="connsiteX4" fmla="*/ 9578226 w 9578226"/>
              <a:gd name="connsiteY4" fmla="*/ 2908618 h 6590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8226" h="6590321">
                <a:moveTo>
                  <a:pt x="9578226" y="0"/>
                </a:moveTo>
                <a:lnTo>
                  <a:pt x="6205" y="0"/>
                </a:lnTo>
                <a:lnTo>
                  <a:pt x="0" y="6590321"/>
                </a:lnTo>
                <a:cubicBezTo>
                  <a:pt x="5310859" y="5426098"/>
                  <a:pt x="8101833" y="4148147"/>
                  <a:pt x="9493338" y="2984432"/>
                </a:cubicBezTo>
                <a:lnTo>
                  <a:pt x="9578226" y="2908618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8000">
                <a:schemeClr val="bg1"/>
              </a:gs>
            </a:gsLst>
            <a:lin ang="108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27" name="iṣľiḋé"/>
          <p:cNvSpPr/>
          <p:nvPr userDrawn="1"/>
        </p:nvSpPr>
        <p:spPr bwMode="auto">
          <a:xfrm flipH="1">
            <a:off x="-13714" y="-4989"/>
            <a:ext cx="9621936" cy="6367328"/>
          </a:xfrm>
          <a:custGeom>
            <a:avLst/>
            <a:gdLst>
              <a:gd name="connsiteX0" fmla="*/ 9580005 w 9580005"/>
              <a:gd name="connsiteY0" fmla="*/ 0 h 6339580"/>
              <a:gd name="connsiteX1" fmla="*/ 5969 w 9580005"/>
              <a:gd name="connsiteY1" fmla="*/ 0 h 6339580"/>
              <a:gd name="connsiteX2" fmla="*/ 0 w 9580005"/>
              <a:gd name="connsiteY2" fmla="*/ 6339580 h 6339580"/>
              <a:gd name="connsiteX3" fmla="*/ 9549201 w 9580005"/>
              <a:gd name="connsiteY3" fmla="*/ 2491289 h 6339580"/>
              <a:gd name="connsiteX4" fmla="*/ 9580005 w 9580005"/>
              <a:gd name="connsiteY4" fmla="*/ 2457799 h 633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0005" h="6339580">
                <a:moveTo>
                  <a:pt x="9580005" y="0"/>
                </a:moveTo>
                <a:lnTo>
                  <a:pt x="5969" y="0"/>
                </a:lnTo>
                <a:lnTo>
                  <a:pt x="0" y="6339580"/>
                </a:lnTo>
                <a:cubicBezTo>
                  <a:pt x="5692847" y="5091619"/>
                  <a:pt x="8380317" y="3708020"/>
                  <a:pt x="9549201" y="2491289"/>
                </a:cubicBezTo>
                <a:lnTo>
                  <a:pt x="9580005" y="24577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669925" y="1822450"/>
            <a:ext cx="10850564" cy="1606550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69925" y="4017660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1" hasCustomPrompt="1"/>
          </p:nvPr>
        </p:nvSpPr>
        <p:spPr>
          <a:xfrm>
            <a:off x="669925" y="4329937"/>
            <a:ext cx="10850564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62403" y="502903"/>
            <a:ext cx="2658086" cy="71329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0.xml"/><Relationship Id="rId31" Type="http://schemas.openxmlformats.org/officeDocument/2006/relationships/slideLayout" Target="../slideLayouts/slideLayout81.xml"/><Relationship Id="rId32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3.xml"/><Relationship Id="rId34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5.xml"/><Relationship Id="rId36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7.xml"/><Relationship Id="rId38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0.xml"/><Relationship Id="rId41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2.xml"/><Relationship Id="rId43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94.xml"/><Relationship Id="rId45" Type="http://schemas.openxmlformats.org/officeDocument/2006/relationships/slideLayout" Target="../slideLayouts/slideLayout95.xml"/><Relationship Id="rId46" Type="http://schemas.openxmlformats.org/officeDocument/2006/relationships/slideLayout" Target="../slideLayouts/slideLayout96.xml"/><Relationship Id="rId47" Type="http://schemas.openxmlformats.org/officeDocument/2006/relationships/slideLayout" Target="../slideLayouts/slideLayout97.xml"/><Relationship Id="rId48" Type="http://schemas.openxmlformats.org/officeDocument/2006/relationships/slideLayout" Target="../slideLayouts/slideLayout9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  <p:sldLayoutId id="2147483745" r:id="rId46"/>
    <p:sldLayoutId id="2147483746" r:id="rId47"/>
    <p:sldLayoutId id="2147483747" r:id="rId48"/>
  </p:sldLayoutIdLst>
  <p:transition spd="med">
    <p:fade/>
  </p:transition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slideLayout" Target="../slideLayouts/slideLayout50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340768"/>
            <a:ext cx="12192000" cy="208823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非理想测量下的用户中心多TRP协同优化研究</a:t>
            </a:r>
            <a:endParaRPr lang="en-US" altLang="zh-CN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36" y="155828"/>
            <a:ext cx="20425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研究汇报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3"/>
    </mc:Choice>
    <mc:Fallback xmlns="">
      <p:transition spd="slow" advTm="117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 idx="4294967295"/>
          </p:nvPr>
        </p:nvSpPr>
        <p:spPr>
          <a:xfrm>
            <a:off x="1279525" y="2528666"/>
            <a:ext cx="1806575" cy="675057"/>
          </a:xfrm>
        </p:spPr>
        <p:txBody>
          <a:bodyPr/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主要内容</a:t>
            </a:r>
          </a:p>
        </p:txBody>
      </p:sp>
      <p:grpSp>
        <p:nvGrpSpPr>
          <p:cNvPr id="30" name="组合 29"/>
          <p:cNvGrpSpPr/>
          <p:nvPr>
            <p:custDataLst>
              <p:tags r:id="rId1"/>
            </p:custDataLst>
          </p:nvPr>
        </p:nvGrpSpPr>
        <p:grpSpPr>
          <a:xfrm>
            <a:off x="5675907" y="569134"/>
            <a:ext cx="2882198" cy="1098506"/>
            <a:chOff x="5337036" y="1031947"/>
            <a:chExt cx="2882198" cy="1098506"/>
          </a:xfrm>
        </p:grpSpPr>
        <p:sp>
          <p:nvSpPr>
            <p:cNvPr id="46" name="文本框 45"/>
            <p:cNvSpPr txBox="1"/>
            <p:nvPr>
              <p:custDataLst>
                <p:tags r:id="rId11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kumimoji="0" lang="zh-CN" altLang="en-US" sz="5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2"/>
              </p:custDataLst>
            </p:nvPr>
          </p:nvSpPr>
          <p:spPr>
            <a:xfrm>
              <a:off x="6355262" y="1304201"/>
              <a:ext cx="1863972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17145">
                <a:spcBef>
                  <a:spcPts val="105"/>
                </a:spcBef>
              </a:pPr>
              <a:r>
                <a:rPr lang="zh-CN" altLang="en-US" sz="3600" b="1" dirty="0">
                  <a:solidFill>
                    <a:srgbClr val="C00000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研究问题与网络</a:t>
              </a:r>
            </a:p>
          </p:txBody>
        </p:sp>
      </p:grpSp>
      <p:grpSp>
        <p:nvGrpSpPr>
          <p:cNvPr id="59" name="组合 58"/>
          <p:cNvGrpSpPr/>
          <p:nvPr>
            <p:custDataLst>
              <p:tags r:id="rId2"/>
            </p:custDataLst>
          </p:nvPr>
        </p:nvGrpSpPr>
        <p:grpSpPr>
          <a:xfrm>
            <a:off x="5683198" y="2012029"/>
            <a:ext cx="4278628" cy="1481021"/>
            <a:chOff x="5337036" y="1031947"/>
            <a:chExt cx="4278628" cy="1481021"/>
          </a:xfrm>
        </p:grpSpPr>
        <p:sp>
          <p:nvSpPr>
            <p:cNvPr id="60" name="文本框 59"/>
            <p:cNvSpPr txBox="1"/>
            <p:nvPr>
              <p:custDataLst>
                <p:tags r:id="rId9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10"/>
              </p:custDataLst>
            </p:nvPr>
          </p:nvSpPr>
          <p:spPr>
            <a:xfrm>
              <a:off x="6384010" y="1248904"/>
              <a:ext cx="3231654" cy="126406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</a:rPr>
                <a:t>系统模型与求解</a:t>
              </a:r>
            </a:p>
            <a:p>
              <a:pPr lvl="0">
                <a:lnSpc>
                  <a:spcPct val="120000"/>
                </a:lnSpc>
              </a:pPr>
              <a:endParaRPr lang="zh-CN" altLang="en-US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3"/>
            </p:custDataLst>
          </p:nvPr>
        </p:nvGrpSpPr>
        <p:grpSpPr>
          <a:xfrm>
            <a:off x="5675907" y="4918106"/>
            <a:ext cx="3804264" cy="1098506"/>
            <a:chOff x="5337036" y="1031947"/>
            <a:chExt cx="3804264" cy="1098506"/>
          </a:xfrm>
        </p:grpSpPr>
        <p:sp>
          <p:nvSpPr>
            <p:cNvPr id="67" name="文本框 66"/>
            <p:cNvSpPr txBox="1"/>
            <p:nvPr>
              <p:custDataLst>
                <p:tags r:id="rId7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02B84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02B84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8"/>
              </p:custDataLst>
            </p:nvPr>
          </p:nvSpPr>
          <p:spPr>
            <a:xfrm>
              <a:off x="6371311" y="1290123"/>
              <a:ext cx="2769989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新版研究方案</a:t>
              </a:r>
              <a:endParaRPr lang="zh-CN" altLang="en-US" sz="3600" b="1" dirty="0">
                <a:solidFill>
                  <a:srgbClr val="013A89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5675658" y="3484713"/>
            <a:ext cx="5663622" cy="1098506"/>
            <a:chOff x="5337036" y="1031947"/>
            <a:chExt cx="5663622" cy="1098506"/>
          </a:xfrm>
        </p:grpSpPr>
        <p:sp>
          <p:nvSpPr>
            <p:cNvPr id="14" name="文本框 13"/>
            <p:cNvSpPr txBox="1"/>
            <p:nvPr>
              <p:custDataLst>
                <p:tags r:id="rId5"/>
              </p:custDataLst>
            </p:nvPr>
          </p:nvSpPr>
          <p:spPr>
            <a:xfrm>
              <a:off x="5337036" y="1031947"/>
              <a:ext cx="612668" cy="10985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1" u="none" strike="noStrike" kern="1200" cap="none" spc="0" normalizeH="0" baseline="0" noProof="0" dirty="0">
                  <a:ln>
                    <a:noFill/>
                  </a:ln>
                  <a:solidFill>
                    <a:srgbClr val="013A8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kumimoji="0" lang="zh-CN" altLang="en-US" sz="6000" b="1" i="1" u="none" strike="noStrike" kern="1200" cap="none" spc="0" normalizeH="0" baseline="0" noProof="0" dirty="0">
                <a:ln>
                  <a:noFill/>
                </a:ln>
                <a:solidFill>
                  <a:srgbClr val="013A8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6"/>
              </p:custDataLst>
            </p:nvPr>
          </p:nvSpPr>
          <p:spPr>
            <a:xfrm>
              <a:off x="6384010" y="1248904"/>
              <a:ext cx="4616648" cy="5539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3600" b="1" dirty="0">
                  <a:solidFill>
                    <a:srgbClr val="002B84"/>
                  </a:solidFill>
                  <a:latin typeface="Century Gothic" panose="020B0502020202020204" pitchFamily="34" charset="0"/>
                  <a:ea typeface="微软雅黑" panose="020B0503020204020204" pitchFamily="34" charset="-122"/>
                  <a:cs typeface="+mn-ea"/>
                  <a:sym typeface="+mn-ea"/>
                </a:rPr>
                <a:t>误差机制与验证</a:t>
              </a:r>
              <a:endParaRPr lang="zh-CN" altLang="en-GB" sz="3600" b="1" dirty="0">
                <a:solidFill>
                  <a:srgbClr val="002B84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+mn-ea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研究问题与方法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16736"/>
            <a:ext cx="288036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茶思验收场景中的困难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90872" y="1316736"/>
            <a:ext cx="2889504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当前处理与拟研究方法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3104" y="1316736"/>
            <a:ext cx="2697480" cy="38404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用什么检验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83664"/>
            <a:ext cx="3273552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883664"/>
            <a:ext cx="327355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06524"/>
            <a:ext cx="312724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50008"/>
            <a:ext cx="303580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链路 SRS/CSI 质量不同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13632" y="2304288"/>
            <a:ext cx="457200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25696" y="1883664"/>
            <a:ext cx="3749039" cy="85039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1883664"/>
            <a:ext cx="3749039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06524"/>
            <a:ext cx="3602735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对应机制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50008"/>
            <a:ext cx="351129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链路条件误差 C → 接收与预编码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0456" y="2304288"/>
            <a:ext cx="448056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14232" y="1883664"/>
            <a:ext cx="2852928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14232" y="1883664"/>
            <a:ext cx="2852928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7384" y="1906524"/>
            <a:ext cx="270662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评价口径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350008"/>
            <a:ext cx="261518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同场景误差对照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026664"/>
            <a:ext cx="3273552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4360" y="3026664"/>
            <a:ext cx="3273552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3049524"/>
            <a:ext cx="312724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493008"/>
            <a:ext cx="303580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边缘 UE 协同受干扰影响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913632" y="3447288"/>
            <a:ext cx="457200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425696" y="3026664"/>
            <a:ext cx="3749039" cy="85039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425696" y="3026664"/>
            <a:ext cx="3749039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049524"/>
            <a:ext cx="3602735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对应机制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3493008"/>
            <a:ext cx="351129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用户中心服务 + WMMSE 更新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0456" y="3447288"/>
            <a:ext cx="448056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714232" y="3026664"/>
            <a:ext cx="2852928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14232" y="3026664"/>
            <a:ext cx="2852928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87384" y="3049524"/>
            <a:ext cx="270662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评价口径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3493008"/>
            <a:ext cx="261518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体验低分位与速率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169664"/>
            <a:ext cx="3273552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94360" y="4169664"/>
            <a:ext cx="3273552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" y="4192524"/>
            <a:ext cx="312724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636008"/>
            <a:ext cx="303580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273 RB 与跨组功率耦合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13632" y="4590288"/>
            <a:ext cx="457200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425696" y="4169664"/>
            <a:ext cx="3749039" cy="850392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4169664"/>
            <a:ext cx="3749039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98848" y="4192524"/>
            <a:ext cx="3602735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对应机制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44568" y="4636008"/>
            <a:ext cx="351129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集中式 ADMM 联合投影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220456" y="4590288"/>
            <a:ext cx="448056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714232" y="4169664"/>
            <a:ext cx="2852928" cy="85039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714232" y="4169664"/>
            <a:ext cx="2852928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87384" y="4192524"/>
            <a:ext cx="270662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FFFFFF"/>
                </a:solidFill>
                <a:latin typeface="Microsoft YaHei"/>
              </a:rPr>
              <a:t>评价口径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33104" y="4636008"/>
            <a:ext cx="261518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0">
                <a:solidFill>
                  <a:srgbClr val="000000"/>
                </a:solidFill>
                <a:latin typeface="Microsoft YaHei"/>
              </a:rPr>
              <a:t>功率违规与残差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" y="5486400"/>
            <a:ext cx="10863072" cy="621792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" y="5541264"/>
            <a:ext cx="10460736" cy="49377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Microsoft YaHei"/>
              </a:rPr>
              <a:t>当前已接入统计误差与集中求解；椭球最坏情况和 TRP 本地求解仍是新方案。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网络拓扑与协同架构</a:t>
            </a:r>
          </a:p>
        </p:txBody>
      </p:sp>
      <p:pic>
        <p:nvPicPr>
          <p:cNvPr id="3" name="Picture 2" descr="topology_full.png"/>
          <p:cNvPicPr>
            <a:picLocks noChangeAspect="1"/>
          </p:cNvPicPr>
          <p:nvPr/>
        </p:nvPicPr>
        <p:blipFill>
          <a:blip r:embed="rId3"/>
          <a:srcRect l="21400"/>
          <a:stretch>
            <a:fillRect/>
          </a:stretch>
        </p:blipFill>
        <p:spPr>
          <a:xfrm>
            <a:off x="417308" y="1280160"/>
            <a:ext cx="6119515" cy="5144147"/>
          </a:xfrm>
          <a:prstGeom prst="rect">
            <a:avLst/>
          </a:prstGeom>
        </p:spPr>
      </p:pic>
      <p:pic>
        <p:nvPicPr>
          <p:cNvPr id="6" name="Picture 5" descr="topology_zoom.png"/>
          <p:cNvPicPr>
            <a:picLocks noChangeAspect="1"/>
          </p:cNvPicPr>
          <p:nvPr/>
        </p:nvPicPr>
        <p:blipFill>
          <a:blip r:embed="rId4"/>
          <a:srcRect l="21261"/>
          <a:stretch>
            <a:fillRect/>
          </a:stretch>
        </p:blipFill>
        <p:spPr>
          <a:xfrm>
            <a:off x="7461503" y="1687854"/>
            <a:ext cx="3624845" cy="31950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32320" y="1261872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87768" y="1161288"/>
            <a:ext cx="4343400" cy="4846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共址扇区 · 用户中心服务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3216" y="4910328"/>
            <a:ext cx="4224528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① 三个 TRP 共用一个站址，箭头表示扇区主方向。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3216" y="5422392"/>
            <a:ext cx="4224528" cy="50292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② UE 7 由 T01、T02 服务；CPU 集中计算预编码。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3216" y="5916168"/>
            <a:ext cx="4206240" cy="33832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40" b="1">
                <a:solidFill>
                  <a:srgbClr val="000000"/>
                </a:solidFill>
                <a:latin typeface="Microsoft YaHei"/>
              </a:rPr>
              <a:t>彩色小点＝实际 UE；颜色＝初始归属站址。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真实执行链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1252728"/>
            <a:ext cx="10927080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正式 MATLAB 入口：一次场景快照生成 → 固定资源 → 求预编码 → 真信道评价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847088"/>
            <a:ext cx="1993392" cy="402336"/>
          </a:xfrm>
          <a:prstGeom prst="roundRect">
            <a:avLst/>
          </a:prstGeom>
          <a:solidFill>
            <a:srgbClr val="092B56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69948"/>
            <a:ext cx="18470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① 场景/业务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13432"/>
            <a:ext cx="1755648" cy="98755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站址、扇区、UE 位置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生成服务集与业务到达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1847088"/>
            <a:ext cx="199339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1869948"/>
            <a:ext cx="18470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② 真信道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313432"/>
            <a:ext cx="1755648" cy="98755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几何增益 + 复高斯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Hᵗʳᵘᵉ：4×64 / 链路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8072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48072" y="1847088"/>
            <a:ext cx="1993392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1869948"/>
            <a:ext cx="18470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③ 等效测量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313432"/>
            <a:ext cx="1755648" cy="98755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CSI-RS / SRS 质量与年龄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输出 Ĥ、C：4×64 / 4×4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5783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15783" y="1847088"/>
            <a:ext cx="1993392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6" y="1869948"/>
            <a:ext cx="18470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④ 资源规则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6" y="2313432"/>
            <a:ext cx="1755648" cy="98755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关联 b、调度 χ、流数 r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及资源权重 ν 固定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83496" y="1847088"/>
            <a:ext cx="1993392" cy="1490472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83496" y="1847088"/>
            <a:ext cx="1993392" cy="402336"/>
          </a:xfrm>
          <a:prstGeom prst="roundRect">
            <a:avLst/>
          </a:prstGeom>
          <a:solidFill>
            <a:srgbClr val="B12A30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1869948"/>
            <a:ext cx="18470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⑤ 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02368" y="2313432"/>
            <a:ext cx="1755648" cy="98755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Ĥ、C 和固定资源输入</a:t>
            </a:r>
          </a:p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矩阵 WMMSE–ADMM 求 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24328" y="2596896"/>
            <a:ext cx="219456" cy="0"/>
          </a:xfrm>
          <a:prstGeom prst="line">
            <a:avLst/>
          </a:prstGeom>
          <a:ln w="30480">
            <a:solidFill>
              <a:srgbClr val="092B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92040" y="2596896"/>
            <a:ext cx="219456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59752" y="2596896"/>
            <a:ext cx="219456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27464" y="2596896"/>
            <a:ext cx="219456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039112" y="4206240"/>
            <a:ext cx="8284464" cy="996696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76856" y="4306824"/>
            <a:ext cx="7808975" cy="74980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700" b="1">
                <a:solidFill>
                  <a:srgbClr val="092B56"/>
                </a:solidFill>
                <a:latin typeface="Microsoft YaHei"/>
              </a:rPr>
              <a:t>⑥ 用同一预编码 w 在 Hᵗʳᵘᵉ 上重算下行速率 → 业务交付量、体验分位与功率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661904" y="3392424"/>
            <a:ext cx="0" cy="374904"/>
          </a:xfrm>
          <a:prstGeom prst="line">
            <a:avLst/>
          </a:prstGeom>
          <a:ln w="30480">
            <a:solidFill>
              <a:srgbClr val="B12A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199632" y="3767328"/>
            <a:ext cx="4462272" cy="0"/>
          </a:xfrm>
          <a:prstGeom prst="line">
            <a:avLst/>
          </a:prstGeom>
          <a:ln w="30480">
            <a:solidFill>
              <a:srgbClr val="B12A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199632" y="3767328"/>
            <a:ext cx="0" cy="402336"/>
          </a:xfrm>
          <a:prstGeom prst="line">
            <a:avLst/>
          </a:prstGeom>
          <a:ln w="30480">
            <a:solidFill>
              <a:srgbClr val="B12A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7512" y="5513831"/>
            <a:ext cx="10863072" cy="612648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559552"/>
            <a:ext cx="10469880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20" b="1">
                <a:solidFill>
                  <a:srgbClr val="000000"/>
                </a:solidFill>
                <a:latin typeface="Microsoft YaHei"/>
              </a:rPr>
              <a:t>旧 GA / PSO 搜索链独立；当前正式入口没有把历史候选接到矩阵求解器。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SRS–CSI 测量与估计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98448"/>
            <a:ext cx="3218688" cy="4498848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98448"/>
            <a:ext cx="3218688" cy="457200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344168"/>
            <a:ext cx="305409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UE / 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856232"/>
            <a:ext cx="2962656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50" b="1">
                <a:solidFill>
                  <a:srgbClr val="092B56"/>
                </a:solidFill>
                <a:latin typeface="Microsoft YaHei"/>
              </a:rPr>
              <a:t>测量对象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95928" y="1298448"/>
            <a:ext cx="3429000" cy="4498848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95928" y="1298448"/>
            <a:ext cx="3429000" cy="457200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78224" y="1344168"/>
            <a:ext cx="326440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TRP / 接收侧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3944" y="1856232"/>
            <a:ext cx="3172968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50" b="1">
                <a:solidFill>
                  <a:srgbClr val="092B56"/>
                </a:solidFill>
                <a:latin typeface="Microsoft YaHei"/>
              </a:rPr>
              <a:t>采集与上送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98664" y="1298448"/>
            <a:ext cx="4041648" cy="4498848"/>
          </a:xfrm>
          <a:prstGeom prst="roundRect">
            <a:avLst/>
          </a:prstGeom>
          <a:solidFill>
            <a:srgbClr val="F7FAFC"/>
          </a:solidFill>
          <a:ln w="10160">
            <a:solidFill>
              <a:srgbClr val="E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98664" y="1298448"/>
            <a:ext cx="4041648" cy="457200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344168"/>
            <a:ext cx="387705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CPU / 协调侧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856232"/>
            <a:ext cx="3785615" cy="31089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50" b="1">
                <a:solidFill>
                  <a:srgbClr val="092B56"/>
                </a:solidFill>
                <a:latin typeface="Microsoft YaHei"/>
              </a:rPr>
              <a:t>集中建模与求解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" y="2322576"/>
            <a:ext cx="2724912" cy="7955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" y="2322576"/>
            <a:ext cx="272491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2345436"/>
            <a:ext cx="257860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① UE 测量视角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788920"/>
            <a:ext cx="2487168" cy="2926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SRS 上行；CSI-RS 下行观测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57015" y="2724912"/>
            <a:ext cx="612648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87952" y="2322576"/>
            <a:ext cx="2980944" cy="7955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87952" y="2322576"/>
            <a:ext cx="2980944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345436"/>
            <a:ext cx="2834639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② 等效观测样本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6824" y="2788920"/>
            <a:ext cx="2743200" cy="2926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质量、年龄、跳频选择 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96328" y="2724912"/>
            <a:ext cx="576072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36408" y="2322576"/>
            <a:ext cx="3520440" cy="79552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36408" y="2322576"/>
            <a:ext cx="3520440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09560" y="2345436"/>
            <a:ext cx="337413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③ 条件估计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2788920"/>
            <a:ext cx="3282696" cy="292607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先验 + CSI-RS + SRS → Ĥ、C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36408" y="3483864"/>
            <a:ext cx="3520440" cy="83210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36408" y="3483864"/>
            <a:ext cx="3520440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3506724"/>
            <a:ext cx="337413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④ 资源与求解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3950208"/>
            <a:ext cx="3282696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b、χ、r、ν 固定；用 Ĥ、C 求 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92056" y="3145536"/>
            <a:ext cx="0" cy="301752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214616" y="3877056"/>
            <a:ext cx="603504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187952" y="3483864"/>
            <a:ext cx="2980944" cy="83210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187952" y="3483864"/>
            <a:ext cx="2980944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61104" y="3506724"/>
            <a:ext cx="2834639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⑤ 下行执行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06824" y="3950208"/>
            <a:ext cx="2743200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取得各 TRP 预编码块 wₗ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3566160" y="3877056"/>
            <a:ext cx="603503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3816" y="3483864"/>
            <a:ext cx="2724912" cy="83210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3816" y="3483864"/>
            <a:ext cx="272491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" y="3506724"/>
            <a:ext cx="257860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60" b="1">
                <a:solidFill>
                  <a:srgbClr val="FFFFFF"/>
                </a:solidFill>
                <a:latin typeface="Microsoft YaHei"/>
              </a:rPr>
              <a:t>⑥ UE 接收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" y="3950208"/>
            <a:ext cx="2487168" cy="32918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多 TRP 相干叠加 + 干扰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8096" y="4700016"/>
            <a:ext cx="10497312" cy="713232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" y="4764024"/>
            <a:ext cx="10168128" cy="5669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50" b="1">
                <a:solidFill>
                  <a:srgbClr val="000000"/>
                </a:solidFill>
                <a:latin typeface="Microsoft YaHei"/>
              </a:rPr>
              <a:t>当前是仿真的等效观测与集中数值计算；图中的信息流不代表完整上行协议或 TRP 本地 ADMM。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资源变量与方法分工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453895"/>
            <a:ext cx="5212080" cy="3986784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600200"/>
            <a:ext cx="471830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历史慢层搜索：独立评价链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85415"/>
            <a:ext cx="4645152" cy="108813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10" b="0">
                <a:solidFill>
                  <a:srgbClr val="000000"/>
                </a:solidFill>
                <a:latin typeface="Microsoft YaHei"/>
              </a:rPr>
              <a:t>候选编码：PF 指数、连接数、调度阈值、rank 门限及修复参数等；不是正式场景的直接联合决策变量。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401568"/>
            <a:ext cx="4599432" cy="11338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10" b="0">
                <a:solidFill>
                  <a:srgbClr val="000000"/>
                </a:solidFill>
                <a:latin typeface="Microsoft YaHei"/>
              </a:rPr>
              <a:t>GA 用选择、交叉、变异产生候选；PSO 用位置和速度更新候选；历史评价器计算目标并筛选。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53895"/>
            <a:ext cx="5175504" cy="398678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600200"/>
            <a:ext cx="4718304" cy="4114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900" b="1">
                <a:solidFill>
                  <a:srgbClr val="092B56"/>
                </a:solidFill>
                <a:latin typeface="Microsoft YaHei"/>
              </a:rPr>
              <a:t>当前正式快层：集中式求解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185415"/>
            <a:ext cx="4645152" cy="100584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20" b="0">
                <a:solidFill>
                  <a:srgbClr val="000000"/>
                </a:solidFill>
                <a:latin typeface="Microsoft YaHei"/>
              </a:rPr>
              <a:t>规则固定：关联 b、调度 χ、流数 r、资源权重 ν；输入 Ĥ 与 C。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328415"/>
            <a:ext cx="4617720" cy="10789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20" b="0">
                <a:solidFill>
                  <a:srgbClr val="000000"/>
                </a:solidFill>
                <a:latin typeface="Microsoft YaHei"/>
              </a:rPr>
              <a:t>优化：含发射幅度的预编码 w；跨资源组共享每 TRP 功率预算 Pₗ。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24728" y="3346704"/>
            <a:ext cx="502920" cy="0"/>
          </a:xfrm>
          <a:prstGeom prst="line">
            <a:avLst/>
          </a:prstGeom>
          <a:ln w="30480">
            <a:solidFill>
              <a:srgbClr val="DF7B2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83480" y="3557015"/>
            <a:ext cx="2020824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20" b="1">
                <a:solidFill>
                  <a:srgbClr val="DF7B27"/>
                </a:solidFill>
                <a:latin typeface="Microsoft YaHei"/>
              </a:rPr>
              <a:t>尚未接通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632703"/>
            <a:ext cx="10762488" cy="539496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678424"/>
            <a:ext cx="10469880" cy="42062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80" b="1">
                <a:solidFill>
                  <a:srgbClr val="000000"/>
                </a:solidFill>
                <a:latin typeface="Microsoft YaHei"/>
              </a:rPr>
              <a:t>只有经过接入与统一评价，才能把“慢层候选 → 快层求解 → 反馈”称为当前联合链。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下行通信与评价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9224" y="1408176"/>
            <a:ext cx="1847088" cy="1078992"/>
          </a:xfrm>
          <a:prstGeom prst="roundRect">
            <a:avLst/>
          </a:prstGeom>
          <a:solidFill>
            <a:srgbClr val="092B56"/>
          </a:solidFill>
          <a:ln w="10160">
            <a:solidFill>
              <a:srgbClr val="092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554480"/>
            <a:ext cx="1645920" cy="7589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发射与传播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" y="2834640"/>
            <a:ext cx="1847088" cy="1078992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980944"/>
            <a:ext cx="1645920" cy="7589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UE 接收与速率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" y="4261104"/>
            <a:ext cx="1847088" cy="1078992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407408"/>
            <a:ext cx="1645920" cy="7589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业务与评价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1435608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70632" y="1435608"/>
            <a:ext cx="242316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458468"/>
            <a:ext cx="227685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wₗkg：预编码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1901952"/>
            <a:ext cx="2185415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TRP l 发送 UE k 的 r 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13832" y="1435608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13832" y="1435608"/>
            <a:ext cx="242316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6984" y="1458468"/>
            <a:ext cx="227685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Hᵗʳᵘᵉ：真实信道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32704" y="1901952"/>
            <a:ext cx="2185415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各服务 TRP 在 UE 相干叠加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35608"/>
            <a:ext cx="3026664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435608"/>
            <a:ext cx="3026664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1458468"/>
            <a:ext cx="2880360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yₖg：接收信号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1901952"/>
            <a:ext cx="2788920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有用信号 + 同资源干扰 + 噪声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202936" y="1938528"/>
            <a:ext cx="274320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46136" y="1938528"/>
            <a:ext cx="292608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70632" y="2852928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70632" y="2852928"/>
            <a:ext cx="2423160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43784" y="2875788"/>
            <a:ext cx="227685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每 TTI 可传比特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9504" y="3319272"/>
            <a:ext cx="2185415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RB 带宽 × SE × 有效时长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13832" y="2852928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513832" y="2852928"/>
            <a:ext cx="2423160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6984" y="2875788"/>
            <a:ext cx="227685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速率 / 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32704" y="3319272"/>
            <a:ext cx="2185415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真实信道下 log-det 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852928"/>
            <a:ext cx="3026664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5320" y="2852928"/>
            <a:ext cx="3026664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2875788"/>
            <a:ext cx="2880360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组成分析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319272"/>
            <a:ext cx="2788920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分出有用信号、干扰与噪声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84080" y="2478024"/>
            <a:ext cx="0" cy="32004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7973568" y="3355848"/>
            <a:ext cx="265176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230368" y="3355848"/>
            <a:ext cx="246888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2770632" y="4279392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770632" y="4279392"/>
            <a:ext cx="2423160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43784" y="4302252"/>
            <a:ext cx="227685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业务交付量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9504" y="4745736"/>
            <a:ext cx="2185415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受流量到达和队列限制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13832" y="4279392"/>
            <a:ext cx="2423160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513832" y="4279392"/>
            <a:ext cx="2423160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86984" y="4302252"/>
            <a:ext cx="227685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用户体验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2704" y="4745736"/>
            <a:ext cx="2185415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有效时窗内交付量 / 时间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4279392"/>
            <a:ext cx="3026664" cy="10058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75320" y="4279392"/>
            <a:ext cx="3026664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8472" y="4302252"/>
            <a:ext cx="2880360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Microsoft YaHei"/>
              </a:rPr>
              <a:t>最终报告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4745736"/>
            <a:ext cx="2788920" cy="5029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icrosoft YaHei"/>
              </a:rPr>
              <a:t>体验分位、功率、停止状态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977639" y="3895344"/>
            <a:ext cx="0" cy="347472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202936" y="4782312"/>
            <a:ext cx="274320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946136" y="4782312"/>
            <a:ext cx="292608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58952" y="5641848"/>
            <a:ext cx="10607040" cy="36576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39" b="1">
                <a:solidFill>
                  <a:srgbClr val="092B56"/>
                </a:solidFill>
                <a:latin typeface="Microsoft YaHei"/>
              </a:rPr>
              <a:t>同一个 w 用于仿真真实信道评价；非理想优化分支的求解输入仍是 Ĥ、C。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WMMSE–ADMM 嵌套求解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2648" y="1307592"/>
            <a:ext cx="10972800" cy="1847088"/>
          </a:xfrm>
          <a:prstGeom prst="roundRect">
            <a:avLst/>
          </a:prstGeom>
          <a:solidFill>
            <a:srgbClr val="EDF4FB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1444752"/>
            <a:ext cx="5559552" cy="39319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WMMSE 外轮：更新接收与权重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984248"/>
            <a:ext cx="2240280" cy="93268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86384" y="1984248"/>
            <a:ext cx="224028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07108"/>
            <a:ext cx="209397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可行 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450592"/>
            <a:ext cx="2002536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初始化 / 上轮输出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984248"/>
            <a:ext cx="2240280" cy="93268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9272" y="1984248"/>
            <a:ext cx="224028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92424" y="2007108"/>
            <a:ext cx="209397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F 与 Rʸʸ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144" y="2450592"/>
            <a:ext cx="2002536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Ĥw；误差项 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59" y="1984248"/>
            <a:ext cx="2240280" cy="93268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52159" y="1984248"/>
            <a:ext cx="224028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5312" y="2007108"/>
            <a:ext cx="209397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A、E、Ω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2450592"/>
            <a:ext cx="2002536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MMSE 接收；逆 MSE 加权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5048" y="1984248"/>
            <a:ext cx="2240280" cy="932688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85048" y="1984248"/>
            <a:ext cx="2240280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007108"/>
            <a:ext cx="2093976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40" b="1">
                <a:solidFill>
                  <a:srgbClr val="FFFFFF"/>
                </a:solidFill>
                <a:latin typeface="Microsoft YaHei"/>
              </a:rPr>
              <a:t>二次子问题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50592"/>
            <a:ext cx="2002536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70" b="0">
                <a:solidFill>
                  <a:srgbClr val="000000"/>
                </a:solidFill>
                <a:latin typeface="Microsoft YaHei"/>
              </a:rPr>
              <a:t>固定 A、Ω、η，求 w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054096" y="2450592"/>
            <a:ext cx="228600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86984" y="2450592"/>
            <a:ext cx="228599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19872" y="2450592"/>
            <a:ext cx="228600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2648" y="3557016"/>
            <a:ext cx="10972800" cy="1819656"/>
          </a:xfrm>
          <a:prstGeom prst="roundRect">
            <a:avLst/>
          </a:prstGeom>
          <a:solidFill>
            <a:srgbClr val="FFF5E9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621024"/>
            <a:ext cx="3337560" cy="35661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800" b="1">
                <a:solidFill>
                  <a:srgbClr val="092B56"/>
                </a:solidFill>
                <a:latin typeface="Microsoft YaHei"/>
              </a:rPr>
              <a:t>ADMM 内轮：固定 A、Ω、η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" y="4133087"/>
            <a:ext cx="2276856" cy="92354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3816" y="4133087"/>
            <a:ext cx="2276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4155948"/>
            <a:ext cx="21305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30" b="1">
                <a:solidFill>
                  <a:srgbClr val="FFFFFF"/>
                </a:solidFill>
                <a:latin typeface="Microsoft YaHei"/>
              </a:rPr>
              <a:t>x：原变量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599431"/>
            <a:ext cx="2039112" cy="420623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80" b="0">
                <a:solidFill>
                  <a:srgbClr val="000000"/>
                </a:solidFill>
                <a:latin typeface="Microsoft YaHei"/>
              </a:rPr>
              <a:t>CG 解线性系统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4133087"/>
            <a:ext cx="2276856" cy="92354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493008" y="4133087"/>
            <a:ext cx="2276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155948"/>
            <a:ext cx="21305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30" b="1">
                <a:solidFill>
                  <a:srgbClr val="FFFFFF"/>
                </a:solidFill>
                <a:latin typeface="Microsoft YaHei"/>
              </a:rPr>
              <a:t>z：可行副本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599431"/>
            <a:ext cx="2039112" cy="420623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80" b="0">
                <a:solidFill>
                  <a:srgbClr val="000000"/>
                </a:solidFill>
                <a:latin typeface="Microsoft YaHei"/>
              </a:rPr>
              <a:t>跨组功率投影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133087"/>
            <a:ext cx="2276856" cy="92354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72200" y="4133087"/>
            <a:ext cx="2276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5352" y="4155948"/>
            <a:ext cx="21305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30" b="1">
                <a:solidFill>
                  <a:srgbClr val="FFFFFF"/>
                </a:solidFill>
                <a:latin typeface="Microsoft YaHei"/>
              </a:rPr>
              <a:t>y：缩放对偶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4599431"/>
            <a:ext cx="2039112" cy="420623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80" b="0">
                <a:solidFill>
                  <a:srgbClr val="000000"/>
                </a:solidFill>
                <a:latin typeface="Microsoft YaHei"/>
              </a:rPr>
              <a:t>y ← y+x−z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51392" y="4133087"/>
            <a:ext cx="2276856" cy="923544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51392" y="4133087"/>
            <a:ext cx="2276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24544" y="4155948"/>
            <a:ext cx="21305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30" b="1">
                <a:solidFill>
                  <a:srgbClr val="FFFFFF"/>
                </a:solidFill>
                <a:latin typeface="Microsoft YaHei"/>
              </a:rPr>
              <a:t>残差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0264" y="4599431"/>
            <a:ext cx="2039112" cy="420623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380" b="0">
                <a:solidFill>
                  <a:srgbClr val="000000"/>
                </a:solidFill>
                <a:latin typeface="Microsoft YaHei"/>
              </a:rPr>
              <a:t>原始 / 对偶 / CG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18104" y="4590288"/>
            <a:ext cx="338328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797296" y="4590288"/>
            <a:ext cx="338328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76488" y="4590288"/>
            <a:ext cx="338328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994392" y="5093208"/>
            <a:ext cx="0" cy="246888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911095" y="5340096"/>
            <a:ext cx="8083297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911095" y="5093208"/>
            <a:ext cx="0" cy="246888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690872" y="5102352"/>
            <a:ext cx="2834640" cy="25603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>
                <a:solidFill>
                  <a:srgbClr val="DF7B27"/>
                </a:solidFill>
                <a:latin typeface="Microsoft YaHei"/>
              </a:rPr>
              <a:t>内层未停止 → 再更新 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8" y="5724144"/>
            <a:ext cx="10753344" cy="56692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6112" y="5788152"/>
            <a:ext cx="10341864" cy="4297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560" b="1">
                <a:solidFill>
                  <a:srgbClr val="000000"/>
                </a:solidFill>
                <a:latin typeface="Microsoft YaHei"/>
              </a:rPr>
              <a:t>返回可行 z → 重算外层目标 → 接受 / 回溯 / 停止；未停止则返回 F、Rʸʸ。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625328" y="2944368"/>
            <a:ext cx="0" cy="557784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637776" y="5385816"/>
            <a:ext cx="0" cy="292608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76072" y="5916168"/>
            <a:ext cx="192024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76072" y="2505456"/>
            <a:ext cx="0" cy="3410712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76072" y="2505456"/>
            <a:ext cx="173736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ADMM 功率约束与停止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444751"/>
            <a:ext cx="10698480" cy="43891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92B56"/>
                </a:solidFill>
                <a:latin typeface="Microsoft YaHei"/>
              </a:rPr>
              <a:t>内轮将二次预编码问题拆为原变量 x 与功率可行副本 z，y 记录一致性误差。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2167128"/>
            <a:ext cx="3419856" cy="12344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2167128"/>
            <a:ext cx="3419856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89988"/>
            <a:ext cx="32735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80" b="1">
                <a:solidFill>
                  <a:srgbClr val="FFFFFF"/>
                </a:solidFill>
                <a:latin typeface="Microsoft YaHei"/>
              </a:rPr>
              <a:t>① CG 更新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633472"/>
            <a:ext cx="3182112" cy="7315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按 νg Qg 与 ρ/2 构成线性系统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2167128"/>
            <a:ext cx="3419856" cy="12344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0832" y="2167128"/>
            <a:ext cx="3419856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4" y="2189988"/>
            <a:ext cx="32735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80" b="1">
                <a:solidFill>
                  <a:srgbClr val="FFFFFF"/>
                </a:solidFill>
                <a:latin typeface="Microsoft YaHei"/>
              </a:rPr>
              <a:t>② 联合投影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2633472"/>
            <a:ext cx="3182112" cy="7315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Σg νg Σj ‖wₗjg‖² ≤ Pₗ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2167128"/>
            <a:ext cx="3419856" cy="1234440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65008" y="2167128"/>
            <a:ext cx="3419856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89988"/>
            <a:ext cx="3273552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80" b="1">
                <a:solidFill>
                  <a:srgbClr val="FFFFFF"/>
                </a:solidFill>
                <a:latin typeface="Microsoft YaHei"/>
              </a:rPr>
              <a:t>③ 对偶与残差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633472"/>
            <a:ext cx="3182112" cy="73152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icrosoft YaHei"/>
              </a:rPr>
              <a:t>y←y+x−z；检查残差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23944" y="2779776"/>
            <a:ext cx="201168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2779776"/>
            <a:ext cx="201168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4088" y="3849624"/>
            <a:ext cx="10753344" cy="1069848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931920"/>
            <a:ext cx="10332720" cy="88696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20" b="1">
                <a:solidFill>
                  <a:srgbClr val="000000"/>
                </a:solidFill>
                <a:latin typeface="Microsoft YaHei"/>
              </a:rPr>
              <a:t>为什么跨组投影？一个 TRP 在所有资源组共用同一预算 Pₗ；逐组独立限制会改变原问题。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5276088"/>
            <a:ext cx="10753344" cy="585216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5321808"/>
            <a:ext cx="10332720" cy="466344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Microsoft YaHei"/>
              </a:rPr>
              <a:t>功率可行 ≠ 数值对拍通过 ≠ ADMM 收敛 ≠ WMMSE 外层停止。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b="1">
                <a:solidFill>
                  <a:srgbClr val="092B56"/>
                </a:solidFill>
                <a:latin typeface="Microsoft YaHei"/>
              </a:rPr>
              <a:t>非均匀误差作用机制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1783080"/>
            <a:ext cx="2450592" cy="140817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7512" y="1783080"/>
            <a:ext cx="2450592" cy="402336"/>
          </a:xfrm>
          <a:prstGeom prst="roundRect">
            <a:avLst/>
          </a:prstGeom>
          <a:solidFill>
            <a:srgbClr val="124A8F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0664" y="1805940"/>
            <a:ext cx="23042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</a:rPr>
              <a:t>测量质量与年龄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249424"/>
            <a:ext cx="2212848" cy="9052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50" b="0">
                <a:solidFill>
                  <a:srgbClr val="000000"/>
                </a:solidFill>
                <a:latin typeface="Microsoft YaHei"/>
              </a:rPr>
              <a:t>SINR、CSI 年龄、SRS 行选择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1783080"/>
            <a:ext cx="2450592" cy="140817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47288" y="1783080"/>
            <a:ext cx="2450592" cy="402336"/>
          </a:xfrm>
          <a:prstGeom prst="roundRect">
            <a:avLst/>
          </a:prstGeom>
          <a:solidFill>
            <a:srgbClr val="1C7663"/>
          </a:solidFill>
          <a:ln w="10160">
            <a:solidFill>
              <a:srgbClr val="1C7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805940"/>
            <a:ext cx="23042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</a:rPr>
              <a:t>条件协方差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49424"/>
            <a:ext cx="2212848" cy="9052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50" b="0">
                <a:solidFill>
                  <a:srgbClr val="000000"/>
                </a:solidFill>
                <a:latin typeface="Microsoft YaHei"/>
              </a:rPr>
              <a:t>每链路、资源组的 4×4 统计误差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783080"/>
            <a:ext cx="2450592" cy="140817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783080"/>
            <a:ext cx="2450592" cy="402336"/>
          </a:xfrm>
          <a:prstGeom prst="roundRect">
            <a:avLst/>
          </a:prstGeom>
          <a:solidFill>
            <a:srgbClr val="DF7B27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1805940"/>
            <a:ext cx="23042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</a:rPr>
              <a:t>接收统计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249424"/>
            <a:ext cx="2212848" cy="9052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50" b="0">
                <a:solidFill>
                  <a:srgbClr val="000000"/>
                </a:solidFill>
                <a:latin typeface="Microsoft YaHei"/>
              </a:rPr>
              <a:t>Rʸʸ 增加 Σₗ pₗg Cₖₗg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783080"/>
            <a:ext cx="2450592" cy="1408176"/>
          </a:xfrm>
          <a:prstGeom prst="roundRect">
            <a:avLst/>
          </a:prstGeom>
          <a:solidFill>
            <a:srgbClr val="F4F9FD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6840" y="1783080"/>
            <a:ext cx="2450592" cy="402336"/>
          </a:xfrm>
          <a:prstGeom prst="roundRect">
            <a:avLst/>
          </a:prstGeom>
          <a:solidFill>
            <a:srgbClr val="B12A30"/>
          </a:solidFill>
          <a:ln w="10160">
            <a:solidFill>
              <a:srgbClr val="B12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805940"/>
            <a:ext cx="2304288" cy="34747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580" b="1">
                <a:solidFill>
                  <a:srgbClr val="FFFFFF"/>
                </a:solidFill>
                <a:latin typeface="Microsoft YaHei"/>
              </a:rPr>
              <a:t>预编码与评价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2249424"/>
            <a:ext cx="2212848" cy="90525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50" b="0">
                <a:solidFill>
                  <a:srgbClr val="000000"/>
                </a:solidFill>
                <a:latin typeface="Microsoft YaHei"/>
              </a:rPr>
              <a:t>二次项 Q(C) → w → 真信道体验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45536" y="2478024"/>
            <a:ext cx="265176" cy="0"/>
          </a:xfrm>
          <a:prstGeom prst="line">
            <a:avLst/>
          </a:prstGeom>
          <a:ln w="30480">
            <a:solidFill>
              <a:srgbClr val="124A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25312" y="2478024"/>
            <a:ext cx="265176" cy="0"/>
          </a:xfrm>
          <a:prstGeom prst="line">
            <a:avLst/>
          </a:prstGeom>
          <a:ln w="30480">
            <a:solidFill>
              <a:srgbClr val="1C7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705088" y="2478024"/>
            <a:ext cx="265176" cy="0"/>
          </a:xfrm>
          <a:prstGeom prst="line">
            <a:avLst/>
          </a:prstGeom>
          <a:ln w="30480">
            <a:solidFill>
              <a:srgbClr val="DF7B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94944" y="3630168"/>
            <a:ext cx="5129784" cy="1197864"/>
          </a:xfrm>
          <a:prstGeom prst="roundRect">
            <a:avLst/>
          </a:prstGeom>
          <a:solidFill>
            <a:srgbClr val="E0ECF6"/>
          </a:solidFill>
          <a:ln w="10160">
            <a:solidFill>
              <a:srgbClr val="12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721608"/>
            <a:ext cx="4727448" cy="9875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20" b="0">
                <a:solidFill>
                  <a:srgbClr val="000000"/>
                </a:solidFill>
                <a:latin typeface="Microsoft YaHei"/>
              </a:rPr>
              <a:t>当前统计模型：先验、CSI-RS 与 SRS 观测的精度相加；未测 SRS 的组只用其余观测。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0216" y="3630168"/>
            <a:ext cx="5157216" cy="1197864"/>
          </a:xfrm>
          <a:prstGeom prst="roundRect">
            <a:avLst/>
          </a:prstGeom>
          <a:solidFill>
            <a:srgbClr val="FFF7EB"/>
          </a:solidFill>
          <a:ln w="10160">
            <a:solidFill>
              <a:srgbClr val="DF7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3721608"/>
            <a:ext cx="4718304" cy="9875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620" b="0">
                <a:solidFill>
                  <a:srgbClr val="000000"/>
                </a:solidFill>
                <a:latin typeface="Microsoft YaHei"/>
              </a:rPr>
              <a:t>待研究：校准椭球、最坏情况内层；尚无可据以宣称体验提升的公平对照。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21808"/>
            <a:ext cx="10515600" cy="47548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600" b="1">
                <a:solidFill>
                  <a:srgbClr val="092B56"/>
                </a:solidFill>
                <a:latin typeface="Microsoft YaHei"/>
              </a:rPr>
              <a:t>公平对照需固定拓扑、业务、预算与初值，仅改变名义／统一／非均匀误差模型。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核心变量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53312"/>
            <a:ext cx="1645920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1362456"/>
            <a:ext cx="1554480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类别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4288" y="1353312"/>
            <a:ext cx="4718304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50008" y="1362456"/>
            <a:ext cx="4626864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标准符号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7022592" y="1353312"/>
            <a:ext cx="2980944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68312" y="1362456"/>
            <a:ext cx="2889503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中文含义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3536" y="1353312"/>
            <a:ext cx="1490472" cy="448056"/>
          </a:xfrm>
          <a:prstGeom prst="rect">
            <a:avLst/>
          </a:prstGeom>
          <a:solidFill>
            <a:srgbClr val="092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49256" y="1362456"/>
            <a:ext cx="1399032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30" b="1">
                <a:solidFill>
                  <a:srgbClr val="FFFFFF"/>
                </a:solidFill>
                <a:latin typeface="Microsoft YaHei"/>
              </a:rPr>
              <a:t>维度 / 单位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8653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19019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索引与规模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8296" y="19019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l, k, j, g; Nₜ, Nᵣ, 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019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TRP、UE、资源组；端口、接收天线、流数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67544" y="19019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索引；64、4、≤2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" y="25237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58368" y="25511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25877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信道与测量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25877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Hᵗʳᵘᵉ, Ĥ,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5877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真信道、估计信道、条件误差协方差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67544" y="25877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4×64；4×64；4×4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32095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58368" y="32369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32735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资源变量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8296" y="32735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b, χ, ν; w, p, Pₗ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2735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调度、服务、RB 权重；预编码、功率、预算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67544" y="32735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0/1；64×r；W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38953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58368" y="39227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" y="39593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WMMSE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8296" y="39593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F, Rʸʸ, A, E, Ω, 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9593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有效信道、接收协方差、接收器、MSE、权重、效用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39593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4×r；4×4；r×r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45811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58368" y="4608576"/>
            <a:ext cx="10835640" cy="630936"/>
          </a:xfrm>
          <a:prstGeom prst="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6" y="46451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ADMM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68296" y="46451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x, z, y, 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6451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原变量、可行副本、缩放对偶、罚参数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7544" y="46451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同 w；标量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5266944"/>
            <a:ext cx="10835640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58368" y="5294376"/>
            <a:ext cx="10835640" cy="630936"/>
          </a:xfrm>
          <a:prstGeom prst="rect">
            <a:avLst/>
          </a:prstGeom>
          <a:solidFill>
            <a:srgbClr val="F4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2376" y="5330952"/>
            <a:ext cx="1517904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1">
                <a:solidFill>
                  <a:srgbClr val="000000"/>
                </a:solidFill>
                <a:latin typeface="Microsoft YaHei"/>
              </a:rPr>
              <a:t>评价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8296" y="5330952"/>
            <a:ext cx="4590288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Rˢᴱ, Rᵉˣᵖ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5330952"/>
            <a:ext cx="2852927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90" b="0">
                <a:solidFill>
                  <a:srgbClr val="000000"/>
                </a:solidFill>
                <a:latin typeface="Microsoft YaHei"/>
              </a:rPr>
              <a:t>频谱效率、按协议统计的体验率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7544" y="5330952"/>
            <a:ext cx="1362456" cy="539496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20" b="0">
                <a:solidFill>
                  <a:srgbClr val="000000"/>
                </a:solidFill>
                <a:latin typeface="Microsoft YaHei"/>
              </a:rPr>
              <a:t>bit/s/Hz；协议口径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新版系统方案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271016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170432"/>
            <a:ext cx="5138928" cy="4846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从测量统计到拟议机制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" y="1792224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0664" y="1792224"/>
            <a:ext cx="466344" cy="46634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1764792"/>
            <a:ext cx="2194560" cy="4754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链路椭球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85032" y="1764792"/>
            <a:ext cx="7415783" cy="521207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由测量统计标定不确定性集合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331720"/>
            <a:ext cx="0" cy="448056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0664" y="2825496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825496"/>
            <a:ext cx="466344" cy="46634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798064"/>
            <a:ext cx="2194560" cy="4754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公平效用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798064"/>
            <a:ext cx="7415783" cy="521207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结合边缘体验与功率成本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8680" y="3364991"/>
            <a:ext cx="0" cy="448057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" y="3858768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" y="3858768"/>
            <a:ext cx="466344" cy="46634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31335"/>
            <a:ext cx="2194560" cy="4754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组稀疏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831335"/>
            <a:ext cx="7415783" cy="521207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减少弱效链路的服务开销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4398264"/>
            <a:ext cx="0" cy="448056"/>
          </a:xfrm>
          <a:prstGeom prst="line">
            <a:avLst/>
          </a:prstGeom>
          <a:ln w="2667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0664" y="4892040"/>
            <a:ext cx="466344" cy="466344"/>
          </a:xfrm>
          <a:prstGeom prst="round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" y="4892040"/>
            <a:ext cx="466344" cy="46634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864607"/>
            <a:ext cx="2194560" cy="47548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Microsoft YaHei"/>
              </a:rPr>
              <a:t>事件触发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4864607"/>
            <a:ext cx="7415783" cy="521207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000000"/>
                </a:solidFill>
                <a:latin typeface="Microsoft YaHei"/>
              </a:rPr>
              <a:t>在保证更新条件下减少通信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5980176"/>
            <a:ext cx="2926304" cy="42062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58584" y="5952744"/>
            <a:ext cx="4151376" cy="420624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39" b="0">
                <a:solidFill>
                  <a:srgbClr val="000000"/>
                </a:solidFill>
                <a:latin typeface="Microsoft YaHei"/>
              </a:rPr>
              <a:t>Σ 与半径仍需校准和论证。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5440680"/>
            <a:ext cx="3364992" cy="320040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r>
              <a:rPr sz="2500" b="1">
                <a:solidFill>
                  <a:srgbClr val="092B56"/>
                </a:solidFill>
                <a:latin typeface="Microsoft YaHei"/>
              </a:rPr>
              <a:t>新方案关键机制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521207" y="1307592"/>
            <a:ext cx="64008" cy="283464"/>
          </a:xfrm>
          <a:prstGeom prst="rect">
            <a:avLst/>
          </a:prstGeom>
          <a:solidFill>
            <a:srgbClr val="B12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76656" y="1207008"/>
            <a:ext cx="5166360" cy="48463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Microsoft YaHei"/>
              </a:rPr>
              <a:t>代表目标与三项难点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792224"/>
            <a:ext cx="4586331" cy="5669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" y="2761488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798064"/>
            <a:ext cx="1874519" cy="53035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鲁棒内层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788920"/>
            <a:ext cx="8010144" cy="56692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先定义误差集合与对偶/内层问题；联合 WMMSE 仍非凸。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483864"/>
            <a:ext cx="8092440" cy="0"/>
          </a:xfrm>
          <a:prstGeom prst="line">
            <a:avLst/>
          </a:prstGeom>
          <a:ln w="1270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94944" y="3776472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3813048"/>
            <a:ext cx="1874519" cy="53035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稀疏更新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803904"/>
            <a:ext cx="8010144" cy="56692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耦合二次项加组稀疏，不能宣称整体一次软阈值闭式求解。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4498848"/>
            <a:ext cx="8092440" cy="0"/>
          </a:xfrm>
          <a:prstGeom prst="line">
            <a:avLst/>
          </a:prstGeom>
          <a:ln w="12700">
            <a:solidFill>
              <a:srgbClr val="E0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94944" y="4791456"/>
            <a:ext cx="1984248" cy="612648"/>
          </a:xfrm>
          <a:prstGeom prst="roundRect">
            <a:avLst/>
          </a:prstGeom>
          <a:solidFill>
            <a:srgbClr val="E0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828032"/>
            <a:ext cx="1874519" cy="530352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092B56"/>
                </a:solidFill>
                <a:latin typeface="Microsoft YaHei"/>
              </a:rPr>
              <a:t>本地共识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18888"/>
            <a:ext cx="8010144" cy="56692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20" b="0">
                <a:solidFill>
                  <a:srgbClr val="000000"/>
                </a:solidFill>
                <a:latin typeface="Microsoft YaHei"/>
              </a:rPr>
              <a:t>明确 TRP 局部变量、CPU 共识、消息缓存、触发与停止。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5998464"/>
            <a:ext cx="10460736" cy="429768"/>
          </a:xfrm>
          <a:prstGeom prst="rect">
            <a:avLst/>
          </a:prstGeom>
          <a:noFill/>
        </p:spPr>
        <p:txBody>
          <a:bodyPr wrap="square" lIns="36576" tIns="13716" rIns="36576" bIns="13716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10" b="1">
                <a:solidFill>
                  <a:srgbClr val="000000"/>
                </a:solidFill>
                <a:latin typeface="Microsoft YaHei"/>
              </a:rPr>
              <a:t>更大误差、功率下降和通信节省均需在同条件对照中验证。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JmYmVhMGQ2YWQwOTc0ZDFkYmVkZTE0NzFkNThlYz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5.0812598425197,&quot;left&quot;:459.1126771653543,&quot;top&quot;:67.49338582677166,&quot;width&quot;:411.6979527559056}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3">
      <a:dk1>
        <a:sysClr val="windowText" lastClr="000000"/>
      </a:dk1>
      <a:lt1>
        <a:sysClr val="window" lastClr="FFFFFF"/>
      </a:lt1>
      <a:dk2>
        <a:srgbClr val="003399"/>
      </a:dk2>
      <a:lt2>
        <a:srgbClr val="FFFFFF"/>
      </a:lt2>
      <a:accent1>
        <a:srgbClr val="00339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2156</Words>
  <Application>Microsoft Office PowerPoint</Application>
  <PresentationFormat>宽屏</PresentationFormat>
  <Paragraphs>201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Microsoft YaHei</vt:lpstr>
      <vt:lpstr>Microsoft YaHei</vt:lpstr>
      <vt:lpstr>微软雅黑 Light</vt:lpstr>
      <vt:lpstr>Arial</vt:lpstr>
      <vt:lpstr>Calibri</vt:lpstr>
      <vt:lpstr>Century Gothic</vt:lpstr>
      <vt:lpstr>Office 主题​​</vt:lpstr>
      <vt:lpstr>1_Office 主题​​</vt:lpstr>
      <vt:lpstr>PowerPoint 演示文稿</vt:lpstr>
      <vt:lpstr>主要内容</vt:lpstr>
      <vt:lpstr>研究问题与目标</vt:lpstr>
      <vt:lpstr>网络拓扑与协同架构</vt:lpstr>
      <vt:lpstr>系统框架</vt:lpstr>
      <vt:lpstr>信道与测量模型</vt:lpstr>
      <vt:lpstr>资源变量与两时间尺度</vt:lpstr>
      <vt:lpstr>接收模型与速率</vt:lpstr>
      <vt:lpstr>WMMSE 更新</vt:lpstr>
      <vt:lpstr>ADMM 求解</vt:lpstr>
      <vt:lpstr>非均匀误差机制</vt:lpstr>
      <vt:lpstr>核心变量</vt:lpstr>
      <vt:lpstr>新版系统方案</vt:lpstr>
      <vt:lpstr>新方案关键机制</vt:lpstr>
    </vt:vector>
  </TitlesOfParts>
  <Company>Guilddesign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Sung Ha, Park</dc:creator>
  <cp:lastModifiedBy>亚萍 宋</cp:lastModifiedBy>
  <cp:revision>2</cp:revision>
  <cp:lastPrinted>2025-12-14T09:05:23Z</cp:lastPrinted>
  <dcterms:created xsi:type="dcterms:W3CDTF">2025-12-14T09:05:23Z</dcterms:created>
  <dcterms:modified xsi:type="dcterms:W3CDTF">2026-10-20T06:29:23Z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5F83327A812F4435B25E525EBED23916_13</vt:lpwstr>
  </property>
  <property fmtid="{D5CDD505-2E9C-101B-9397-08002B2CF9AE}" pid="3" name="KSOProductBuildVer">
    <vt:lpwstr>2052-12.9.0.24013</vt:lpwstr>
  </property>
</Properties>
</file>