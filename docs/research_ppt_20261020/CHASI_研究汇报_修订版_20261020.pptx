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3"/>
  </p:sldMasterIdLst>
  <p:notesMasterIdLst>
    <p:notesMasterId r:id="rId5"/>
  </p:notesMasterIdLst>
  <p:handoutMasterIdLst>
    <p:handoutMasterId r:id="rId28"/>
  </p:handoutMasterIdLst>
  <p:sldIdLst>
    <p:sldId id="2531" r:id="rId4"/>
    <p:sldId id="5977" r:id="rId6"/>
    <p:sldId id="5978" r:id="rId13"/>
    <p:sldId id="5979" r:id="rId14"/>
    <p:sldId id="5980" r:id="rId15"/>
    <p:sldId id="5981" r:id="rId16"/>
    <p:sldId id="5982" r:id="rId17"/>
    <p:sldId id="5983" r:id="rId18"/>
    <p:sldId id="5984" r:id="rId19"/>
    <p:sldId id="5985" r:id="rId20"/>
    <p:sldId id="5986" r:id="rId21"/>
    <p:sldId id="5987" r:id="rId22"/>
    <p:sldId id="5988" r:id="rId23"/>
    <p:sldId id="5989" r:id="rId24"/>
    <p:sldId id="5990" r:id="rId25"/>
  </p:sldIdLst>
  <p:sldSz cx="12192000" cy="6858000"/>
  <p:notesSz cx="7099300" cy="10234295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0663" autoAdjust="0"/>
  </p:normalViewPr>
  <p:slideViewPr>
    <p:cSldViewPr showGuides="1">
      <p:cViewPr varScale="1">
        <p:scale>
          <a:sx n="100" d="100"/>
          <a:sy n="100" d="100"/>
        </p:scale>
        <p:origin x="512" y="56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Relationship Id="rId32" Type="http://schemas.openxmlformats.org/officeDocument/2006/relationships/commentAuthors" Target="commentAuthors.xml"/><Relationship Id="rId33" Type="http://schemas.openxmlformats.org/officeDocument/2006/relationships/tags" Target="tags/tag1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038" y="796925"/>
            <a:ext cx="7069137" cy="3976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研究对象：茶思任务中的非理想SRS/CSI与用户中心多TRP协同。本材料对应已提交代码 db9d7e3；当前另一个会话的工作区更改不包含在本材料。研究结果尚不能等同正式验收。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段讲述顺序。第一部分界定困难、目标与物理网络；第二部分沿通信变量讲建模与当前求解；第三部分说明非均匀误差和现有证据；第四部分单列202610版系统方案。每段均区分原始任务、当前实现、已验证结果与研究设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：原始任务的困难是非理想SRS/CSI降低链路辨识，用户中心协同容易让边缘用户受损，同时资源、功率和计算规模受约束。目标是按原协议核验边缘体验、功率与资源占用，不能直接把SE当体验。当前方法：固定规则配置资源，WMMSE–ADMM集中求预编码；GA/PSO/SRACOS为独立历史搜索链。计划：利用链路测量质量建立非均匀误差模型，再公平对照。依据：难题1.png、典型验收场景.png、用户速率协议定义.png；源码 chasi_run.m、chasi_generate_scene.m、chasi_matrix_wmmse.m。追问：是否达到原验收目标？目前没有正式证明。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左图是 MATLAB 已导出的真实场景坐标，不是示意站址。中心(450,450)m，外围6站半径300m，21个TRP每站三扇区共址。UE位置来自当前面积均匀采样，25–150m环扇区为项目假设；扇区图形并非硬覆盖。右侧为单UE服务和逻辑CPU示意：UE的SRS生成观测，集中仿真得到估计信道和协方差，CPU单进程求w，TRP按块下行。图像来自 topology_full.png 与 topology_zoom.png；源码 chasi_geometry_from_samples.m、chasi_generate_scene.m、chasi_run.m。追问：是否TRP分布式ADMM？否。CPU是逻辑节点，图标不代表部署坐标。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按输入→处理→输出讲六步。几何产生真信道；SRS/CSI产生估计信道及条件误差协方差；资源调度b、服务掩码χ、rank r、RB权重ν由规则给定；集中WMMSE–ADMM输出含幅度的预编码w；最后以真信道计算用户速率、体验与功率。Htrue用于合成观测和最终评价，求解接收器依据Hhat/C。依据 chasi_run.m 的场景、优化、评价调用。追问：优化哪些资源变量？正式入口目前主要优化w。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几何生成 Htrue∈C^{4×64}；当前是接收相关的几何信道代理，未实现完整双极化物理阵列。C0=βRrx，CSI-RS与SRS观测在条件高斯假设下精度相加，得到 Cklg∈C^{4×4}、Hhat∈C^{4×64}。每个发射列共享接收侧4×4条件协方差；未测组省略SRS项。CSI年龄通过噪声膨胀进入。单位：坐标m，信道为归一化复增益，噪声和协方差相应归一化。依据 CHASI_UNIFIED_TRACE C01–C12，chasi_generate_scene.m。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当前正式链的b、χ、r、ν由规则设定，w为64×r复数预编码且含发射幅度。功率约束跨资源组：对同一TRP汇总νg加权的所有用户预编码能量，预算Pl默认20W。WMMSE 使用估计CSI与误差统计处理物理层加权速率/PF代理；最终体验协议是独立评价。历史候选x为九维归一化编码，分别映射到betaPF、numConnections、scheduleThreshold、rhoLink、rhoPower、maxRank、rankThreshold、repairPower、maxRepairLinks；这些是旧链参数，不能当作正式场景正在优化的物理资源。GA以交叉、变异和选择产生候选；PSO按位置、速度更新产生候选；SRACOS承担选择/引导。历史评价器原先以调度流SINR代理为主，存在旧场景条件适配入口；正式chasi_run无搜索调用。依据 chasi_generate_scene.m、chasi_matrix_wmmse.m、历史搜索源码及 EVIDENCE_INDEX。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w_ljg是TRP l对UE j的预编码块；F_kjg是到UE k的跨TRP相干叠加，有用项为j=k，其余为干扰。Ryy为4×4接收协方差，I为归一化噪声，p_lg C_klg体现统计误差对接收扰动。SE采用logdet；真信道评价用Htrue重新形成有效信道、干扰与速率。业务体验按原协议另行聚合，不能将SE直接称体验。当前只有二阶等效计算，没有生成完整OFDM波形。依据 CHASI_UNIFIED_TRACE C15–C20、C32，chasi_matrix_wmmse.m、chasi_evaluate.m。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层固定当前w，由Hhat/C计算F与Ryy；更新MMSE接收器A∈C^{4×r}，MSE矩阵E∈C^{r×r}，权重Ω=E^{-1}。η为用户效用/PF权重，固定A、Ω、η后形成w的二次子问题。外层再更新状态并检查目标/残差/迭代限。速率与WMMSE等价需要固定信道统计、正定E及相应权重条件；联合变量问题不因此变成全局凸。依据 CHASI_UNIFIED_TRACE C21–C28、chasi_matrix_wmmse.m。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固定A、Ω、η后，二次系数Q和线性项B由Hhat、C构造。x为预编码原变量，z为满足跨资源组功率约束的副本，y为缩放对偶。解(νQ+ρ/2 I)x=νB+ρ/2(z−y)，当前用隐式算子与CG；z联合投影全部资源组以满足每TRP预算；随后更新y。检查原始与对偶残差以及迭代上限。返回可行z作为预编码。当前在单MATLAB进程集中执行，非TRP分布式。功率可行、数值对拍通过、ADMM收敛和WMMSE外层停止分别判断。依据 CHASI_UNIFIED_TRACE C29–C31、chasi_matrix_wmmse.m。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链路SRS SINRγs(dB)、CSI年龄ts(s)、先验β与观测选择矩阵P进入有效噪声ns和后验C。不同链路C不同，作为统计误差项进入Ryy，再改变A/E/Ω和固定接收器后的二次算子Q中的D项，因此可能改变w。当前实现的是条件协方差统计机制；尚无校准的确定性椭球、最坏情况内层优化，也没有稳定的创新效果正向验证。公平对照应保持相同拓扑、业务、预算和初始化，只改变名义/统一/非均匀误差模式。依据 chasi_generate_scene.m、chasi_matrix_wmmse.m、CHASI_UNIFIED_TRACE C10–C12/C19/C27。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这是投影用核心符号表。索引 l:TRP、k/j:UE、g:资源组，Nt=64、Nr=4。Htrue/Hhat均4×64；C4×4；w64×r；F与A为4×r；Ryy4×4；E与Ω为r×r。x/z/y与w同维，ρ为ADMM惩罚参数，P为W；RSE为bit/s/Hz，Rexp为按业务协议统计的体验率。完整解释见 SYMBOLS.md 和 CHASI_UNIFIED_TRACE.tex。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已有旧场景的210/420 UE记录：在原始运行参数下能够产生预编码、完成评价并满足功率预算；另有MATLAB/Python数值对拍通过的记录。这些只证明对应记录中的实现一致性与功率可行性，不证明正式规模收敛，也不证明原始边缘体验验收指标。最新几何拓扑坐标与服务关系已实际导出；拓扑正确性与求解器收敛是不同层级。正式运行记录 converged=false，触及外层/内层迭代上限；非均匀优于名义/统一误差的公平对照尚无充分证据。依据 EVIDENCE_INDEX.md、验证报告与保存日志，所有数字需按同一场景版本解释。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和下一页仅介绍202610-系统方案v2.pdf的拟议研究，不表示已进入当前代码。计划从链路级误差椭球入手，结合公平效用、功率、组稀疏和事件触发通信；希望在真实业务与资源限制下评估边缘体验、功率和消息量。当前统计C与椭球Σ的对应需要校准；联合WMMSE仍非凸，固定部分变量后子问题凸性仍要证明。关闭某条TRP–UE链路不等于整个TRP休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三条边界：第一，链路级最坏情况需定义椭球与内层优化、论证适用条件；第二，组稀疏需要处理耦合二次项，不能声称整个子问题一次软阈值闭式解决；第三，TRP本地共识与事件触发需要消息缓存、更新时序和收敛条件。更大误差不必然产生更宽波束；链路关闭不等于TRP休眠；功率下降或通信节省比例是待验证目标。当前已实现的只有集中式统计误差WMMSE–ADMM及既有评价链，新版系统方案不可画成已完成闭环。依据 202610-系统方案v2.pdf 与当前 chasi_matrix_wmmse.m。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  <a:endParaRPr lang="zh-CN" altLang="en-US" sz="3600" b="1" spc="600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  <a:endParaRPr lang="zh-CN" altLang="en-US" sz="540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  <a:endParaRPr lang="en-US" altLang="zh-CN" dirty="0">
              <a:solidFill>
                <a:schemeClr val="bg1">
                  <a:alpha val="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  <a:endParaRPr lang="zh-CN" altLang="en-US" sz="3600" b="1" spc="600" dirty="0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  <a:endParaRPr lang="zh-CN" altLang="en-US" sz="5400" spc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Relationship Id="rId11" Type="http://schemas.openxmlformats.org/officeDocument/2006/relationships/tags" Target="../tags/tag29.xml"/><Relationship Id="rId12" Type="http://schemas.openxmlformats.org/officeDocument/2006/relationships/tags" Target="../tags/tag30.xml"/><Relationship Id="rId13" Type="http://schemas.openxmlformats.org/officeDocument/2006/relationships/slideLayout" Target="../slideLayouts/slideLayout50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340768"/>
            <a:ext cx="12192000" cy="2088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非理想测量下的用户中心多TRP协同优化研究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36" y="155828"/>
            <a:ext cx="2042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研究汇报</a:t>
            </a:r>
            <a:endParaRPr lang="zh-CN" altLang="en-US" sz="32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73"/>
    </mc:Choice>
    <mc:Fallback>
      <p:transition spd="slow" advTm="11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</p:nvPr>
        </p:nvSpPr>
        <p:spPr>
          <a:xfrm>
            <a:off x="1279525" y="2528666"/>
            <a:ext cx="1806575" cy="675057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主要内容</a:t>
            </a:r>
            <a:endParaRPr lang="zh-CN" altLang="en-US" sz="6000" b="1" dirty="0">
              <a:solidFill>
                <a:schemeClr val="bg1"/>
              </a:solidFill>
            </a:endParaRP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675907" y="569134"/>
            <a:ext cx="2882198" cy="1098506"/>
            <a:chOff x="5337036" y="1031947"/>
            <a:chExt cx="2882198" cy="1098506"/>
          </a:xfrm>
        </p:grpSpPr>
        <p:sp>
          <p:nvSpPr>
            <p:cNvPr id="46" name="文本框 45"/>
            <p:cNvSpPr txBox="1"/>
            <p:nvPr>
              <p:custDataLst>
                <p:tags r:id="rId2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3"/>
              </p:custDataLst>
            </p:nvPr>
          </p:nvSpPr>
          <p:spPr>
            <a:xfrm>
              <a:off x="6355262" y="1304201"/>
              <a:ext cx="1863972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7145">
                <a:spcBef>
                  <a:spcPts val="105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研究问题与网络</a:t>
              </a:r>
              <a:endParaRPr lang="zh-CN" altLang="en-US" sz="3600" b="1" dirty="0">
                <a:solidFill>
                  <a:srgbClr val="C00000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4"/>
            </p:custDataLst>
          </p:nvPr>
        </p:nvGrpSpPr>
        <p:grpSpPr>
          <a:xfrm>
            <a:off x="5683198" y="2012029"/>
            <a:ext cx="4278628" cy="1481021"/>
            <a:chOff x="5337036" y="1031947"/>
            <a:chExt cx="4278628" cy="1481021"/>
          </a:xfrm>
        </p:grpSpPr>
        <p:sp>
          <p:nvSpPr>
            <p:cNvPr id="60" name="文本框 59"/>
            <p:cNvSpPr txBox="1"/>
            <p:nvPr>
              <p:custDataLst>
                <p:tags r:id="rId5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6"/>
              </p:custDataLst>
            </p:nvPr>
          </p:nvSpPr>
          <p:spPr>
            <a:xfrm>
              <a:off x="6384010" y="1248904"/>
              <a:ext cx="3231654" cy="12640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系统模型与求解</a:t>
              </a: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  <a:p>
              <a:pPr lvl="0">
                <a:lnSpc>
                  <a:spcPct val="120000"/>
                </a:lnSpc>
              </a:pP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7"/>
            </p:custDataLst>
          </p:nvPr>
        </p:nvGrpSpPr>
        <p:grpSpPr>
          <a:xfrm>
            <a:off x="5675907" y="4918106"/>
            <a:ext cx="3804264" cy="1098506"/>
            <a:chOff x="5337036" y="1031947"/>
            <a:chExt cx="3804264" cy="1098506"/>
          </a:xfrm>
        </p:grpSpPr>
        <p:sp>
          <p:nvSpPr>
            <p:cNvPr id="67" name="文本框 66"/>
            <p:cNvSpPr txBox="1"/>
            <p:nvPr>
              <p:custDataLst>
                <p:tags r:id="rId8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9"/>
              </p:custDataLst>
            </p:nvPr>
          </p:nvSpPr>
          <p:spPr>
            <a:xfrm>
              <a:off x="6371311" y="1290123"/>
              <a:ext cx="276998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新版研究方案</a:t>
              </a:r>
              <a:endParaRPr lang="zh-CN" altLang="en-US" sz="3600" b="1" dirty="0">
                <a:solidFill>
                  <a:srgbClr val="013A89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5675658" y="3484713"/>
            <a:ext cx="5663622" cy="1098506"/>
            <a:chOff x="5337036" y="1031947"/>
            <a:chExt cx="5663622" cy="1098506"/>
          </a:xfrm>
        </p:grpSpPr>
        <p:sp>
          <p:nvSpPr>
            <p:cNvPr id="14" name="文本框 13"/>
            <p:cNvSpPr txBox="1"/>
            <p:nvPr>
              <p:custDataLst>
                <p:tags r:id="rId11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13A8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13A8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6384010" y="1248904"/>
              <a:ext cx="4616648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误差机制与验证</a:t>
              </a:r>
              <a:endParaRPr lang="zh-CN" altLang="en-GB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研究问题与目标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344168"/>
            <a:ext cx="34198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200400" cy="1417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SRS/CSI 非理想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边缘 UE 对协同误差更敏感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多 TRP 带来功率和规模压力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3984" y="1344168"/>
            <a:ext cx="34198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研究目标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874519"/>
            <a:ext cx="3246120" cy="1417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按协议比较边缘体验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满足功率和资源约束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在正式规模完成可核验求解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0144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44168"/>
            <a:ext cx="3328415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评价条件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4736" y="1874519"/>
            <a:ext cx="3200400" cy="14173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七站 × 三扇区；273 RB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每小区 10–20 UE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体验口径、参考基线需锁定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575304"/>
            <a:ext cx="10972800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384048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94760"/>
            <a:ext cx="49743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当前方法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4617720" cy="11430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规则给定调度与服务集合；集中式 WMMSE–ADMM 优化预编码。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84048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3794760"/>
            <a:ext cx="52029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拟研究创新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4361688"/>
            <a:ext cx="5029200" cy="11430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SRS 质量 → 链路差异化误差统计 → 鲁棒优化与公平对照。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715000"/>
            <a:ext cx="10698480" cy="43891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目前已有统计误差机制；新方案的最坏情况、稀疏与事件触发尚待接入和验证。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网络拓扑与协同架构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6629400" cy="43801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51775" y="132588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280160"/>
            <a:ext cx="415137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局部协同与计算</a:t>
            </a:r>
          </a:p>
        </p:txBody>
      </p:sp>
      <p:pic>
        <p:nvPicPr>
          <p:cNvPr id="6" name="Picture 5" descr="topology_z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764792"/>
            <a:ext cx="3995928" cy="2773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61504" y="4882896"/>
            <a:ext cx="3968496" cy="49377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UE 7 由 T01、T02 协同服务。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504" y="5449824"/>
            <a:ext cx="3968496" cy="89611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SRS → TRP 观测 → CPU 集中求 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Microsoft YaHei"/>
              </a:rPr>
              <a:t>业务与 w 块 → TRP 下行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系统框架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51790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72184"/>
            <a:ext cx="33741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01 几何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002536"/>
            <a:ext cx="3310128" cy="6766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站址、扇区、UE位置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779776"/>
            <a:ext cx="3310128" cy="5760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输出：位置与角度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23944" y="2350008"/>
            <a:ext cx="219456" cy="182880"/>
          </a:xfrm>
          <a:prstGeom prst="righ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51790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472184"/>
            <a:ext cx="33741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02 传播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002536"/>
            <a:ext cx="3310128" cy="6766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路径损耗与小尺度衰落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779776"/>
            <a:ext cx="3310128" cy="5760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输出：Htrue：真信道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46720" y="2350008"/>
            <a:ext cx="219455" cy="182880"/>
          </a:xfrm>
          <a:prstGeom prst="righ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57616" y="151790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72184"/>
            <a:ext cx="33741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03 测量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002536"/>
            <a:ext cx="3310128" cy="6766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SRS/CSI 观测与条件更新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779776"/>
            <a:ext cx="3310128" cy="5760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输出：Hhat、C：估计和误差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3822191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76472"/>
            <a:ext cx="33741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06 评价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4306824"/>
            <a:ext cx="3310128" cy="6766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真信道速率和功率统计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084064"/>
            <a:ext cx="3310128" cy="5760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输出：体验、功率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4114800" y="4654296"/>
            <a:ext cx="219456" cy="182880"/>
          </a:xfrm>
          <a:prstGeom prst="lef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822191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776472"/>
            <a:ext cx="33741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05 求解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4306824"/>
            <a:ext cx="3310128" cy="6766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WMMSE 外层 / ADMM 内层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5084064"/>
            <a:ext cx="3310128" cy="5760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输出：w：预编码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8037575" y="4654296"/>
            <a:ext cx="219456" cy="182880"/>
          </a:xfrm>
          <a:prstGeom prst="left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57616" y="3822191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776472"/>
            <a:ext cx="337413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04 资源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306824"/>
            <a:ext cx="3310128" cy="67665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固定调度、服务、rank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5084064"/>
            <a:ext cx="3310128" cy="57607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Microsoft YaHei"/>
              </a:rPr>
              <a:t>输出：b、χ、r、ν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0853928" y="3218688"/>
            <a:ext cx="182880" cy="493775"/>
          </a:xfrm>
          <a:prstGeom prst="downArrow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135624"/>
            <a:ext cx="10698480" cy="3017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从观测到求解使用非理想 CSI；性能评价回到真信道。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信道与测量模型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990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488289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几何与真信道</a:t>
            </a:r>
          </a:p>
        </p:txBody>
      </p:sp>
      <p:pic>
        <p:nvPicPr>
          <p:cNvPr id="5" name="Picture 4" descr="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92807"/>
            <a:ext cx="4585127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" y="2670048"/>
            <a:ext cx="4754880" cy="12161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β：链路大尺度增益；Lrx：接收相关因子；Ξ：小尺度随机矩阵。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16168" y="13990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2472" y="1353312"/>
            <a:ext cx="552297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观测与条件误差</a:t>
            </a:r>
          </a:p>
        </p:txBody>
      </p:sp>
      <p:pic>
        <p:nvPicPr>
          <p:cNvPr id="9" name="Picture 8" descr="pos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892807"/>
            <a:ext cx="5440680" cy="529082"/>
          </a:xfrm>
          <a:prstGeom prst="rect">
            <a:avLst/>
          </a:prstGeom>
        </p:spPr>
      </p:pic>
      <p:pic>
        <p:nvPicPr>
          <p:cNvPr id="10" name="Picture 9" descr="estim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2761488"/>
            <a:ext cx="5085707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9904" y="3566160"/>
            <a:ext cx="5239512" cy="13258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C：4×4 条件误差协方差；Hhat：4×64 估计信道。nc、ns 为 CSI-RS 与 SRS 的有效噪声方差。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175504"/>
            <a:ext cx="10927080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" y="5394960"/>
            <a:ext cx="10652760" cy="71323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测量质量和 CSI 年龄使各链路的 C 不同；当前尚未将 C 解释为已校准的确定性误差椭球。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资源变量与优化目标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11149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固定资源规则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4983480" cy="1874519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b：资源组内 UE 调度；χ：服务 TRP 掩码；r：每 UE 流数，当前为 2；ν：组内发射 RB 比例。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0176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344168"/>
            <a:ext cx="5321808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当前求解变量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1344" y="1847088"/>
            <a:ext cx="5074920" cy="11430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w：TRP 为 UE 使用的 64×r 复预编码；非服务链路为零。</a:t>
            </a:r>
          </a:p>
        </p:txBody>
      </p:sp>
      <p:pic>
        <p:nvPicPr>
          <p:cNvPr id="9" name="Picture 8" descr="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3218688"/>
            <a:ext cx="2121371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1344" y="3895344"/>
            <a:ext cx="4937760" cy="521207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Pₗ：TRP l 的跨组功率预算，单位 W。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4718304"/>
            <a:ext cx="10917936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1207" y="4937759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892040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慢层搜索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5404104"/>
            <a:ext cx="4937760" cy="7589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旧 GA/PSO/SRACOS 评价历史候选；未接入正式入口。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937759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4892040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快层求解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5404104"/>
            <a:ext cx="4937760" cy="75895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固定 b、χ、r、ν 与 CSI，集中迭代 w。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接收模型与速率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44168"/>
            <a:ext cx="52486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多 TRP 相干叠加</a:t>
            </a:r>
          </a:p>
        </p:txBody>
      </p:sp>
      <p:pic>
        <p:nvPicPr>
          <p:cNvPr id="5" name="Picture 4" descr="eff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56231"/>
            <a:ext cx="3159440" cy="612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2633472"/>
            <a:ext cx="5001768" cy="11430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F：4×r 有效信道。先把各服务 TRP 的复数贡献相加，再形成接收功率。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8988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44168"/>
            <a:ext cx="53858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接收协方差</a:t>
            </a:r>
          </a:p>
        </p:txBody>
      </p:sp>
      <p:pic>
        <p:nvPicPr>
          <p:cNvPr id="9" name="Picture 8" descr="co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856231"/>
            <a:ext cx="3653956" cy="621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1344" y="2633472"/>
            <a:ext cx="5047488" cy="11521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Ryy：4×4；含有用信号、所有用户干扰、归一化噪声与误差统计项。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" y="4114800"/>
            <a:ext cx="10881360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1207" y="439826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352544"/>
            <a:ext cx="534009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速率计算</a:t>
            </a:r>
          </a:p>
        </p:txBody>
      </p:sp>
      <p:pic>
        <p:nvPicPr>
          <p:cNvPr id="14" name="Picture 13" descr="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864608"/>
            <a:ext cx="5321808" cy="6127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6208" y="4873752"/>
            <a:ext cx="5001768" cy="100584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RSE：频谱效率，bit/s/Hz。最终体验还要按 RB、时间、业务协议和有效用户样本统计。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WMMSE 更新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990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输入与接收器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5047488" cy="62179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固定当前 w，依据估计信道与 C 形成 F、Ryy。</a:t>
            </a:r>
          </a:p>
        </p:txBody>
      </p:sp>
      <p:pic>
        <p:nvPicPr>
          <p:cNvPr id="6" name="Picture 5" descr="rece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642616"/>
            <a:ext cx="2991834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282696"/>
            <a:ext cx="4882896" cy="54864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A：4×r 接收矩阵，抑制干扰并估计数据流。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7608" y="13990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3912" y="1353312"/>
            <a:ext cx="52486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MSE 与权重</a:t>
            </a:r>
          </a:p>
        </p:txBody>
      </p:sp>
      <p:pic>
        <p:nvPicPr>
          <p:cNvPr id="10" name="Picture 9" descr="m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920240"/>
            <a:ext cx="5230368" cy="466997"/>
          </a:xfrm>
          <a:prstGeom prst="rect">
            <a:avLst/>
          </a:prstGeom>
        </p:spPr>
      </p:pic>
      <p:pic>
        <p:nvPicPr>
          <p:cNvPr id="11" name="Picture 10" descr="w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880360"/>
            <a:ext cx="1678283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42832" y="2971800"/>
            <a:ext cx="2414016" cy="56692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Ω：r×r MSE 权重。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" y="4160520"/>
            <a:ext cx="10945368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21207" y="441655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370832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固定量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873752"/>
            <a:ext cx="4928616" cy="8229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A、Ω、η 固定后，构造预编码二次项。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441655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4370832"/>
            <a:ext cx="5193792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外层返回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4873752"/>
            <a:ext cx="4965192" cy="8686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ADMM 更新 w → 重算接收器和速率 → 判断停止。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ADMM 求解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44168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506577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① 原变量：CG 线性求解</a:t>
            </a:r>
          </a:p>
        </p:txBody>
      </p:sp>
      <p:pic>
        <p:nvPicPr>
          <p:cNvPr id="5" name="Picture 4" descr="admm_lin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47088"/>
            <a:ext cx="5654947" cy="612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578608"/>
            <a:ext cx="10561320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Q：二次算子；B：线性项；ρ：增广惩罚参数；ν：资源组发射 RB 权重。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" y="3300984"/>
            <a:ext cx="10908792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0352" y="3593591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547872"/>
            <a:ext cx="50200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② 可行副本与对偶</a:t>
            </a:r>
          </a:p>
        </p:txBody>
      </p:sp>
      <p:pic>
        <p:nvPicPr>
          <p:cNvPr id="10" name="Picture 9" descr="admm_up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87368"/>
            <a:ext cx="6571996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4782312"/>
            <a:ext cx="10561320" cy="630936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z 对所有资源组联合投影，满足每个 TRP 的跨组预算；y 累积 x 与 z 的差。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" y="5596128"/>
            <a:ext cx="10908792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" y="5769864"/>
            <a:ext cx="105704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③ 计算原始/对偶残差并判断停止；目前正式规模存在触及迭代上限的记录。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非均匀误差机制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7160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325880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测量质量 → 链路误差</a:t>
            </a:r>
          </a:p>
        </p:txBody>
      </p:sp>
      <p:pic>
        <p:nvPicPr>
          <p:cNvPr id="5" name="Picture 4" descr="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28800"/>
            <a:ext cx="4350082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487168"/>
            <a:ext cx="4956048" cy="105156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γs：SRS SINR，dB；ts：CSI 年龄，s；τ：相关时间常数，s；ns：有效噪声方差。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7608" y="137160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325880"/>
            <a:ext cx="5184648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误差 → 接收与预编码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1865376"/>
            <a:ext cx="4919472" cy="1856231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C（4×4）进入 Ryy，改变接收器 A、MSE E 和权重 Ω；同时进入预编码二次项 Q，改变 w。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" y="4142232"/>
            <a:ext cx="10899648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21207" y="443484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389120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当前实现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901184"/>
            <a:ext cx="4864608" cy="1033271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条件协方差及其统计稳健项；还不是确定性最坏情况优化。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7608" y="443484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4389120"/>
            <a:ext cx="515721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待验证对照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4901184"/>
            <a:ext cx="4901184" cy="1033271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名义、统一误差、非均匀误差在同场景下比较边缘体验和功率。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核心变量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89888"/>
            <a:ext cx="1243584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389888"/>
            <a:ext cx="2798064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中文含义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4568" y="1389888"/>
            <a:ext cx="1591056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维度 / 单位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810512"/>
            <a:ext cx="5632704" cy="0"/>
          </a:xfrm>
          <a:prstGeom prst="line">
            <a:avLst/>
          </a:prstGeom>
          <a:ln w="19050">
            <a:solidFill>
              <a:srgbClr val="092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92024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l,k,j,g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6504" y="192024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TRP、目标UE、干扰UE、资源组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92024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索引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47802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51460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Nt,Nr,r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251460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发射端口、接收天线、数据流数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1460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64、4、2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07238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10896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Htrue, Hhat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310896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真信道、估计信道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10896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4×64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66674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70332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370332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链路条件误差协方差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70332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426110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29768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b, χ, 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46504" y="429768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调度、服务掩码、发射RB权重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9768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0/1、0/1、无量纲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85546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489204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489204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含幅度的预编码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89204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64×r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5449824"/>
            <a:ext cx="5632704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48640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p, Pₗ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46504" y="5486400"/>
            <a:ext cx="279806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组内TRP功率、TRP总预算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548640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1389888"/>
            <a:ext cx="1243584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符号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1389888"/>
            <a:ext cx="2496312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中文含义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1389888"/>
            <a:ext cx="1591056" cy="38404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Microsoft YaHei"/>
              </a:rPr>
              <a:t>维度 / 单位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64224" y="1810512"/>
            <a:ext cx="5330952" cy="0"/>
          </a:xfrm>
          <a:prstGeom prst="line">
            <a:avLst/>
          </a:prstGeom>
          <a:ln w="19050">
            <a:solidFill>
              <a:srgbClr val="092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64224" y="192024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1920240"/>
            <a:ext cx="2496312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跨TRP相干有效信道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192024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64224" y="247802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64224" y="251460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Ryy, 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7808" y="2514600"/>
            <a:ext cx="2496312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接收协方差、接收矩阵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251460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4×4、4×r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64224" y="307238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64224" y="310896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E, Ω, 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7808" y="3108960"/>
            <a:ext cx="2496312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MSE、权重、效用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10896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r×r；r×r；标量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64224" y="366674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64224" y="370332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x,z,y,ρ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7808" y="3703320"/>
            <a:ext cx="2496312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原变量、副本、对偶、罚参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370332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同w；ρ为标量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64224" y="426110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64224" y="429768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07808" y="4297680"/>
            <a:ext cx="2496312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频谱效率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429768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bit/s/Hz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364224" y="4855464"/>
            <a:ext cx="5330952" cy="0"/>
          </a:xfrm>
          <a:prstGeom prst="line">
            <a:avLst/>
          </a:prstGeom>
          <a:ln w="8255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364224" y="4892040"/>
            <a:ext cx="1243584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Rexp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07808" y="4892040"/>
            <a:ext cx="2496312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业务协议体验率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4120" y="4892040"/>
            <a:ext cx="1591056" cy="5029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000000"/>
                </a:solidFill>
                <a:latin typeface="Microsoft YaHei"/>
              </a:rPr>
              <a:t>bit/s 或协议定义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当前验证结果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4475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399032"/>
            <a:ext cx="511149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已有证据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4882896" cy="20574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实际 MATLAB 七站站址、21 TRP 与 UE 坐标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已有规模的预编码和真信道评价记录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功率预算检查与数值对拍记录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7608" y="144475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53912" y="1399032"/>
            <a:ext cx="5102352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当前不足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920240"/>
            <a:ext cx="4873752" cy="205740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正式规模停止条件尚未达到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原始边缘体验目标尚未验收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非均匀误差的增益尚未公平证明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663440"/>
            <a:ext cx="10890504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4965192"/>
            <a:ext cx="10451592" cy="107899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功率可行 ≠ 数值对拍通过 ≠ ADMM 收敛 ≠ 外层停止 ≠ 研究目标达成。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新版系统方案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1732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371600"/>
            <a:ext cx="511149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链路不确定性</a:t>
            </a:r>
          </a:p>
        </p:txBody>
      </p:sp>
      <p:pic>
        <p:nvPicPr>
          <p:cNvPr id="5" name="Picture 4" descr="rob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01952"/>
            <a:ext cx="3944149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587752"/>
            <a:ext cx="4882896" cy="1170432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Σ：拟议椭球尺度；δ：半径。需由测量统计标定，不能直接把当前 C 当作已校准椭球。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7608" y="141732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371600"/>
            <a:ext cx="5184648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拟议目标</a:t>
            </a:r>
          </a:p>
        </p:txBody>
      </p:sp>
      <p:pic>
        <p:nvPicPr>
          <p:cNvPr id="9" name="Picture 8" descr="propos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938528"/>
            <a:ext cx="5102352" cy="6307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9632" y="2770632"/>
            <a:ext cx="4892040" cy="13258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兼顾公平效用、功率和链路组稀疏；权重 λp、λs 及效用 U 尚须定标。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" y="4645152"/>
            <a:ext cx="10890504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910328"/>
            <a:ext cx="10552176" cy="96012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方案是待验证的研究路径；当前代码仍按条件协方差进行集中式预编码优化。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新方案关键机制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496" y="1426464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80744"/>
            <a:ext cx="107350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01  误差椭球与最坏情况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947672"/>
            <a:ext cx="10378440" cy="6949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先标定链路误差尺度，再定义内层最坏情况问题；联合问题仍需分析凸性。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72" y="2788920"/>
            <a:ext cx="10917936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9496" y="2999232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53512"/>
            <a:ext cx="107350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02  功率与组稀疏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520440"/>
            <a:ext cx="10378440" cy="6949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在公平效用外加入功率和链路稀疏代价；关闭链路与TRP休眠分别判定。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" y="4361688"/>
            <a:ext cx="10917936" cy="0"/>
          </a:xfrm>
          <a:prstGeom prst="line">
            <a:avLst/>
          </a:prstGeom>
          <a:ln w="15240">
            <a:solidFill>
              <a:srgbClr val="D9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9496" y="4572000"/>
            <a:ext cx="68580" cy="320040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10735056" cy="411480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0000"/>
                </a:solidFill>
                <a:latin typeface="Microsoft YaHei"/>
              </a:rPr>
              <a:t>03  本地共识与事件触发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5093208"/>
            <a:ext cx="10378440" cy="694944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Microsoft YaHei"/>
              </a:rPr>
              <a:t>定义TRP本地变量、CPU共识、消息缓存与触发条件；以通信量及收敛实测验证。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479024" cy="292608"/>
          </a:xfrm>
          <a:prstGeom prst="rect">
            <a:avLst/>
          </a:prstGeom>
          <a:noFill/>
        </p:spPr>
        <p:txBody>
          <a:bodyPr wrap="square" lIns="13716" rIns="13716" tIns="1371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Microsoft YaHei"/>
              </a:rPr>
              <a:t>当前边界：最坏情况、TRP 分布式与事件触发均未接入正式运行链。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1.2"/>
</p:tagLst>
</file>

<file path=ppt/tags/tag2.xml><?xml version="1.0" encoding="utf-8"?>
<p:tagLst xmlns:p="http://schemas.openxmlformats.org/presentationml/2006/main">
  <p:tag name="PA" val="v5.1.2"/>
</p:tagLst>
</file>

<file path=ppt/tags/tag3.xml><?xml version="1.0" encoding="utf-8"?>
<p:tagLst xmlns:p="http://schemas.openxmlformats.org/presentationml/2006/main">
  <p:tag name="PA" val="v5.1.2"/>
</p:tagLst>
</file>

<file path=ppt/tags/tag4.xml><?xml version="1.0" encoding="utf-8"?>
<p:tagLst xmlns:p="http://schemas.openxmlformats.org/presentationml/2006/main">
  <p:tag name="PA" val="v5.1.2"/>
</p:tagLst>
</file>

<file path=ppt/tags/tag5.xml><?xml version="1.0" encoding="utf-8"?>
<p:tagLst xmlns:p="http://schemas.openxmlformats.org/presentationml/2006/main">
  <p:tag name="PA" val="v5.1.2"/>
</p:tagLst>
</file>

<file path=ppt/tags/tag6.xml><?xml version="1.0" encoding="utf-8"?>
<p:tagLst xmlns:p="http://schemas.openxmlformats.org/presentationml/2006/main">
  <p:tag name="PA" val="v5.1.2"/>
</p:tagLst>
</file>

<file path=ppt/tags/tag7.xml><?xml version="1.0" encoding="utf-8"?>
<p:tagLst xmlns:p="http://schemas.openxmlformats.org/presentationml/2006/main">
  <p:tag name="PA" val="v5.1.2"/>
</p:tagLst>
</file>

<file path=ppt/tags/tag8.xml><?xml version="1.0" encoding="utf-8"?>
<p:tagLst xmlns:p="http://schemas.openxmlformats.org/presentationml/2006/main">
  <p:tag name="PA" val="v5.1.2"/>
</p:tagLst>
</file>

<file path=ppt/tags/tag9.xml><?xml version="1.0" encoding="utf-8"?>
<p:tagLst xmlns:p="http://schemas.openxmlformats.org/presentationml/2006/main">
  <p:tag name="PA" val="v5.1.2"/>
</p:tagLst>
</file>

<file path=ppt/tags/tag10.xml><?xml version="1.0" encoding="utf-8"?>
<p:tagLst xmlns:p="http://schemas.openxmlformats.org/presentationml/2006/main">
  <p:tag name="PA" val="v5.1.2"/>
</p:tagLst>
</file>

<file path=ppt/tags/tag11.xml><?xml version="1.0" encoding="utf-8"?>
<p:tagLst xmlns:p="http://schemas.openxmlformats.org/presentationml/2006/main">
  <p:tag name="PA" val="v5.1.2"/>
</p:tagLst>
</file>

<file path=ppt/tags/tag12.xml><?xml version="1.0" encoding="utf-8"?>
<p:tagLst xmlns:p="http://schemas.openxmlformats.org/presentationml/2006/main">
  <p:tag name="PA" val="v5.1.2"/>
</p:tagLst>
</file>

<file path=ppt/tags/tag13.xml><?xml version="1.0" encoding="utf-8"?>
<p:tagLst xmlns:p="http://schemas.openxmlformats.org/presentationml/2006/main">
  <p:tag name="PA" val="v5.1.2"/>
</p:tagLst>
</file>

<file path=ppt/tags/tag14.xml><?xml version="1.0" encoding="utf-8"?>
<p:tagLst xmlns:p="http://schemas.openxmlformats.org/presentationml/2006/main">
  <p:tag name="PA" val="v5.1.2"/>
</p:tagLst>
</file>

<file path=ppt/tags/tag15.xml><?xml version="1.0" encoding="utf-8"?>
<p:tagLst xmlns:p="http://schemas.openxmlformats.org/presentationml/2006/main">
  <p:tag name="PA" val="v5.1.2"/>
</p:tagLst>
</file>

<file path=ppt/tags/tag16.xml><?xml version="1.0" encoding="utf-8"?>
<p:tagLst xmlns:p="http://schemas.openxmlformats.org/presentationml/2006/main">
  <p:tag name="PA" val="v5.1.2"/>
</p:tagLst>
</file>

<file path=ppt/tags/tag17.xml><?xml version="1.0" encoding="utf-8"?>
<p:tagLst xmlns:p="http://schemas.openxmlformats.org/presentationml/2006/main">
  <p:tag name="PA" val="v5.1.2"/>
</p:tagLst>
</file>

<file path=ppt/tags/tag18.xml><?xml version="1.0" encoding="utf-8"?>
<p:tagLst xmlns:p="http://schemas.openxmlformats.org/presentationml/2006/main">
  <p:tag name="PA" val="v5.1.2"/>
</p:tagLst>
</file>

<file path=ppt/tags/tag19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0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1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2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3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4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5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6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7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8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9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0.xml><?xml version="1.0" encoding="utf-8"?>
<p:tagLst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131.xml><?xml version="1.0" encoding="utf-8"?>
<p:tagLst xmlns:p="http://schemas.openxmlformats.org/presentationml/2006/main">
  <p:tag name="COMMONDATA" val="eyJoZGlkIjoiMWJmYmVhMGQ2YWQwOTc0ZDFkYmVkZTE0NzFkNThlYzIifQ==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9662</Words>
  <Application>WPS Office WWO_wpscloud_20251119194033-e37bccecd3</Application>
  <PresentationFormat>宽屏</PresentationFormat>
  <Paragraphs>615</Paragraphs>
  <Slides>23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8" baseType="lpstr">
      <vt:lpstr>Arial</vt:lpstr>
      <vt:lpstr>宋体</vt:lpstr>
      <vt:lpstr>Wingdings</vt:lpstr>
      <vt:lpstr>汉仪书宋二KW</vt:lpstr>
      <vt:lpstr>Century Gothic</vt:lpstr>
      <vt:lpstr>微软雅黑</vt:lpstr>
      <vt:lpstr>汉仪旗黑KW 55S</vt:lpstr>
      <vt:lpstr>微软雅黑 Light</vt:lpstr>
      <vt:lpstr>Wingdings 3</vt:lpstr>
      <vt:lpstr>Kingsoft Sign</vt:lpstr>
      <vt:lpstr>Arial</vt:lpstr>
      <vt:lpstr>Calibri</vt:lpstr>
      <vt:lpstr>Calibri</vt:lpstr>
      <vt:lpstr>等线</vt:lpstr>
      <vt:lpstr>汉仪中等线KW</vt:lpstr>
      <vt:lpstr>Times New Roman</vt:lpstr>
      <vt:lpstr>黑体</vt:lpstr>
      <vt:lpstr>Kingsoft Confetti</vt:lpstr>
      <vt:lpstr>Symbol</vt:lpstr>
      <vt:lpstr>Cambria Math</vt:lpstr>
      <vt:lpstr>仿宋_GB2312</vt:lpstr>
      <vt:lpstr>Kingsoft Math</vt:lpstr>
      <vt:lpstr>汉仪仿宋KW</vt:lpstr>
      <vt:lpstr>Office 主题​​</vt:lpstr>
      <vt:lpstr>1_Office 主题​​</vt:lpstr>
      <vt:lpstr>PowerPoint 演示文稿</vt:lpstr>
      <vt:lpstr>主要内容</vt:lpstr>
      <vt:lpstr>PowerPoint 演示文稿</vt:lpstr>
      <vt:lpstr>PowerPoint 演示文稿</vt:lpstr>
      <vt:lpstr>PowerPoint 演示文稿</vt:lpstr>
      <vt:lpstr>选题依据：星载智能面临的关键挑战</vt:lpstr>
      <vt:lpstr>选题依据：星载智能面临的关键挑战</vt:lpstr>
      <vt:lpstr>PowerPoint 演示文稿</vt:lpstr>
      <vt:lpstr>主要内容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敬请各位老师批评指正！</vt:lpstr>
    </vt:vector>
  </TitlesOfParts>
  <Company>Guilddesign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赵慧</cp:lastModifiedBy>
  <cp:lastPrinted>2025-12-14T09:05:23Z</cp:lastPrinted>
  <dcterms:created xsi:type="dcterms:W3CDTF">2025-12-14T09:05:23Z</dcterms:created>
  <dcterms:modified xsi:type="dcterms:W3CDTF">2025-12-14T09:05:23Z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