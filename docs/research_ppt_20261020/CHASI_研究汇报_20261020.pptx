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3"/>
  </p:sldMasterIdLst>
  <p:notesMasterIdLst>
    <p:notesMasterId r:id="rId5"/>
  </p:notesMasterIdLst>
  <p:handoutMasterIdLst>
    <p:handoutMasterId r:id="rId28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10"/>
    <p:sldId id="274" r:id="rId9"/>
    <p:sldId id="275" r:id="rId8"/>
    <p:sldId id="276" r:id="rId7"/>
    <p:sldId id="277" r:id="rId6"/>
    <p:sldId id="278" r:id="rId4"/>
    <p:sldId id="279" r:id="rId34"/>
    <p:sldId id="280" r:id="rId35"/>
    <p:sldId id="281" r:id="rId36"/>
    <p:sldId id="282" r:id="rId37"/>
  </p:sldIdLst>
  <p:sldSz cx="12192000" cy="6858000"/>
  <p:notesSz cx="7099300" cy="10234295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0663" autoAdjust="0"/>
  </p:normalViewPr>
  <p:slideViewPr>
    <p:cSldViewPr showGuides="1">
      <p:cViewPr varScale="1">
        <p:scale>
          <a:sx n="100" d="100"/>
          <a:sy n="100" d="100"/>
        </p:scale>
        <p:origin x="512" y="56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2.xml"/><Relationship Id="rId7" Type="http://schemas.openxmlformats.org/officeDocument/2006/relationships/slide" Target="slides/slide21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commentAuthors" Target="commentAuthors.xml"/><Relationship Id="rId33" Type="http://schemas.openxmlformats.org/officeDocument/2006/relationships/tags" Target="tags/tag131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本页回答：研究对象是什么。讲解顺序：茶思场景、测量误差、协同求解、证据。公式与符号：无。衔接：下一页给出阅读路径。依据：原始三图、db9d7e3 源码、新版系统方案。追问：是否验收完成？答：不是，正式收敛和物理指标仍待验证。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本页回答：这套汇报怎样读？</a:t>
            </a:r>
          </a:p>
          <a:p>
            <a:r>
              <a:t>讲解顺序：场景→信息流→数学模型→求解→验证→新方案。</a:t>
            </a:r>
          </a:p>
          <a:p>
            <a:r>
              <a:t>公式与符号：预编码 w 是最终算法输出；真实信道与业务代理决定评价值。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依据：CHASI_UNIFIED_TRACE.tex; chasi_run.m</a:t>
            </a:r>
          </a:p>
          <a:p>
            <a:r>
              <a:t>老师可能追问：为什么先讲模型？答：否则难以判定求解器优化了哪些量。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本页回答：为什么研究？</a:t>
            </a:r>
          </a:p>
          <a:p>
            <a:r>
              <a:t>讲解顺序：从左至右讲痛点和验收目标，再讲现有与计划。</a:t>
            </a:r>
          </a:p>
          <a:p>
            <a:r>
              <a:t>公式与符号：80%/10%/30%来自原始任务比较要求，口径需与协议统一。</a:t>
            </a:r>
          </a:p>
          <a:p>
            <a:r>
              <a:t>衔接：请顺着目录从上一页的问题走到下一页的计算。</a:t>
            </a:r>
          </a:p>
          <a:p>
            <a:r>
              <a:t>依据：难题1.png; 典型验收场景.png; 用户速率协议定义.png</a:t>
            </a:r>
          </a:p>
          <a:p>
            <a:r>
              <a:t>老师可能追问：目标是否已达到？答：没有正式验收证明。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本页回答：原始要求有哪些？</a:t>
            </a:r>
          </a:p>
          <a:p>
            <a:r>
              <a:t>讲解顺序：先讲部署与资源，再讲三项对照目标，最后指出未定义口径。</a:t>
            </a:r>
          </a:p>
          <a:p>
            <a:r>
              <a:t>公式与符号：UE体验率不是SE；协议按有效突发/UE秒取样。</a:t>
            </a:r>
          </a:p>
          <a:p>
            <a:r>
              <a:t>衔接：请顺着目录从上一页的问题走到下一页的计算。</a:t>
            </a:r>
          </a:p>
          <a:p>
            <a:r>
              <a:t>依据：三张原始任务图；CHASI_VARIABLE_ACCEPTANCE_20261017.md</a:t>
            </a:r>
          </a:p>
          <a:p>
            <a:r>
              <a:t>老师可能追问：30%负载完成了吗？答：默认 legacy_bursts 并未消费名义30%。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本页回答：正式拓扑是什么？</a:t>
            </a:r>
          </a:p>
          <a:p>
            <a:r>
              <a:t>讲解顺序：从中心站、六个外站、站距、UE点色和扇区主方向依次讲。</a:t>
            </a:r>
          </a:p>
          <a:p>
            <a:r>
              <a:t>公式与符号：s₁=(450,450)m；sₘ=s₁+300[cos(mπ/3),sin(mπ/3)]ᵀ。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依据：chasi_geometry_from_samples.m; seed 20261011 MATLAB scene; topology_manifest.json</a:t>
            </a:r>
          </a:p>
          <a:p>
            <a:r>
              <a:t>老师可能追问：扇形是覆盖边界吗？答：仅为25–150m的项目采样假设。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本页回答：归属、扇区与协同服务如何区分？</a:t>
            </a:r>
          </a:p>
          <a:p>
            <a:r>
              <a:t>讲解顺序：先看共址扇区，再看 UE 归属，最后看资源组内服务线。</a:t>
            </a:r>
          </a:p>
          <a:p>
            <a:r>
              <a:t>公式与符号：home(k) 是初始归属；χₗₖg 是组内固定服务掩码。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依据：chasi_generate_scene.m; topology_manifest.json</a:t>
            </a:r>
          </a:p>
          <a:p>
            <a:r>
              <a:t>老师可能追问：画出的线是实际服务吗？答：取自 MATLAB scene.resources(1).servingMask。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本页回答：信息在哪里流动、计算在哪里发生？</a:t>
            </a:r>
          </a:p>
          <a:p>
            <a:r>
              <a:t>讲解顺序：UE测量→仿真观测→集中场景/求解→TRP预编码块→下行。</a:t>
            </a:r>
          </a:p>
          <a:p>
            <a:r>
              <a:t>公式与符号：Ĥ,C是估计与误差统计；wₗₖg 是每TRP的发射块。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依据：chasi_run.m; chasi_generate_scene.m; chasi_matrix_wmmse.m</a:t>
            </a:r>
          </a:p>
          <a:p>
            <a:r>
              <a:t>老师可能追问：是否已有前传通信？答：没有实际消息或节点部署，单进程等效计算。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本页回答：预编码怎样被生成与评价？</a:t>
            </a:r>
          </a:p>
          <a:p>
            <a:r>
              <a:t>讲解顺序：依次念输入、变换、输出，停在 w 和真实信道评价。</a:t>
            </a:r>
          </a:p>
          <a:p>
            <a:r>
              <a:t>公式与符号：Hᵗʳᵘᵉ 参与合成观测；非理想求解使用 Ĥ,C；最后用 Hᵗʳᵘᵉ 评价。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依据：chasi_run.m:39–135; CHASI_UNIFIED_TRACE C01–C38</a:t>
            </a:r>
          </a:p>
          <a:p>
            <a:r>
              <a:t>老师可能追问：哪些变量被优化？答：静态正式链主要优化 w，b/χ/r/ν按规则给定。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本页回答：Hᵗʳᵘᵉ 从哪里来？</a:t>
            </a:r>
          </a:p>
          <a:p>
            <a:r>
              <a:t>讲解顺序：站址/UE→距离和方向增益→大尺度 β→接收相关小尺度矩阵。</a:t>
            </a:r>
          </a:p>
          <a:p>
            <a:r>
              <a:t>公式与符号：Hᵗʳᵘᵉₖₗg ∈ ℂ⁴ˣ⁶⁴；默认几何相关 surrogate，不是完整物理阵列。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依据：chasi_geometry_from_samples.m; chasi_generate_scene.m; C01–C06</a:t>
            </a:r>
          </a:p>
          <a:p>
            <a:r>
              <a:t>老师可能追问：8×4×2阵列是否建模？答：当前仅64个发射端口，没有完整物理双极化阵列。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本页回答：测量不准如何表示？</a:t>
            </a:r>
          </a:p>
          <a:p>
            <a:r>
              <a:t>讲解顺序：先看噪声与年龄，再看先验+CSI-RS+SRS精度相加。</a:t>
            </a:r>
          </a:p>
          <a:p>
            <a:r>
              <a:t>公式与符号：Cₖₗg∈ℂ⁴ˣ⁴；每个64发射列共享该接收侧协方差，非完整空间椭球。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依据：chasi_generate_scene.m:65–110; C10–C12</a:t>
            </a:r>
          </a:p>
          <a:p>
            <a:r>
              <a:t>老师可能追问：不同链路误差为何不同？答：β、观测SNR与年龄进入各链路后验。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本页回答：资源决策哪些被实际优化？</a:t>
            </a:r>
          </a:p>
          <a:p>
            <a:r>
              <a:t>讲解顺序：按资源组、调度、服务、rank和跨组权重逐项区分。</a:t>
            </a:r>
          </a:p>
          <a:p>
            <a:r>
              <a:t>公式与符号：b∈{0,1}；χ∈{0,1}；νg=nᵗˣg/273；w∈ℂ⁶⁴ˣʳ。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依据：chasi_generate_scene.m:48–130; chasi_matrix_wmmse.m</a:t>
            </a:r>
          </a:p>
          <a:p>
            <a:r>
              <a:t>老师可能追问：搜索法是否正在优化这些变量？答：旧搜索链没有接入正式入口。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本页回答：一个 UE 的速率怎么算？</a:t>
            </a:r>
          </a:p>
          <a:p>
            <a:r>
              <a:t>讲解顺序：从发送 x、有效 F、接收协方差、真信道率依次讲。</a:t>
            </a:r>
          </a:p>
          <a:p>
            <a:r>
              <a:t>公式与符号：Fₖⱼg=Σₗ Hₖₗg wₗⱼg；不同站信号先相加后平方。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依据：chasi_matrix_wmmse&gt;state,trueRates; chasi_evaluate&gt;true_rates; C15–C20,C32</a:t>
            </a:r>
          </a:p>
          <a:p>
            <a:r>
              <a:t>老师可能追问：是否真的发射了符号？答：当前计算二阶等效量，无OFDM波形。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本页回答：目标与最终指标是否相同？</a:t>
            </a:r>
          </a:p>
          <a:p>
            <a:r>
              <a:t>讲解顺序：左边是求解器可见目标，右边是真信道与业务代理。</a:t>
            </a:r>
          </a:p>
          <a:p>
            <a:r>
              <a:t>公式与符号：Jsum=ΣgνgΣk Rˢᴱ,est；PF分支另用 Σk log(1+Rk/f)。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依据：chasi_matrix_wmmse&gt;objectiveSnapshot; chasi_evaluate.m; C21–C23,C32–C36</a:t>
            </a:r>
          </a:p>
          <a:p>
            <a:r>
              <a:t>老师可能追问：总SE提高能证明用户体验目标吗？答：不能，业务与分位口径不同。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本页回答：慢层与快层目前怎样分工？</a:t>
            </a:r>
          </a:p>
          <a:p>
            <a:r>
              <a:t>讲解顺序：左讲GA/PSO怎样找候选，右讲当前WMMSE–ADMM；中间是正式入口未接通。</a:t>
            </a:r>
          </a:p>
          <a:p>
            <a:r>
              <a:t>公式与符号：历史候选 x∈[0,1]⁹ 默认目标 Jold；可选旧场景矩阵适配目标另定义。</a:t>
            </a:r>
          </a:p>
          <a:p>
            <a:r>
              <a:t>衔接：请顺着目录从上一页的问题走到下一页的计算。</a:t>
            </a:r>
          </a:p>
          <a:p>
            <a:r>
              <a:t>依据：matlab/core/cf_search.m,cf_decode_candidate.m,cf_evaluate_chasi_native_candidate.m; matlab/chasi/chasi_run.m; L03–L17</a:t>
            </a:r>
          </a:p>
          <a:p>
            <a:r>
              <a:t>老师可能追问：旧搜索是否调用矩阵求解器？答：有条件旧场景适配，但正式 chasi_run 没调用旧搜索。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本页回答：两个循环如何嵌套？</a:t>
            </a:r>
          </a:p>
          <a:p>
            <a:r>
              <a:t>讲解顺序：从 w 起点顺箭头到 A/E/Ω，再进入固定统计的ADMM并返回。</a:t>
            </a:r>
          </a:p>
          <a:p>
            <a:r>
              <a:t>公式与符号：外层停止需目标与预编码变化、最近 ADMM 状态；默认最多2轮。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依据：chasi_matrix_wmmse.m:41–103,446–489; C24–C31</a:t>
            </a:r>
          </a:p>
          <a:p>
            <a:r>
              <a:t>老师可能追问：ADMM就是TRP分布式吗？答：当前所有变量仍在单进程内。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本页回答：当前 w 怎样形成接收侧统计？</a:t>
            </a:r>
          </a:p>
          <a:p>
            <a:r>
              <a:t>讲解顺序：逐块算 F，再汇总用户信号与误差干扰。</a:t>
            </a:r>
          </a:p>
          <a:p>
            <a:r>
              <a:t>公式与符号：F∈ℂ⁴ˣʳ；Rʸʸ∈ℂ⁴ˣ⁴；pₗg=Σⱼ∥wₗⱼg∥²。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依据：chasi_matrix_wmmse&gt;state:380–407; C16–C17</a:t>
            </a:r>
          </a:p>
          <a:p>
            <a:r>
              <a:t>老师可能追问：C 的作用是什么？答：Σₗpₗg Cₖₗg 加到接收协方差。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本页回答：MMSE 三步如何更新？</a:t>
            </a:r>
          </a:p>
          <a:p>
            <a:r>
              <a:t>讲解顺序：固定 w、Ĥ、C；先 A，再 E，最后 Ω。</a:t>
            </a:r>
          </a:p>
          <a:p>
            <a:r>
              <a:t>公式与符号：A∈ℂ⁴ˣʳ；E,Ω∈ℂʳˣʳ。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依据：chasi_matrix_wmmse&gt;state:380–407; C18–C20</a:t>
            </a:r>
          </a:p>
          <a:p>
            <a:r>
              <a:t>老师可能追问：为什么 Ω=E⁻¹？答：高斯率与加权MSE的辅助变量最优更新。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本页回答：预编码子问题从哪里来？</a:t>
            </a:r>
          </a:p>
          <a:p>
            <a:r>
              <a:t>讲解顺序：先解释η，再逐项讲M、B、D和算子Q，最后讲约束。</a:t>
            </a:r>
          </a:p>
          <a:p>
            <a:r>
              <a:t>公式与符号：η 为用户效用导数权重；M[4,4],B[64,r],D标量。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依据：chasi_matrix_wmmse&gt;objectiveSnapshot,quadratic,qapply; C22–C26</a:t>
            </a:r>
          </a:p>
          <a:p>
            <a:r>
              <a:t>老师可能追问：整个联合问题凸吗？答：不能；只讨论固定辅助变量后的子问题。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本页回答：为什么要跨组一起投影？</a:t>
            </a:r>
          </a:p>
          <a:p>
            <a:r>
              <a:t>讲解顺序：解释x/z/y后按四个动作走一轮，强调返回可行z。</a:t>
            </a:r>
          </a:p>
          <a:p>
            <a:r>
              <a:t>公式与符号：(νg Qg+ρI/2)xg=νgBg+ρ(zg−yg)/2；Pₗ是全组共享。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依据：chasi_matrix_wmmse&gt;precoder_admm,cg,project; C27–C30</a:t>
            </a:r>
          </a:p>
          <a:p>
            <a:r>
              <a:t>老师可能追问：12步停止了吗？答：正式210/420案例到上限，残差未过；仍返回功率可行z。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本页回答：非均匀 C 是怎样形成的？</a:t>
            </a:r>
          </a:p>
          <a:p>
            <a:r>
              <a:t>讲解顺序：SRS SINR/年龄和CSI-RS进入观测噪声，先验进入后验。</a:t>
            </a:r>
          </a:p>
          <a:p>
            <a:r>
              <a:t>公式与符号：C₀=βRrx；ns=β·10⁻ᵞˢ/¹⁰exp(2ts/τ)；单位为归一化信道协方差。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依据：chasi_generate_scene.m:70–102; C10–C12</a:t>
            </a:r>
          </a:p>
          <a:p>
            <a:r>
              <a:t>老师可能追问：是否已校准成确定性椭球？答：没有，当前是统计后验。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本页回答：统计误差怎样影响 w？</a:t>
            </a:r>
          </a:p>
          <a:p>
            <a:r>
              <a:t>讲解顺序：从Rʸʸ开始沿A/E/Ω，再到D和Q，最后看真信道评价。</a:t>
            </a:r>
          </a:p>
          <a:p>
            <a:r>
              <a:t>公式与符号：Rʸʸ=I+ΣFFᴴ+ΣpC；Dₗ=Σₖtr(AηΩAᴴCₖₗ)。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依据：chasi_matrix_wmmse&gt;state,quadratic,qapply; C17–C26</a:t>
            </a:r>
          </a:p>
          <a:p>
            <a:r>
              <a:t>老师可能追问：非均匀方案已证明更优吗？答：机制已接入，公平对照与正式增益未证明。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本页回答：之后遇到符号如何迅速定位？</a:t>
            </a:r>
          </a:p>
          <a:p>
            <a:r>
              <a:t>讲解顺序：先按六组读，详表见附录 CSV。</a:t>
            </a:r>
          </a:p>
          <a:p>
            <a:r>
              <a:t>公式与符号：维度按单组K_g；g=1..17,l=1..21,k/j=UE。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依据：CHASI_UNIFIED_TRACE.tex; CHASI_VARIABLE_ACCEPTANCE_20261017.md</a:t>
            </a:r>
          </a:p>
          <a:p>
            <a:r>
              <a:t>老师可能追问：p是什么？答：由含幅度的w求出的功率，不是独立乘到发送信号。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本页回答：当前证据该怎么读？</a:t>
            </a:r>
          </a:p>
          <a:p>
            <a:r>
              <a:t>讲解顺序：按已通过、可运行但未停、缺口三栏讲。</a:t>
            </a:r>
          </a:p>
          <a:p>
            <a:r>
              <a:t>公式与符号：210/420 UE结果属于旧半径分布保存场景；新面积均匀拓扑只做场景验证。</a:t>
            </a:r>
          </a:p>
          <a:p>
            <a:r>
              <a:t>衔接：请顺着目录从上一页的问题走到下一页的计算。</a:t>
            </a:r>
          </a:p>
          <a:p>
            <a:r>
              <a:t>依据：CHASI_VALIDATION_20261017.md; CHASI_TOPOLOGY_AUDIT_20261019.md</a:t>
            </a:r>
          </a:p>
          <a:p>
            <a:r>
              <a:t>老师可能追问：数值对拍能证明算法收敛吗？答：不能，停止原因为预算耗尽。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本页回答：新版鲁棒集想增加什么？</a:t>
            </a:r>
          </a:p>
          <a:p>
            <a:r>
              <a:t>讲解顺序：先讲现有C，再讲椭球的构造与校准问题。</a:t>
            </a:r>
          </a:p>
          <a:p>
            <a:r>
              <a:t>公式与符号：𝒰ₖₗ={e:eᴴΣₖₗ⁻¹e≤τₖₗ} 是拟议不确定集，非现行求解器输入。</a:t>
            </a:r>
          </a:p>
          <a:p>
            <a:r>
              <a:t>衔接：请顺着目录从上一页的问题走到下一页的计算。</a:t>
            </a:r>
          </a:p>
          <a:p>
            <a:r>
              <a:t>依据：202610-系统方案v2.pdf pp1,5–7; current chasi_generate_scene.m</a:t>
            </a:r>
          </a:p>
          <a:p>
            <a:r>
              <a:t>老师可能追问：C能直接叫椭球吗？答：不能；还要选分位半径、空间坐标和覆盖概率。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本页回答：新目标与当前目标差在哪里？</a:t>
            </a:r>
          </a:p>
          <a:p>
            <a:r>
              <a:t>讲解顺序：解释效用、功率、组稀疏三项及各自证据缺口。</a:t>
            </a:r>
          </a:p>
          <a:p>
            <a:r>
              <a:t>公式与符号：拟议：max U(R)−λp∑pₗ−λs∑ₗₖ∥wₗₖ∥₂；不是当前源码目标。</a:t>
            </a:r>
          </a:p>
          <a:p>
            <a:r>
              <a:t>衔接：请顺着目录从上一页的问题走到下一页的计算。</a:t>
            </a:r>
          </a:p>
          <a:p>
            <a:r>
              <a:t>依据：202610-系统方案v2.pdf pp1–3; current objectiveSnapshot</a:t>
            </a:r>
          </a:p>
          <a:p>
            <a:r>
              <a:t>老师可能追问：链路剪枝就是TRP休眠吗？答：不是，须所有该TRP链路为零且硬件休眠建模。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本页回答：分布式一词需要哪些实际机制？</a:t>
            </a:r>
          </a:p>
          <a:p>
            <a:r>
              <a:t>讲解顺序：依次讲本地变量、消息、缓存、触发、收敛条件。</a:t>
            </a:r>
          </a:p>
          <a:p>
            <a:r>
              <a:t>公式与符号：拟议：xₗ 本地、z 共识、y 对偶；触发阈值须与异步/陈旧消息分析兼容。</a:t>
            </a:r>
          </a:p>
          <a:p>
            <a:r>
              <a:t>衔接：请顺着目录从上一页的问题走到下一页的计算。</a:t>
            </a:r>
          </a:p>
          <a:p>
            <a:r>
              <a:t>依据：202610-系统方案v2.pdf pp2–4; current chasi_matrix_wmmse.m</a:t>
            </a:r>
          </a:p>
          <a:p>
            <a:r>
              <a:t>老师可能追问：当前ADMM是否在TRP上运行？答：没有，单进程集中式。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本页回答：明天汇报最终应留下什么结论？</a:t>
            </a:r>
          </a:p>
          <a:p>
            <a:r>
              <a:t>讲解顺序：先复述当前能做的，再列三项下一阶段可检验命题。</a:t>
            </a:r>
          </a:p>
          <a:p>
            <a:r>
              <a:t>公式与符号：当前联合问题非凸；更大误差不必然生成更宽波束。</a:t>
            </a:r>
          </a:p>
          <a:p>
            <a:r>
              <a:t>衔接：请顺着目录从上一页的问题走到下一页的计算。</a:t>
            </a:r>
          </a:p>
          <a:p>
            <a:r>
              <a:t>依据：202610-系统方案v2.pdf; CHASI_VALIDATION_20261017.md; source db9d7e3</a:t>
            </a:r>
          </a:p>
          <a:p>
            <a:r>
              <a:t>老师可能追问：方案声称30%功率或60–80%交互节省可靠吗？答：目前只能作为待验证目标。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  <a:endParaRPr lang="zh-CN" altLang="en-US" sz="3600" b="1" spc="600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  <a:endParaRPr lang="zh-CN" altLang="en-US" sz="540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  <a:endParaRPr lang="zh-CN" altLang="en-US" sz="3600" b="1" spc="600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  <a:endParaRPr lang="zh-CN" altLang="en-US" sz="540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029968"/>
            <a:ext cx="12191695" cy="2048256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92B56"/>
                </a:solidFill>
                <a:latin typeface="Microsoft YaHei"/>
              </a:rPr>
              <a:t>开题报告 · 研究进展汇报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86584"/>
            <a:ext cx="1097280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Microsoft YaHei"/>
              </a:rPr>
              <a:t>测量误差感知的用户中心多 TRP 协同优化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9272"/>
            <a:ext cx="103327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icrosoft YaHei"/>
              </a:rPr>
              <a:t>茶思验收场景 · 物理模型 · WMMSE–ADMM · 验证边界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27448"/>
            <a:ext cx="101498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92B56"/>
                </a:solidFill>
                <a:latin typeface="Microsoft YaHei"/>
              </a:rPr>
              <a:t>2026 年 10 月 20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阅读路径：从部署坐标走到可评价的预编码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65960"/>
            <a:ext cx="258775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965960"/>
            <a:ext cx="77724" cy="246888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66543"/>
            <a:ext cx="227685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01  场景与架构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2267712" cy="1837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实际站址、UE、测量和CPU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965960"/>
            <a:ext cx="258775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5576" y="1965960"/>
            <a:ext cx="77724" cy="246888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066543"/>
            <a:ext cx="227685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02  代码与数学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505456"/>
            <a:ext cx="2267712" cy="1837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Hᵗʳᵘᵉ → Ĥ,C → b,χ,ν → 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965960"/>
            <a:ext cx="258775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965960"/>
            <a:ext cx="77724" cy="246888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066543"/>
            <a:ext cx="227685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03  算法与误差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05456"/>
            <a:ext cx="2267712" cy="1837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WMMSE–ADMM、非均匀统计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8008" y="1965960"/>
            <a:ext cx="258775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08008" y="1965960"/>
            <a:ext cx="77724" cy="246888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066543"/>
            <a:ext cx="227685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04  证据与新方案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505456"/>
            <a:ext cx="2267712" cy="1837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能证明什么、计划增加什么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研究框架：困难、目标、方法、创新、验证各有位置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1874519"/>
            <a:ext cx="212140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1874519"/>
            <a:ext cx="77724" cy="29718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75103"/>
            <a:ext cx="1810511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60A6"/>
                </a:solidFill>
                <a:latin typeface="Microsoft YaHei"/>
              </a:rPr>
              <a:t>困难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14015"/>
            <a:ext cx="1801367" cy="23408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SRS/CSI 不准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边缘 UE 易受损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多TRP计算规模大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6896" y="3200400"/>
            <a:ext cx="246888" cy="292608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9776" y="1874519"/>
            <a:ext cx="212140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9776" y="1874519"/>
            <a:ext cx="77724" cy="29718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975103"/>
            <a:ext cx="1810511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60A6"/>
                </a:solidFill>
                <a:latin typeface="Microsoft YaHei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414015"/>
            <a:ext cx="1801367" cy="23408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边缘体验对照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功率与资源约束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正式规模可计算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37760" y="3200400"/>
            <a:ext cx="246888" cy="292608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874519"/>
            <a:ext cx="212140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74519"/>
            <a:ext cx="77724" cy="29718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975103"/>
            <a:ext cx="1810511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60A6"/>
                </a:solidFill>
                <a:latin typeface="Microsoft YaHei"/>
              </a:rPr>
              <a:t>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14015"/>
            <a:ext cx="1801367" cy="23408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固定资源规则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矩阵 WMMSE–ADMM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旧搜索独立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78624" y="3200400"/>
            <a:ext cx="246888" cy="292608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1874519"/>
            <a:ext cx="212140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1874519"/>
            <a:ext cx="77724" cy="297180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975103"/>
            <a:ext cx="1810511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B2A33"/>
                </a:solidFill>
                <a:latin typeface="Microsoft YaHei"/>
              </a:rPr>
              <a:t>创新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414015"/>
            <a:ext cx="1801367" cy="23408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链路质量→非均匀 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拟议椭球与分布式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19488" y="3200400"/>
            <a:ext cx="246888" cy="292608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02368" y="1874519"/>
            <a:ext cx="212140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02368" y="1874519"/>
            <a:ext cx="77724" cy="29718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1975103"/>
            <a:ext cx="1810511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60A6"/>
                </a:solidFill>
                <a:latin typeface="Microsoft YaHei"/>
              </a:rPr>
              <a:t>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414015"/>
            <a:ext cx="1801367" cy="23408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真信道体验分位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跨组功率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F5B69"/>
                </a:solidFill>
                <a:latin typeface="Microsoft YaHei"/>
              </a:rPr>
              <a:t>停止与公平对照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验收场景给出约束，评价协议决定“体验”分母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521208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77724" cy="349300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正式场景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48255"/>
            <a:ext cx="4892040" cy="2862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7站 × 3小区；站间距 300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每小区 10–20 UE；64TRX / 4Rx / 2 SRS端口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273 RB；SRS 16×16 + 17 RB，20 ms/跳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30%业务负载；30–50% PRB使用率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44068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77724" cy="349300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9344"/>
            <a:ext cx="51297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比较与评价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48255"/>
            <a:ext cx="5120640" cy="2862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边缘体验相对理想参考达到约 80%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相对基线体验损失与辐射功率下降目标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协议按有效样本统计用户体验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当前基线、分母和完整业务机制尚需验收核定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413248"/>
            <a:ext cx="8869680" cy="438912"/>
          </a:xfrm>
          <a:prstGeom prst="roundRect">
            <a:avLst/>
          </a:prstGeom>
          <a:solidFill>
            <a:srgbClr val="FAF1F1"/>
          </a:solidFill>
          <a:ln>
            <a:solidFill>
              <a:srgbClr val="FA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449824"/>
            <a:ext cx="8759952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B2A33"/>
                </a:solidFill>
                <a:latin typeface="Microsoft YaHei"/>
              </a:rPr>
              <a:t>任务要求 ≠ 当前参数已满足 ≠ 最新新方案的保证性结论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真实 MATLAB 场景：7 个站址，21 个共址扇区 TRP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7013250" cy="50474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63256" y="1691640"/>
            <a:ext cx="3794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63256" y="1691640"/>
            <a:ext cx="77724" cy="425196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6136" y="1792224"/>
            <a:ext cx="348386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读图要点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6136" y="2231136"/>
            <a:ext cx="3474720" cy="3621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中心 S1 与外围六站相距 300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每站三 TRP 完全共址；标签区分编号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点色表示 UE 初始归属站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曲线仅为项目假设采样区域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本图由 MATLAB seed 20261011 场景直接导出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三 TRP 共址；服务 UE 的链路由规则选择</a:t>
            </a:r>
          </a:p>
        </p:txBody>
      </p:sp>
      <p:pic>
        <p:nvPicPr>
          <p:cNvPr id="3" name="Picture 2" descr="topology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02877" cy="50474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08392" y="1691640"/>
            <a:ext cx="3849624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08392" y="1691640"/>
            <a:ext cx="77724" cy="425196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1271" y="1792224"/>
            <a:ext cx="3538728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B2A33"/>
                </a:solidFill>
                <a:latin typeface="Microsoft YaHei"/>
              </a:rPr>
              <a:t>读图要点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1271" y="2231136"/>
            <a:ext cx="3529584" cy="3621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S1 三个 TRP 共用 (450,450)m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主方向 0° / 120° / 240°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红色 UE 7 初始归属 T01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资源组 1 的实际服务 TRP 为 T01,T02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红虚线表示协同链路，非全部干扰链路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当前是 CPU 逻辑集中求解，TRP 侧分布式仍是方案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240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77724" cy="25603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9384"/>
            <a:ext cx="19293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68296"/>
            <a:ext cx="1920240" cy="19293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提供上行 SRS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接收多TRP下行 yₖg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0791" y="1828800"/>
            <a:ext cx="27432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0791" y="1828800"/>
            <a:ext cx="77724" cy="25603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929384"/>
            <a:ext cx="243230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21 个 TRP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368296"/>
            <a:ext cx="2423160" cy="19293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接收测量信号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按各自 wₗₖg 协同发射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9056" y="1645920"/>
            <a:ext cx="318211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49056" y="1645920"/>
            <a:ext cx="77724" cy="292608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1746504"/>
            <a:ext cx="2871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逻辑 CPU / 当前 MATLAB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185416"/>
            <a:ext cx="2862072" cy="22951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仿真形成 Ĥ、C 与资源掩码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单进程集中求 w 和评价 Hᵗʳᵘᵉ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无物理前传或TRP本地求解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81528" y="2441448"/>
            <a:ext cx="576072" cy="301752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2048256"/>
            <a:ext cx="94183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60A6"/>
                </a:solidFill>
                <a:latin typeface="Microsoft YaHei"/>
              </a:rPr>
              <a:t>SRS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2320" y="2441448"/>
            <a:ext cx="758952" cy="301752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975104"/>
            <a:ext cx="135331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60A6"/>
                </a:solidFill>
                <a:latin typeface="Microsoft YaHei"/>
              </a:rPr>
              <a:t>测量/质量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114032" y="4928616"/>
            <a:ext cx="777240" cy="292608"/>
          </a:xfrm>
          <a:prstGeom prst="leftArrow">
            <a:avLst/>
          </a:prstGeom>
          <a:solidFill>
            <a:srgbClr val="BB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5340096"/>
            <a:ext cx="167335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B2A33"/>
                </a:solidFill>
                <a:latin typeface="Microsoft YaHei"/>
              </a:rPr>
              <a:t>业务数据、w块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2990088" y="4928616"/>
            <a:ext cx="768096" cy="292608"/>
          </a:xfrm>
          <a:prstGeom prst="leftArrow">
            <a:avLst/>
          </a:prstGeom>
          <a:solidFill>
            <a:srgbClr val="BB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5340096"/>
            <a:ext cx="118872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B2A33"/>
                </a:solidFill>
                <a:latin typeface="Microsoft YaHei"/>
              </a:rPr>
              <a:t>下行 xₗg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代码主线：每个箭头都传递通信变量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192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" y="2148840"/>
            <a:ext cx="77724" cy="21488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s,q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3072384"/>
            <a:ext cx="20116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0008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50008" y="2148840"/>
            <a:ext cx="77724" cy="21488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Hᵗʳᵘᵉ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05656" y="3072384"/>
            <a:ext cx="20116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6824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2148840"/>
            <a:ext cx="77724" cy="21488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Ĥ, 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62472" y="3072384"/>
            <a:ext cx="20116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77724" cy="21488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b, χ, r, 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19288" y="3072384"/>
            <a:ext cx="20116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2148840"/>
            <a:ext cx="77724" cy="214884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B2A33"/>
                </a:solidFill>
                <a:latin typeface="Microsoft YaHei"/>
              </a:rPr>
              <a:t>求解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76104" y="3072384"/>
            <a:ext cx="20116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77272" y="2148840"/>
            <a:ext cx="1746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77272" y="2148840"/>
            <a:ext cx="77724" cy="21488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2249424"/>
            <a:ext cx="1435607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评价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2688336"/>
            <a:ext cx="1426464" cy="1517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Rᵗʳᵘᵉ, 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70432" y="5102352"/>
            <a:ext cx="9784080" cy="438912"/>
          </a:xfrm>
          <a:prstGeom prst="roundRect">
            <a:avLst/>
          </a:prstGeom>
          <a:solidFill>
            <a:srgbClr val="E5F0F9"/>
          </a:solidFill>
          <a:ln>
            <a:solidFill>
              <a:srgbClr val="E5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296" y="5138928"/>
            <a:ext cx="9674352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92B56"/>
                </a:solidFill>
                <a:latin typeface="Microsoft YaHei"/>
              </a:rPr>
              <a:t>保存：scene.mat / manifest / precoders.mat / summary；公式与函数定位见证据索引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几何先决定链距与方向，再生成真信道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" cy="19202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55064"/>
            <a:ext cx="49926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面积均匀的当前采样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93976"/>
            <a:ext cx="4983480" cy="1289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d = √[25² + (150²−25²) ξᵣ] 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θ = φₗ + (ξθ−½)·120°；ξ∼U(0,1)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5448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5352" y="1554480"/>
            <a:ext cx="77724" cy="19202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55064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信道生成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93976"/>
            <a:ext cx="4892040" cy="1289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βₖₗ = 距离衰减 × 扇区增益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Hᵗʳᵘᵉₖₗg = √βₖₗ Lrx Ξₖₗg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069080"/>
            <a:ext cx="10058400" cy="438912"/>
          </a:xfrm>
          <a:prstGeom prst="roundRect">
            <a:avLst/>
          </a:prstGeom>
          <a:solidFill>
            <a:srgbClr val="FAF1F1"/>
          </a:solidFill>
          <a:ln>
            <a:solidFill>
              <a:srgbClr val="FA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105656"/>
            <a:ext cx="9948672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B2A33"/>
                </a:solidFill>
                <a:latin typeface="Microsoft YaHei"/>
              </a:rPr>
              <a:t>25–150 m 环扇区、原点与方向图是项目假设；原始材料只指定站数/站距/UE数量与均匀分布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SRS 与 CSI 观测形成 Ĥ 和链路条件协方差 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505663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77724" cy="32461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47457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测量输入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48255"/>
            <a:ext cx="4736592" cy="2615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先验 C₀=βRrx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CSI-RS：Yc, nc(γc, tc)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SRS：Ys, ns(γs, ts)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Pₛᵣₛ 只选 2 个接收行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7608" y="1508760"/>
            <a:ext cx="546811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7608" y="1508760"/>
            <a:ext cx="77724" cy="32461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609344"/>
            <a:ext cx="5157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条件更新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2048255"/>
            <a:ext cx="5148072" cy="2615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C = (C₀⁻¹ + I/nc + PᴴP/ns)⁻¹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Ĥ = C(Yc/nc + PᴴYs/ns)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未测到的组省略 SRS 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5266944"/>
            <a:ext cx="7909560" cy="438912"/>
          </a:xfrm>
          <a:prstGeom prst="roundRect">
            <a:avLst/>
          </a:prstGeom>
          <a:solidFill>
            <a:srgbClr val="E5F0F9"/>
          </a:solidFill>
          <a:ln>
            <a:solidFill>
              <a:srgbClr val="E5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5303520"/>
            <a:ext cx="7799832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当前是组级统计观测；未生成逐 RB SRS 波形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b、χ、r、ν 由规则给定；w 才进入数值优化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47472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77724" cy="27889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17 个资源组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68296"/>
            <a:ext cx="3154679" cy="2157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16×16 + 17 RB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SRS 每跳20 TTI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78808" y="2971800"/>
            <a:ext cx="265176" cy="228600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47472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7724" cy="27889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固定资源规则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68296"/>
            <a:ext cx="3154679" cy="2157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b：组调度；χ：home+近邻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r=2；ν：发射RB比例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65008" y="2971800"/>
            <a:ext cx="265176" cy="228600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47472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828800"/>
            <a:ext cx="77724" cy="27889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实际求解量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368296"/>
            <a:ext cx="3154679" cy="2157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w：含幅度的64×r复预编码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服务集外恒零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多站先相干叠加，再计算干扰与速率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417320"/>
            <a:ext cx="53492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417320"/>
            <a:ext cx="77724" cy="15727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1790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发送与接收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56816"/>
            <a:ext cx="5029200" cy="941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xₗg = Σⱼ wₗⱼg sⱼg   →   yₖg = Σₗ Hₖₗg xₗg + nₖg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417320"/>
            <a:ext cx="53492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4768" y="1417320"/>
            <a:ext cx="77724" cy="15727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51790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相干有效信道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956816"/>
            <a:ext cx="5029200" cy="941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5B69"/>
                </a:solidFill>
                <a:latin typeface="Microsoft YaHei"/>
              </a:rPr>
              <a:t>Fₖⱼg = Σₗ Hₖₗg wₗⱼg  ∈ ℂ⁴ˣʳ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2918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3291840"/>
            <a:ext cx="77724" cy="16459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39242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有用信号与干扰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831336"/>
            <a:ext cx="5029200" cy="1014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Rʸʸₖg = I + Σⱼ FₖⱼgFₖⱼgᴴ + Σₗ pₗg Cₖₗg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2918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3291840"/>
            <a:ext cx="77724" cy="16459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39242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真信道评价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831336"/>
            <a:ext cx="5029200" cy="1014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Rˢᴱ,ᵗʳᵘᵉ = log₂det(总协方差) − log₂det(干扰+噪声)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优化估计信道目标；验收必须另看真实信道与业务体验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" cy="333756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55064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求解器内：用 Ĥ,C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93976"/>
            <a:ext cx="4892040" cy="2706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目标：总估计 SE / PF 等分支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变量：w；固定 b, χ, r, 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约束：每 TRP 跨资源组功率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492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554480"/>
            <a:ext cx="77724" cy="333756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5506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结果侧：用 Hᵗʳᵘᵉ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93976"/>
            <a:ext cx="5029200" cy="2706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每UE真信道 SE 与总 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业务忙时交付量、体验率和5%分位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功率违规、PRB、停止原因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03520"/>
            <a:ext cx="9948672" cy="438912"/>
          </a:xfrm>
          <a:prstGeom prst="roundRect">
            <a:avLst/>
          </a:prstGeom>
          <a:solidFill>
            <a:srgbClr val="FAF1F1"/>
          </a:solidFill>
          <a:ln>
            <a:solidFill>
              <a:srgbClr val="FA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5340096"/>
            <a:ext cx="9838944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B2A33"/>
                </a:solidFill>
                <a:latin typeface="Microsoft YaHei"/>
              </a:rPr>
              <a:t>“能运行”“功率可行”“数值对拍”“算法收敛”“任务验收”须分别判定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旧搜索调候选；正式求解在固定资源上优化 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63040"/>
            <a:ext cx="5148072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77724" cy="34015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63624"/>
            <a:ext cx="483717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历史慢层搜索 / 独立链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02536"/>
            <a:ext cx="4828032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候选：PF指数、连接数、阈值、rank与修复等9项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GA：选择→交叉→变异；PSO：速度→位置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默认旧目标 Jold=调度流 SINR 总速率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可选旧场景矩阵适配另用PF目标；非正式入口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64808" y="1463040"/>
            <a:ext cx="507492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64808" y="1463040"/>
            <a:ext cx="77724" cy="340156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1563624"/>
            <a:ext cx="47640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当前正式快层 / 已接通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2002536"/>
            <a:ext cx="475488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输入：当前 Ĥ,C 与固定 b,χ,r,ν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WMMSE 更新 A,E,Ω,η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ADMM 更新 w 并投影跨组 TRP 功率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集中式 MATLAB 数值实现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063240"/>
            <a:ext cx="731520" cy="0"/>
          </a:xfrm>
          <a:prstGeom prst="line">
            <a:avLst/>
          </a:prstGeom>
          <a:ln w="20320">
            <a:solidFill>
              <a:srgbClr val="4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94376" y="3310128"/>
            <a:ext cx="141732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B2A33"/>
                </a:solidFill>
                <a:latin typeface="Microsoft YaHei"/>
              </a:rPr>
              <a:t>正式链未接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148072"/>
            <a:ext cx="106984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92B56"/>
                </a:solidFill>
                <a:latin typeface="Microsoft YaHei"/>
              </a:rPr>
              <a:t>GA：c=αp₁+(1−α)p₂，再按概率扰动候选   |   PSO：v⁺=ωv+c₁u₁(pbest−x)+c₂u₂(gbest−x)，x⁺=clip(x+v⁺)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外层 WMMSE 更新接收统计；内层 ADMM 求可行预编码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57400"/>
            <a:ext cx="77724" cy="22860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w⁽ᵗ⁾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可行初值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21408" y="3054096"/>
            <a:ext cx="219456" cy="237744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22576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22576" y="2057400"/>
            <a:ext cx="77724" cy="22860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F,Rʸʸ,A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3054096"/>
            <a:ext cx="219456" cy="237744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057400"/>
            <a:ext cx="77724" cy="22860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E,Ω,η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054096"/>
            <a:ext cx="219456" cy="237744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2057400"/>
            <a:ext cx="77724" cy="22860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子问题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固定 A/Ω/η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91856" y="3054096"/>
            <a:ext cx="219456" cy="237744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4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93024" y="2057400"/>
            <a:ext cx="77724" cy="228600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B2A33"/>
                </a:solidFill>
                <a:latin typeface="Microsoft YaHei"/>
              </a:rPr>
              <a:t>ADMM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CG→投影→对偶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48672" y="3054096"/>
            <a:ext cx="219456" cy="237744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49840" y="2057400"/>
            <a:ext cx="17373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2057400"/>
            <a:ext cx="77724" cy="22860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157984"/>
            <a:ext cx="1426463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596896"/>
            <a:ext cx="1417319" cy="1655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回溯/残差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078992" y="4681728"/>
            <a:ext cx="9436608" cy="0"/>
          </a:xfrm>
          <a:prstGeom prst="line">
            <a:avLst/>
          </a:prstGeom>
          <a:ln w="29209">
            <a:solidFill>
              <a:srgbClr val="BB2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49039" y="4773168"/>
            <a:ext cx="457200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B2A33"/>
                </a:solidFill>
                <a:latin typeface="Microsoft YaHei"/>
              </a:rPr>
              <a:t>未停止：可行 z 回到下一外轮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有效信道 F 和接收协方差 Rʸʸ 是外轮起点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1208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7724" cy="34015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有效信道 / 固定输入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56816"/>
            <a:ext cx="489204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Fₖⱼg = Σₗ Ĥₖₗg wₗⱼg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同一用户跨 TRP 的贡献先相干相加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输入：Ĥ[4,64]、w[64,r]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0352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77724" cy="340156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17904"/>
            <a:ext cx="49926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接收协方差 / 输出 Rʸʸ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56816"/>
            <a:ext cx="498348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Rʸʸₖg = I₄ + ΣⱼFₖⱼgFₖⱼgᴴ + ΣₗpₗgCₖₗg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5B69"/>
                </a:solidFill>
                <a:latin typeface="Microsoft YaHei"/>
              </a:rPr>
              <a:t>第三项将估计误差计入等效干扰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A 接收期望信号；E 衡量误差；Ω 放大难解的流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01952"/>
            <a:ext cx="3474720" cy="276148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77724" cy="276148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02536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接收器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41448"/>
            <a:ext cx="3154679" cy="2130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Aₖg=(Rʸʸₖg)⁻¹Fₖₖg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输出 4×r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2" y="3063240"/>
            <a:ext cx="24688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901952"/>
            <a:ext cx="3474720" cy="276148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901952"/>
            <a:ext cx="77724" cy="276148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02536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MSE 矩阵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41448"/>
            <a:ext cx="3154679" cy="2130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E=I−AᴴF−FᴴA+AᴴRʸʸA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输出 r×r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74152" y="3063240"/>
            <a:ext cx="24688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901952"/>
            <a:ext cx="3474720" cy="276148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901952"/>
            <a:ext cx="77724" cy="276148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2002536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权重 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441448"/>
            <a:ext cx="3154679" cy="2130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Ωₖg=Eₖg⁻¹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icrosoft YaHei"/>
              </a:rPr>
              <a:t>Rˢᴱ,est=−log₂det 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固定 A/Ω/η 后，w 子问题是带跨组功率约束的二次型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3560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35608"/>
            <a:ext cx="77724" cy="34747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1297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系数与物理意义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5120640" cy="2843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Mₖ=Aₖ(ηₖΩₖ)Aₖᴴ：接收端加权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Bₗₖ=ĤₖₗᴴAₖ(ηₖΩₖ)：期望信号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Dₗ=Σₖtr(MₖCₖₗ)：误差惩罚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Q(w)=ĤᴴMĤw + Dw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35608"/>
            <a:ext cx="537667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435608"/>
            <a:ext cx="77724" cy="34747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36192"/>
            <a:ext cx="506577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实际优化与可行域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75104"/>
            <a:ext cx="5056632" cy="2843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min Σg νg[Re⟨w,Qg(w)⟩−2Re⟨Bg,w⟩]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χₗₖg=0 ⇒ wₗₖg=0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Σg νg Σⱼ∥wₗⱼg∥²F ≤ Pₗ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ADMM：CG 解 x，联合投影得 z，对偶 y 跟踪一致性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42032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7724" cy="29443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9384"/>
            <a:ext cx="22311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① CG 更新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2221991" cy="23134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固定 A/Ω/η,z,y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近似解线性系统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26664" y="3017520"/>
            <a:ext cx="256032" cy="228600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46704" y="1828800"/>
            <a:ext cx="2542032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46704" y="1828800"/>
            <a:ext cx="77724" cy="294436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929384"/>
            <a:ext cx="22311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B2A33"/>
                </a:solidFill>
                <a:latin typeface="Microsoft YaHei"/>
              </a:rPr>
              <a:t>② 投影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368296"/>
            <a:ext cx="2221991" cy="23134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z=Π𝒞(x+y)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全17组共享每TRP预算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6168" y="3017520"/>
            <a:ext cx="256032" cy="228600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828800"/>
            <a:ext cx="2542032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828800"/>
            <a:ext cx="77724" cy="29443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29384"/>
            <a:ext cx="22311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③ 对偶 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68296"/>
            <a:ext cx="2221991" cy="23134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y←y+x−z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平衡 x 与可行副本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5672" y="3017520"/>
            <a:ext cx="256032" cy="228600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25712" y="1828800"/>
            <a:ext cx="2542032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1828800"/>
            <a:ext cx="77724" cy="29443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929384"/>
            <a:ext cx="22311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④ 残差判断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368296"/>
            <a:ext cx="2221991" cy="23134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∥x−z∥与ρ∥Δz∥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加 CG 残差判停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61288" y="5230368"/>
            <a:ext cx="9838944" cy="438912"/>
          </a:xfrm>
          <a:prstGeom prst="roundRect">
            <a:avLst/>
          </a:prstGeom>
          <a:solidFill>
            <a:srgbClr val="FAF1F1"/>
          </a:solidFill>
          <a:ln>
            <a:solidFill>
              <a:srgbClr val="FA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2" y="5266944"/>
            <a:ext cx="9729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B2A33"/>
                </a:solidFill>
                <a:latin typeface="Microsoft YaHei"/>
              </a:rPr>
              <a:t>ρ/2 与 νg 均来自代码目标；功率可行、内层收敛、外层停止是三种不同判断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链路级测量质量决定不同的条件误差统计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435608"/>
            <a:ext cx="3346704" cy="3374136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435608"/>
            <a:ext cx="77724" cy="3374136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36192"/>
            <a:ext cx="3035808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输入质量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3026664" cy="2743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链路增益 βₖₗ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SRS/CSI-RS SNR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CSI 年龄 tₛ,tᶜ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测量行 Pₛᵣₛ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78224" y="2907792"/>
            <a:ext cx="438912" cy="26517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90288" y="1435608"/>
            <a:ext cx="3227832" cy="3374136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90288" y="1435608"/>
            <a:ext cx="77724" cy="3374136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536192"/>
            <a:ext cx="291693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后验更新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75104"/>
            <a:ext cx="2907791" cy="2743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精度相加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C⁻¹=C₀⁻¹+I/nc+PᴴP/ns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不同 k,l,g 的 C 不同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36992" y="2907792"/>
            <a:ext cx="438912" cy="26517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1435608"/>
            <a:ext cx="3108960" cy="3374136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1435608"/>
            <a:ext cx="77724" cy="3374136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536192"/>
            <a:ext cx="279806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75104"/>
            <a:ext cx="2788920" cy="2743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Ĥₖₗg [4,64]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Cₖₗg [4,4]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每列共享接收侧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误差 C 同时改变接收器、MSE 与预编码二次项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93392"/>
            <a:ext cx="2039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993392"/>
            <a:ext cx="77724" cy="23317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93976"/>
            <a:ext cx="1728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Cₖₗg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719072" cy="1700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链路条件误差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3017520"/>
            <a:ext cx="210312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43784" y="1993392"/>
            <a:ext cx="2039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43784" y="1993392"/>
            <a:ext cx="77724" cy="23317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093976"/>
            <a:ext cx="1728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Rʸʸ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532888"/>
            <a:ext cx="1719072" cy="1700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附加干扰 ΣpC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28616" y="3017520"/>
            <a:ext cx="210312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4648" y="1993392"/>
            <a:ext cx="2039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84648" y="1993392"/>
            <a:ext cx="77724" cy="23317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093976"/>
            <a:ext cx="1728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A,E,Ω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532888"/>
            <a:ext cx="1719072" cy="1700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接收与权重变化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69480" y="3017520"/>
            <a:ext cx="210312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25512" y="1993392"/>
            <a:ext cx="2039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5512" y="1993392"/>
            <a:ext cx="77724" cy="23317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2093976"/>
            <a:ext cx="1728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B2A33"/>
                </a:solidFill>
                <a:latin typeface="Microsoft YaHei"/>
              </a:rPr>
              <a:t>D,Q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2532888"/>
            <a:ext cx="1719072" cy="1700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子问题惩罚变化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10344" y="3017520"/>
            <a:ext cx="210312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6376" y="1993392"/>
            <a:ext cx="2039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66376" y="1993392"/>
            <a:ext cx="77724" cy="23317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2093976"/>
            <a:ext cx="1728216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60A6"/>
                </a:solidFill>
                <a:latin typeface="Microsoft YaHei"/>
              </a:rPr>
              <a:t>w→评价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2532888"/>
            <a:ext cx="1719072" cy="1700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真信道体验/功率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047488"/>
            <a:ext cx="10149840" cy="438912"/>
          </a:xfrm>
          <a:prstGeom prst="roundRect">
            <a:avLst/>
          </a:prstGeom>
          <a:solidFill>
            <a:srgbClr val="FAF1F1"/>
          </a:solidFill>
          <a:ln>
            <a:solidFill>
              <a:srgbClr val="FA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5084064"/>
            <a:ext cx="10040112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B2A33"/>
                </a:solidFill>
                <a:latin typeface="Microsoft YaHei"/>
              </a:rPr>
              <a:t>公平对照：固定同一场景/预算/初值，只变名义 C=0、统一 C、链路非均匀 C；尚无正向结论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一页读懂核心变量：从索引到评价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77724" cy="13716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索引/规模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l TRP；k/j UE；g 组；Nt=64；Nr=4；r=2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17320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417320"/>
            <a:ext cx="77724" cy="13716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17904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信道/测量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56816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Hᵗʳᵘᵉ,Ĥ:4×64；C:4×4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90088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990088"/>
            <a:ext cx="77724" cy="137160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60A6"/>
                </a:solidFill>
                <a:latin typeface="Microsoft YaHei"/>
              </a:rPr>
              <a:t>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9584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b:调度；χ:服务；ν:RB占比；w:64×r；p:W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990088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990088"/>
            <a:ext cx="77724" cy="137160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090672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B2A33"/>
                </a:solidFill>
                <a:latin typeface="Microsoft YaHei"/>
              </a:rPr>
              <a:t>WMMSE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29584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F:4×r；Rʸʸ:4×4；A:4×r；E,Ω:r×r；η:标量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62856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562856"/>
            <a:ext cx="77724" cy="137160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B2A33"/>
                </a:solidFill>
                <a:latin typeface="Microsoft YaHei"/>
              </a:rPr>
              <a:t>ADMM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02352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x,z,y:同w；ρ:罚因子；Pₗ:W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4562856"/>
            <a:ext cx="532180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4562856"/>
            <a:ext cx="77724" cy="137160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663440"/>
            <a:ext cx="5010912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B2A33"/>
                </a:solidFill>
                <a:latin typeface="Microsoft YaHei"/>
              </a:rPr>
              <a:t>评价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102352"/>
            <a:ext cx="5001768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Rˢᴱ:bit/s/Hz；Rᵉˣᵖ:Mbit/s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目前证明了数值链能跑且功率可行，尚未证明收敛与验收指标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1417320"/>
            <a:ext cx="36118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1417320"/>
            <a:ext cx="77724" cy="3931920"/>
          </a:xfrm>
          <a:prstGeom prst="rect">
            <a:avLst/>
          </a:prstGeom>
          <a:solidFill>
            <a:srgbClr val="267B5C"/>
          </a:solidFill>
          <a:ln>
            <a:solidFill>
              <a:srgbClr val="267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17904"/>
            <a:ext cx="33009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7B5C"/>
                </a:solidFill>
                <a:latin typeface="Microsoft YaHei"/>
              </a:rPr>
              <a:t>已核查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56816"/>
            <a:ext cx="3291840" cy="3300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原生 MATLAB 入口能完成210/420 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同显式输入 MATLAB/Python 对拍通过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功率超预算 0 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新拓扑面积抽样与几何单测通过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417320"/>
            <a:ext cx="36118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9392" y="1417320"/>
            <a:ext cx="77724" cy="393192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17904"/>
            <a:ext cx="33009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60A6"/>
                </a:solidFill>
                <a:latin typeface="Microsoft YaHei"/>
              </a:rPr>
              <a:t>能运行，未收敛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956816"/>
            <a:ext cx="3291840" cy="3300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正式两轮 WMMSE 到上限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最近12步ADMM残差未达阈值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旧场景的SE数值不能搬到新面积均匀部署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417320"/>
            <a:ext cx="36118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8431" y="1417320"/>
            <a:ext cx="77724" cy="393192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1517904"/>
            <a:ext cx="33009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B2A33"/>
                </a:solidFill>
                <a:latin typeface="Microsoft YaHei"/>
              </a:rPr>
              <a:t>尚缺 / 待定义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1" y="1956816"/>
            <a:ext cx="3291840" cy="3300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完整8×4×2阵列、逐RB波形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30%业务与协议分母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统一/非均匀公平对照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5B69"/>
                </a:solidFill>
                <a:latin typeface="Microsoft YaHei"/>
              </a:rPr>
              <a:t>正式移动闭环和验收基线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新版方案Ⅰ：由统计 C 走向链路级确定性误差椭球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1490472"/>
            <a:ext cx="512064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" y="1490472"/>
            <a:ext cx="77724" cy="34015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91056"/>
            <a:ext cx="48097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当前统计模型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29967"/>
            <a:ext cx="480060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Cₖₗg：每发射列同一个 4×4 接收协方差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可比较链路误差强弱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没有最坏情况内层求解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90472"/>
            <a:ext cx="521208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5352" y="1490472"/>
            <a:ext cx="77724" cy="340156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91056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新版拟议椭球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7"/>
            <a:ext cx="489204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Σₖₗ 可表征空间各向异性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eᴴΣ⁻¹e≤τ 定义误差集合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τ、空间相关与样本覆盖需校准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200" b="1">
                <a:solidFill>
                  <a:srgbClr val="092B56"/>
                </a:solidFill>
                <a:latin typeface="Microsoft YaHei"/>
              </a:rPr>
              <a:t>新版方案Ⅱ：公平效用、功率与稀疏性的目标需要共同标定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474720" cy="289864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77724" cy="289864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公平 U(R)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68296"/>
            <a:ext cx="3154679" cy="22677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弱用户权重与最小保障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需定义对照基线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2" y="3063240"/>
            <a:ext cx="24688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474720" cy="289864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7724" cy="289864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功率 λp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68296"/>
            <a:ext cx="3154679" cy="22677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发射功率代理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与设备能耗分开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74152" y="3063240"/>
            <a:ext cx="246888" cy="219456"/>
          </a:xfrm>
          <a:prstGeom prst="rightArrow">
            <a:avLst/>
          </a:prstGeom>
          <a:solidFill>
            <a:srgbClr val="18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474720" cy="289864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828800"/>
            <a:ext cx="77724" cy="289864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1929384"/>
            <a:ext cx="316382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组稀疏 λs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368296"/>
            <a:ext cx="3154679" cy="22677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部分 TRP–UE 链路为零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不等于整站休眠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新版方案Ⅲ：TRP 本地共识和事件触发通信仍待实现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27048"/>
            <a:ext cx="525780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527048"/>
            <a:ext cx="77724" cy="3401568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27632"/>
            <a:ext cx="494690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拟议分布式动作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66543"/>
            <a:ext cx="493776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TRP 本地 xₗ 更新与服务块缓存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CPU/邻居聚合 z，共识与对偶 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残差触发上传 Ĥ/C 或 xₗ 的条件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527048"/>
            <a:ext cx="525780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527048"/>
            <a:ext cx="77724" cy="3401568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94690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论证门槛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66543"/>
            <a:ext cx="4937760" cy="2770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需要前传消息格式与陈旧信息模型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耦合二次项+组稀疏不保证一次软阈值闭式解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5B69"/>
                </a:solidFill>
                <a:latin typeface="Microsoft YaHei"/>
              </a:rPr>
              <a:t>事件触发下收敛与通信量都需实测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300" b="1">
                <a:solidFill>
                  <a:srgbClr val="092B56"/>
                </a:solidFill>
                <a:latin typeface="Microsoft YaHei"/>
              </a:rPr>
              <a:t>新版方案是下一阶段研究假设；当前链提供可复用基线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7724" cy="3520440"/>
          </a:xfrm>
          <a:prstGeom prst="rect">
            <a:avLst/>
          </a:prstGeom>
          <a:solidFill>
            <a:srgbClr val="1860A6"/>
          </a:solidFill>
          <a:ln>
            <a:solidFill>
              <a:srgbClr val="18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63624"/>
            <a:ext cx="490118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60A6"/>
                </a:solidFill>
                <a:latin typeface="Microsoft YaHei"/>
              </a:rPr>
              <a:t>当前可靠主线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02536"/>
            <a:ext cx="4892040" cy="2889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实际拓扑和统计观测 → 固定资源规则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集中式 WMMSE–ADMM → 可行 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真信道SE、体验代理与停止诊断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492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2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77724" cy="3520440"/>
          </a:xfrm>
          <a:prstGeom prst="rect">
            <a:avLst/>
          </a:prstGeom>
          <a:solidFill>
            <a:srgbClr val="BB2A33"/>
          </a:solidFill>
          <a:ln>
            <a:solidFill>
              <a:srgbClr val="BB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63624"/>
            <a:ext cx="5038344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B2A33"/>
                </a:solidFill>
                <a:latin typeface="Microsoft YaHei"/>
              </a:rPr>
              <a:t>下一阶段验证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02536"/>
            <a:ext cx="5029200" cy="2889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① 校准误差椭球与公平对照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② 增加本地求解/消息/事件触发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F5B69"/>
                </a:solidFill>
                <a:latin typeface="Microsoft YaHei"/>
              </a:rPr>
              <a:t>③ 在新场景重新比较体验、功率、开销与收敛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1.2"/>
</p:tagLst>
</file>

<file path=ppt/tags/tag2.xml><?xml version="1.0" encoding="utf-8"?>
<p:tagLst xmlns:p="http://schemas.openxmlformats.org/presentationml/2006/main">
  <p:tag name="PA" val="v5.1.2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ags/tag6.xml><?xml version="1.0" encoding="utf-8"?>
<p:tagLst xmlns:p="http://schemas.openxmlformats.org/presentationml/2006/main">
  <p:tag name="PA" val="v5.1.2"/>
</p:tagLst>
</file>

<file path=ppt/tags/tag7.xml><?xml version="1.0" encoding="utf-8"?>
<p:tagLst xmlns:p="http://schemas.openxmlformats.org/presentationml/2006/main">
  <p:tag name="PA" val="v5.1.2"/>
</p:tagLst>
</file>

<file path=ppt/tags/tag8.xml><?xml version="1.0" encoding="utf-8"?>
<p:tagLst xmlns:p="http://schemas.openxmlformats.org/presentationml/2006/main">
  <p:tag name="PA" val="v5.1.2"/>
</p:tagLst>
</file>

<file path=ppt/tags/tag9.xml><?xml version="1.0" encoding="utf-8"?>
<p:tagLst xmlns:p="http://schemas.openxmlformats.org/presentationml/2006/main">
  <p:tag name="PA" val="v5.1.2"/>
</p:tagLst>
</file>

<file path=ppt/tags/tag10.xml><?xml version="1.0" encoding="utf-8"?>
<p:tagLst xmlns:p="http://schemas.openxmlformats.org/presentationml/2006/main">
  <p:tag name="PA" val="v5.1.2"/>
</p:tagLst>
</file>

<file path=ppt/tags/tag11.xml><?xml version="1.0" encoding="utf-8"?>
<p:tagLst xmlns:p="http://schemas.openxmlformats.org/presentationml/2006/main">
  <p:tag name="PA" val="v5.1.2"/>
</p:tagLst>
</file>

<file path=ppt/tags/tag12.xml><?xml version="1.0" encoding="utf-8"?>
<p:tagLst xmlns:p="http://schemas.openxmlformats.org/presentationml/2006/main">
  <p:tag name="PA" val="v5.1.2"/>
</p:tagLst>
</file>

<file path=ppt/tags/tag13.xml><?xml version="1.0" encoding="utf-8"?>
<p:tagLst xmlns:p="http://schemas.openxmlformats.org/presentationml/2006/main">
  <p:tag name="PA" val="v5.1.2"/>
</p:tagLst>
</file>

<file path=ppt/tags/tag14.xml><?xml version="1.0" encoding="utf-8"?>
<p:tagLst xmlns:p="http://schemas.openxmlformats.org/presentationml/2006/main">
  <p:tag name="PA" val="v5.1.2"/>
</p:tagLst>
</file>

<file path=ppt/tags/tag15.xml><?xml version="1.0" encoding="utf-8"?>
<p:tagLst xmlns:p="http://schemas.openxmlformats.org/presentationml/2006/main">
  <p:tag name="PA" val="v5.1.2"/>
</p:tagLst>
</file>

<file path=ppt/tags/tag16.xml><?xml version="1.0" encoding="utf-8"?>
<p:tagLst xmlns:p="http://schemas.openxmlformats.org/presentationml/2006/main">
  <p:tag name="PA" val="v5.1.2"/>
</p:tagLst>
</file>

<file path=ppt/tags/tag17.xml><?xml version="1.0" encoding="utf-8"?>
<p:tagLst xmlns:p="http://schemas.openxmlformats.org/presentationml/2006/main">
  <p:tag name="PA" val="v5.1.2"/>
</p:tagLst>
</file>

<file path=ppt/tags/tag18.xml><?xml version="1.0" encoding="utf-8"?>
<p:tagLst xmlns:p="http://schemas.openxmlformats.org/presentationml/2006/main">
  <p:tag name="PA" val="v5.1.2"/>
</p:tagLst>
</file>

<file path=ppt/tags/tag131.xml><?xml version="1.0" encoding="utf-8"?>
<p:tagLst xmlns:p="http://schemas.openxmlformats.org/presentationml/2006/main">
  <p:tag name="COMMONDATA" val="eyJoZGlkIjoiMWJmYmVhMGQ2YWQwOTc0ZDFkYmVkZTE0NzFkNThlYzIifQ==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9662</Words>
  <Application>WPS Office WWO_wpscloud_20251119194033-e37bccecd3</Application>
  <PresentationFormat>宽屏</PresentationFormat>
  <Paragraphs>615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8" baseType="lpstr">
      <vt:lpstr>Arial</vt:lpstr>
      <vt:lpstr>宋体</vt:lpstr>
      <vt:lpstr>Wingdings</vt:lpstr>
      <vt:lpstr>汉仪书宋二KW</vt:lpstr>
      <vt:lpstr>Century Gothic</vt:lpstr>
      <vt:lpstr>微软雅黑</vt:lpstr>
      <vt:lpstr>汉仪旗黑KW 55S</vt:lpstr>
      <vt:lpstr>微软雅黑 Light</vt:lpstr>
      <vt:lpstr>Wingdings 3</vt:lpstr>
      <vt:lpstr>Kingsoft Sign</vt:lpstr>
      <vt:lpstr>Arial</vt:lpstr>
      <vt:lpstr>Calibri</vt:lpstr>
      <vt:lpstr>Calibri</vt:lpstr>
      <vt:lpstr>等线</vt:lpstr>
      <vt:lpstr>汉仪中等线KW</vt:lpstr>
      <vt:lpstr>Times New Roman</vt:lpstr>
      <vt:lpstr>黑体</vt:lpstr>
      <vt:lpstr>Kingsoft Confetti</vt:lpstr>
      <vt:lpstr>Symbol</vt:lpstr>
      <vt:lpstr>Cambria Math</vt:lpstr>
      <vt:lpstr>仿宋_GB2312</vt:lpstr>
      <vt:lpstr>Kingsoft Math</vt:lpstr>
      <vt:lpstr>汉仪仿宋KW</vt:lpstr>
      <vt:lpstr>Office 主题​​</vt:lpstr>
      <vt:lpstr>1_Office 主题​​</vt:lpstr>
      <vt:lpstr>PowerPoint 演示文稿</vt:lpstr>
      <vt:lpstr>主要内容</vt:lpstr>
      <vt:lpstr>PowerPoint 演示文稿</vt:lpstr>
      <vt:lpstr>PowerPoint 演示文稿</vt:lpstr>
      <vt:lpstr>PowerPoint 演示文稿</vt:lpstr>
      <vt:lpstr>选题依据：星载智能面临的关键挑战</vt:lpstr>
      <vt:lpstr>选题依据：星载智能面临的关键挑战</vt:lpstr>
      <vt:lpstr>PowerPoint 演示文稿</vt:lpstr>
      <vt:lpstr>主要内容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敬请各位老师批评指正！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赵慧</cp:lastModifiedBy>
  <cp:lastPrinted>2025-12-14T09:05:23Z</cp:lastPrinted>
  <dcterms:created xsi:type="dcterms:W3CDTF">2025-12-14T09:05:23Z</dcterms:created>
  <dcterms:modified xsi:type="dcterms:W3CDTF">2025-12-14T09:05:23Z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