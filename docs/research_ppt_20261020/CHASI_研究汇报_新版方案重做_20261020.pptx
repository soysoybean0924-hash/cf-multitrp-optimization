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2531" r:id="rId3"/>
    <p:sldId id="5977" r:id="rId4"/>
    <p:sldId id="5978" r:id="rId5"/>
    <p:sldId id="5979" r:id="rId6"/>
    <p:sldId id="5980" r:id="rId7"/>
    <p:sldId id="5981" r:id="rId8"/>
    <p:sldId id="5982" r:id="rId9"/>
    <p:sldId id="5983" r:id="rId10"/>
    <p:sldId id="5984" r:id="rId11"/>
    <p:sldId id="5985" r:id="rId12"/>
    <p:sldId id="5986" r:id="rId13"/>
    <p:sldId id="5987" r:id="rId14"/>
    <p:sldId id="5989" r:id="rId15"/>
    <p:sldId id="5990" r:id="rId16"/>
    <p:sldId id="5991" r:id="rId25"/>
  </p:sldIdLst>
  <p:sldSz cx="12192000" cy="6858000"/>
  <p:notesSz cx="7099300" cy="10234613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998" userDrawn="1">
          <p15:clr>
            <a:srgbClr val="A4A3A4"/>
          </p15:clr>
        </p15:guide>
        <p15:guide id="5" orient="horz" pos="3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452">
          <p15:clr>
            <a:srgbClr val="A4A3A4"/>
          </p15:clr>
        </p15:guide>
        <p15:guide id="2" pos="218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4" clrIdx="0"/>
  <p:cmAuthor id="2" name="lj" initials="l" lastIdx="1" clrIdx="1"/>
  <p:cmAuthor id="3" name="Jason Zhang" initials="JZ" lastIdx="12" clrIdx="2"/>
  <p:cmAuthor id="4" name="可爱的小马驹ヾ" initials="可" lastIdx="1" clrIdx="3"/>
  <p:cmAuthor id="5" name="Tyselina Zheng" initials="TZ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28F"/>
    <a:srgbClr val="CBCDDE"/>
    <a:srgbClr val="002B84"/>
    <a:srgbClr val="95D1E2"/>
    <a:srgbClr val="E7E8EF"/>
    <a:srgbClr val="E6E6E6"/>
    <a:srgbClr val="003399"/>
    <a:srgbClr val="C00000"/>
    <a:srgbClr val="DCF0F5"/>
    <a:srgbClr val="FBD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67408" autoAdjust="0"/>
  </p:normalViewPr>
  <p:slideViewPr>
    <p:cSldViewPr showGuides="1">
      <p:cViewPr varScale="1">
        <p:scale>
          <a:sx n="55" d="100"/>
          <a:sy n="55" d="100"/>
        </p:scale>
        <p:origin x="1800" y="48"/>
      </p:cViewPr>
      <p:guideLst>
        <p:guide pos="392"/>
        <p:guide pos="7256"/>
        <p:guide orient="horz" pos="576"/>
        <p:guide orient="horz" pos="3998"/>
        <p:guide orient="horz" pos="380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notesViewPr>
    <p:cSldViewPr>
      <p:cViewPr varScale="1">
        <p:scale>
          <a:sx n="30" d="100"/>
          <a:sy n="30" d="100"/>
        </p:scale>
        <p:origin x="-2261" y="-67"/>
      </p:cViewPr>
      <p:guideLst>
        <p:guide orient="horz" pos="3452"/>
        <p:guide pos="2183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EB6453C-91E2-453A-8CFB-E8A5E658B75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F6709892-4A62-41CA-BB2D-19E92E32BA1A}" type="datetimeFigureOut">
              <a:rPr lang="zh-CN" altLang="en-US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3" tIns="47133" rIns="94263" bIns="4713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59338"/>
            <a:ext cx="5680075" cy="4606925"/>
          </a:xfrm>
          <a:prstGeom prst="rect">
            <a:avLst/>
          </a:prstGeom>
        </p:spPr>
        <p:txBody>
          <a:bodyPr vert="horz" lIns="94263" tIns="47133" rIns="94263" bIns="4713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9" y="9721850"/>
            <a:ext cx="3076575" cy="511175"/>
          </a:xfrm>
          <a:prstGeom prst="rect">
            <a:avLst/>
          </a:prstGeom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0B90B85-D45D-43B0-886B-48C061D8B8B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3038" y="796925"/>
            <a:ext cx="7069137" cy="3976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研究对象：茶思任务中的非理想SRS/CSI与用户中心多TRP协同。本材料对应已提交代码 db9d7e3；当前另一个会话的工作区更改不包含在本材料。研究结果尚不能等同正式验收。</a:t>
            </a:r>
          </a:p>
          <a:p/>
          <a:p>
            <a:r>
              <a:t>讲解从茶思原始难题开始：非理想 SRS/CSI 下，多 TRP 协同需要兼顾边缘体验、跨资源功率与规模。标题中的“优化研究”对应当前已实现的矩阵 WMMSE 与集中式 ADMM，也包含尚未完成的鲁棒扩展；不要把本汇报说成完整验收。下一页给出四段阅读顺序。追问：成果是否已达标？目前只能说同输入数值对拍和功率可行有记录，正式规模收敛及新版效果未证实。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给出四段讲述顺序。第一部分界定困难、目标与物理网络；第二部分沿通信变量讲建模与当前求解；第三部分说明非均匀误差和现有证据；第四部分单列202610版系统方案。每段均区分原始任务、当前实现、已验证结果与研究设想。</a:t>
            </a:r>
          </a:p>
          <a:p/>
          <a:p>
            <a:r>
              <a:t>先让听众看四个分组：研究问题和网络给出对象，系统模型和求解说明如何从信道产生预编码，误差机制和验证说明现有证据，最后新版方案独立介绍拟研究扩展。第 13–15 页的橙色拟议模块不在当前正式执行链。与第 3 页衔接时强调原始验收指标和研究方法是两个不同层次。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本页回答“困难为什么需要这些方法”。按每行从左到右读：不同 UE–TRP 的测量质量导致条件误差不同，当前用链路统计 C 进入接收与预编码；边缘 UE 协同受有用信号和干扰共同影响，用用户中心服务和 WMMSE 更新；273 RB 使各资源组共享 TRP 功率预算，当前集中式 ADMM 做联合投影。右侧列的是应检验的量，不是已经达成的效果。当前尚未实现椭球最坏情况或 TRP 本地分布式。第 4 页转到真实七站拓扑。来源为茶思原始三张图、chasi_generate_scene.m 和 chasi_matrix_wmmse.m。老师若问“80% 是否已达成”，回答正式口径仍须锁定共同基线与分母，目前无达成证据。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回答：七站三扇区、UE 空间分布、服务关系和 CPU 分工。左图是 MATLAB 输出的真实坐标；全部210个 UE 均为独立散点，未重复画点。MATLAB lines(7)颜色按 home 所在站 S1–S7：S1蓝、S2橙、S3黄、S4紫、S5绿、S6青、S7洋红/暗红。颜色不是调度或完整服务集合。右图 UE7 的 home=T01，服务集合 T01/T02；两TRP共址，服务连线可能重合。CPU 为逻辑协调节点，不是实际部署坐标。原材料规定每小区10–20 UE、小区内均匀分布；当前10 UE/小区，总210。chasi_geometry_from_samples.m 以中心(450,450)m、外围6站距中心300m生成；每站三个 TRP 共址；UE 在每扇区25–150m环扇区，以 θ=φ_l+(v−1/2)2π/3 与 r=sqrt(rmin²+u(rmax²−rmin²))采样，因此面积均匀。25–150m边界是项目假设。home 为生成扇区，服务集合为 home 加最近活动 TRP，当前上限2。扇形不是无干扰硬覆盖。下一页沿变量看执行链。追问：紫色点是什么？是初始归属 S4 的真实 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沿编号讲真实执行顺序。chasi_run.m 调 chasi_generate_scene.m → chasi_generate_traffic.m → chasi_matrix_wmmse.m → chasi_evaluate.m，当前是原生 MATLAB 求解，不再经旧 Python 桥接。Htrue 参与仿真测量生成及最后评价；非理想优化输入 Ĥ、C。b/χ/r/ν 为规则生成，w 为求解量。历史 GA/PSO 与正式链未接通。db9d7e3。</a:t>
            </a:r>
          </a:p>
          <a:p/>
          <a:p>
            <a:r>
              <a:t>按左到右读真实执行链：几何与业务生成真信道 Htrue；等效 CSI-RS/SRS 质量形成估计 Hhat 和条件误差 C；关联 b、调度 χ、流数 r 和资源权重 ν 由规则固定；矩阵 WMMSE–ADMM 优化含幅度的 w；同一 w 放到 Htrue 上计算速率、体验代理和空口功率。真信道用于仿真生成与最后评价，非理想分支求解使用 Hhat、C。历史搜索链没有调用该正式求解器。下一页拆开测量主体。老师若问“是否已真实协议实现”，回答这是等效测量和集中仿真。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 UE→TRP→逻辑 CPU→TRP→UE 的泳道读。chasi_generate_scene.m 用真实信道模拟 CSI-RS 与 2 行 SRS 观测，measurement SINR、年龄进入等效噪声，后验估计输出 H_est(4×64) 与每列接收侧协方差 C(4×4)；资源规则和集中求解在单进程数值实现。这里的 UE/TRP/CPU 是物理解释，并非已实现上行波形、信令、前传或分布式 ADMM。db9d7e3。</a:t>
            </a:r>
          </a:p>
          <a:p/>
          <a:p>
            <a:r>
              <a:t>从 UE/链路、TRP/接收侧、CPU/协调侧三条泳道读。图中的 SRS 上行、CSI-RS 等效样本只描述仿真观测抽象，不表示完成物理协议栈。Hhat 为 4×64 估计信道，C 为每发射列的 4×4 接收侧条件协方差；CPU 侧根据它们和固定资源求 w，TRP 按 w 发射，UE 再接收。当前预编码和 ADMM 都在单 MATLAB 进程集中计算，不能根据泳道图声称各 TRP 本地并行。下一页解释资源变量。依据 chasi_generate_scene.m、chasi_run.m。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正式入口 chasi_run.m 当前从资源规则直接进入矩阵 WMMSE–ADMM。历史 GA/PSO 搜索代码在 matlab/core，候选含连接数、调度阈值、rank 门限及修复参数等，评价器与正式物理层目标不同；不能把独立搜索画成已接通。图中虚线是可能的未来接口。正式功率约束 ΣgνgΣj||w_ljg||²≤P_l。db9d7e3。</a:t>
            </a:r>
          </a:p>
          <a:p/>
          <a:p>
            <a:r>
              <a:t>先比较两侧：左边历史候选搜索通过 GA 交叉/变异/选择或 PSO 位置/速度更新提议参数，再用旧评价器计分；右边当前正式链固定关联 b、调度 χ、流数 r 和资源权重 ν，只优化预编码 w。橙色虚线表示研究上希望有慢层候选传给快层求解，但当前无实际调用关系。跨资源组功率预算按一个 TRP 共用 P_l，不可每 RB 重新使用整额。下一页从 w 走向真实信道评价。追问：旧候选是否就是正式优化变量？不是，必须先做编码、目标和评价器映射。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按三条横带讲：发射→传播→接收→物理速率→业务交付→用户体验。w_lkg 是 64×r 含幅度预编码，Htrue_klg 是 4×64 真信道，有用部分对同一 UE 的服务 TRP 相干求和；其余同组 UE 数据是干扰，另加单位噪声。chasi_evaluate.m 的 true_rates 在 Htrue 上计算 logdet 总协方差减干扰协方差；再由 RB 带宽和 TTI 得交付容量，与业务到达/队列共同得到体验 Mbps 和分位。不能将优化目标等同最终验收指标。db9d7e3。</a:t>
            </a:r>
          </a:p>
          <a:p/>
          <a:p>
            <a:r>
              <a:t>从发送 w 到真实信道 Htrue，多个 TRP 的同用户流相干叠加；同资源其他用户流形成干扰，叠加噪声得到 UE 接收信号。接收矩阵和 MSE 在优化阶段使用 Hhat、C；最终速率评价重算于 Htrue，不能偷用 Htrue 优化非理想分支。SE 按资源权重转为 TTI 可传比特，再进入业务交付量和用户体验统计。现有体验是代理实现，原协议的有效样本、头尾剔除和底部 5% 口径仍需严格复核。下一页解释求 w 的嵌套算法。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外层：w 初始可行；F_kjg=Σ_l Hhat_klg w_ljg，相干叠加；Ryy_kg=I+Σ_j F_kjg F_kjg^H+Σ_l p_lg C_klg；A=(Ryy)^−1 Fkk；E 为 MSE 矩阵；Ω=E^-1；η 为用户效用权重。固定 A/Ω/η 构建预编码二次子问题。内层 ADMM 以 CG 更新 x，所有组联合投影 z 到每 TRP 功率预算，y+=x-z，并判原始/对偶/CG 残差；未停止闭合回到 x。返回 z 后外层重新计算目标并进行接受/回溯和停止检查；未停止返回状态更新。当前为集中式单进程求解，正式规模停止条件尚未满足。chasi_matrix_wmmse.m，db9d7e3。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源码 chasi_matrix_wmmse.m ADMM 段。每组 x 的正规方程含 νg Qg + ρ/2 I，与增广目标定义一致。z 是跨全部资源组的联合投影，y 为缩放对偶。检查原始/对偶残差及 CG 精度，ρ 可自适应。返回功率可行的 z 供外层接受/回溯。当前正式规模未满足算法停止条件。db9d7e3。</a:t>
            </a:r>
          </a:p>
          <a:p/>
          <a:p>
            <a:r>
              <a:t>本页放大 ADMM 的跨组功率约束和停止判断。固定接收器 A、MSE 权重 Ω 和用户权重 η 后，x 步用 CG 解二次线性系统；z 步对同一 TRP 在所有资源组的加权波束功率联合投影；缩放对偶 y 按 x−z 更新。原始残差、对偶残差、CG 线性求解误差及 WMMSE 外层停止是不同量。当前返回可行副本 z 可以使功率预算满足，但不能证明内层或外层已收敛。210/420 UE 保存运行虽数值对拍与功率可行，正式规模停止条件未通过。下一页看测量误差进入接收计算。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本页回答当前代码如何利用非理想 CSI，并为后面的新版方案划清边界。沿箭头从 SRS 质量/年龄讲到接收侧 4×4 条件协方差 C、Ryy 中的误差项、再到固定接收器后的二次算子 𝒬(C) 与预编码 w。这里的 𝒬 是求解器的线性算子，不是新版方案的 64×64 椭球矩阵 Q。当前 awgn_independent 分支把先验、CSI-RS、SRS 的精度相加；pilot_reuse_gaussian 有单独分支。C 只描述统计平均意义的扰动，不保证任何确定性椭球内的最坏速率。下一页是当前符号表，之后单列新方案。依据 db9d7e3 的 chasi_generate_scene.m:65–110、chasi_matrix_wmmse.m:380–444。老师若问是否已做到鲁棒保底：回答是统计误差惩罚已进入计算，最坏情况约束与公平对照结果尚未建立。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跨图使用的核心符号各表示什么，哪些有物理单位。维度r随用户与资源组变化，表中符号省略下标。Htrue/Hhat∈C^{4×64}，C、Ryy∈C^{4×4}，w∈C^{64×r}，A/F∈C^{4×r}，E/Ω∈C^{r×r}；x/z/y与w同维。ν为RB计数/权重，p和P_l按当前归一化功率制说明；SE=bit/s/Hz，Rexp依业务协议和采样规则定义。完整符号见现有FORMULA_TRACE与SYMBOLS.md。辅助索引、维度及假设可口头解释。下一页只介绍独立新版方案。</a:t>
            </a:r>
          </a:p>
          <a:p/>
          <a:p>
            <a:r>
              <a:t>本页作查阅符号而非替代每页解释。l、k、g 是 TRP、UE、资源组索引；Htrue/Hhat 是 4×64 真/估计信道；C 是 4×4 接收侧条件误差；w 为 64×r 的完整预编码块。A、E、Ω 是 WMMSE 中的接收器、MSE 和权重；x、z、y 是 ADMM 原变量、可行副本、缩放对偶。p 是 w 的加权范数，P 是每 TRP 预算；RSE 和 Rexp 分别为物理频谱效率与业务体验统计口径。新方案的 64×64 椭球 Q 不应与现有 4×4 C 或二次算子 𝒬 混淆。下一页据此进入拟研究方案。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本页回答为什么提出新版方案，以及“非均匀”究竟有哪两层。从上方因果链讲：SRS 不准使 CSI 有偏差，协同波束和干扰预测可能失准，边缘 UE 的体验风险上升；规模、功率和前传开销也是动机，不是已解决结果。左侧链路尺度来自 202610 Markdown 第31–43行的经验式 σ²=f(SRS SINR,d,v,NLOS)，f、单位和数据标定未给定；C=1/(1+σ²) 只有 σ² 已无量纲化才有清楚含义。右侧是同一链路内方向差异。公式来自本地 1.png，对应 Markdown 第47–51行：Δh 为一条单接收天线链路的 64 维复误差向量，Q 为 64×64 正定形状矩阵；本地 3.png 对应第219–233行的对角 Q。对角仅在天线坐标或指定特征/波束域有效，一般空间相关性不自动对角。若 Q 还代表误差协方差，应引入置信半径 τ，例如 Δh^H(τQ)^−1Δh≤1，并说明分布与置信水平；这属于解释时的补充，不是原文已标定结果。原文 Q=Φ/C 的经验缩放在 C→1 时不趋零，故不能说高置信链路椭球自动收缩到零；C→0 时无界也需截断。当前代码的 H_true/H_est 是 4×64，接收侧 C_rx 是 4×4，列独立假设下完整 vec(H) 协方差形式为 I_64⊗C_rx；它不等于原文发射侧 64×64 Q。下一页讲 w、功率与稀疏决定什么。追问：大误差是否必然展宽波束？不必然，要由目标、信道几何与约束共同决定。来源：原始 Markdown 及本地 1/3.png、chasi_generate_scene.m。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本页回答新版方案到底优化什么。先说当前预编码 w 已含幅度和方向，不应再无定义地把独立 p 当决策变量；p_l=Σ_gν_gΣ_k||w_lkg||² 是跨资源组/跨 RB 的空口发射功率，s_lP_l 表示 TRP 关断时该 TRP 所有发射块为零。公式的公平效用 Uα、链路稀疏 λ_link、激活成本 λ_on 是对 Markdown 第69–85行原目标的清晰参数化；原文写 λΣ_nΣ_k(||w_nk||+γs_n)，s_n 成本因 Σ_k 被重复计数，分离系数是解释修正，不冒充原文。w_lk,: 的组跨所有 g；该组归零只删 l→k 服务，未必让 l 对其他 UE 停发，更不会消除 l→k 的所有物理干扰。若整 TRP 休眠，可用 s_l=0 和全组功率约束，但需处理固定设备功耗与空口功率不同的口径。原文二进制 s_l 先放松到 [0,1] 再阈值判决，阈值后要在固定活跃集上重优化并检查速率、服务可行性和功率；原文未给出完整过程。α-fair 目标与硬最低速率并存时可行性不能预设。原始“难题1”要求挑战 50% PRB 条件下边缘体验提升达到理想 CSI 集中协同提升的 80%，这更像相对提升比例，不是绝对速率比；共同基线、分母和统计样本需在正式指标定义中核定。&lt;10% 指相对独立功控基线的平均体验损失，&gt;30% 指空口总发射功率降低，不是设备耗电或总能耗。当前代码尚无新版目标实测结果。下一页解释该目标如何可能进入求解器以及缺口。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本页回答 WMMSE 与 ADMM 怎样联合工作，以及稀疏、休眠、事件触发究竟插在哪。先读左上当前外轮：w 形成有效信道，按 Ryy 更新 A、E 和 Ω，固定它们与用户权重 η 后建立预编码二次子问题；这是分块交替，不表示整个联合问题凸。当前统计误差 C 进入 Ryy 与二次算子；原文最坏情形 max_w min_ΔH 见本地 2.png，对应 Markdown 第53–61行，但未给出与 WMMSE 的等价转化，不能把统计平均模型叫作所有椭球误差的保底。再读内轮：当前代码在一个 MATLAB 进程里用 CG 更新 x、联合跨组功率投影 z、缩放对偶 y+=x−z。原文提议把链路组稀疏加到 x 步；近端 group-shrink 的单独算子有闭式形式，但耦合二次项加组稀疏的完整子问题一般不能一次软阈值求解，固定变量后凸性要逐项判断。原文的未缩放 μ 对偶更新应为 μ+=ρ(x−z)，缩放 y=μ/ρ 时为 y+=x−z，当前代码使用后者。原始残差应是更新后 x^{t+1}−z^{t+1}，对偶残差 ρ(z^{t+1}−z^t)；Markdown 第133行写 x^{t+1}−z^t，不能当本轮原始残差。事件触发若按相对上次发送的消息 m 与缓存 m̄ 比较，还必须定义 m 的内容、未发送时协调侧使用的缓存、哪些消息每轮仍发送，以及对偶与共识如何更新；原文第135–141行“静默并跳过对偶”尚不足以形成收敛的完整算法。TRP 本地并行也需拆开跨 TRP 的相干与干扰耦合，变量副本本身不证明已分布式。最后看右侧状态：当前矩阵 WMMSE、接收侧统计 C 和集中 ADMM 有源码；210/420 UE 同输入对拍、功率可行有记录，但正式规模停止条件未通过；最坏情况、组稀疏、休眠、本地计算、消息缓存和事件触发无实现；历史搜索未接正式入口。下一步不是在汇报中承诺效果，而是补充定义和做同条件对照。老师若问 60–80% 消息减少或 30% 功率下降：回答原文是预期，尚无新版实验支持；空口功率不等于设备总能耗。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14818"/>
            <a:ext cx="8534400" cy="1423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9000" y="6492876"/>
            <a:ext cx="11430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prstClr val="black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1EDFD1-D3AB-4518-98BC-E386A1BB961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11620500" y="116632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625080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09587" y="1"/>
            <a:ext cx="5507524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3913112" y="-1570588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056440" y="167430"/>
            <a:ext cx="1871503" cy="561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şlíḓè"/>
          <p:cNvSpPr/>
          <p:nvPr userDrawn="1"/>
        </p:nvSpPr>
        <p:spPr>
          <a:xfrm>
            <a:off x="-3560" y="2387600"/>
            <a:ext cx="9581785" cy="4470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iśļïḓê"/>
          <p:cNvSpPr/>
          <p:nvPr userDrawn="1"/>
        </p:nvSpPr>
        <p:spPr bwMode="auto">
          <a:xfrm flipH="1">
            <a:off x="-1" y="-4989"/>
            <a:ext cx="9581785" cy="6865116"/>
          </a:xfrm>
          <a:custGeom>
            <a:avLst/>
            <a:gdLst>
              <a:gd name="connsiteX0" fmla="*/ 9581785 w 9581785"/>
              <a:gd name="connsiteY0" fmla="*/ 0 h 6865116"/>
              <a:gd name="connsiteX1" fmla="*/ 6463 w 9581785"/>
              <a:gd name="connsiteY1" fmla="*/ 0 h 6865116"/>
              <a:gd name="connsiteX2" fmla="*/ 0 w 9581785"/>
              <a:gd name="connsiteY2" fmla="*/ 6865116 h 6865116"/>
              <a:gd name="connsiteX3" fmla="*/ 9435691 w 9581785"/>
              <a:gd name="connsiteY3" fmla="*/ 3424381 h 6865116"/>
              <a:gd name="connsiteX4" fmla="*/ 9581785 w 9581785"/>
              <a:gd name="connsiteY4" fmla="*/ 3311401 h 686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1785" h="6865116">
                <a:moveTo>
                  <a:pt x="9581785" y="0"/>
                </a:moveTo>
                <a:lnTo>
                  <a:pt x="6463" y="0"/>
                </a:lnTo>
                <a:lnTo>
                  <a:pt x="0" y="6865116"/>
                </a:lnTo>
                <a:cubicBezTo>
                  <a:pt x="5057128" y="5756514"/>
                  <a:pt x="7899338" y="4547950"/>
                  <a:pt x="9435691" y="3424381"/>
                </a:cubicBezTo>
                <a:lnTo>
                  <a:pt x="9581785" y="3311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ïSļîḑè"/>
          <p:cNvSpPr/>
          <p:nvPr userDrawn="1"/>
        </p:nvSpPr>
        <p:spPr bwMode="auto">
          <a:xfrm flipH="1">
            <a:off x="3558" y="44794"/>
            <a:ext cx="9578226" cy="6590321"/>
          </a:xfrm>
          <a:custGeom>
            <a:avLst/>
            <a:gdLst>
              <a:gd name="connsiteX0" fmla="*/ 9578226 w 9578226"/>
              <a:gd name="connsiteY0" fmla="*/ 0 h 6590321"/>
              <a:gd name="connsiteX1" fmla="*/ 6205 w 9578226"/>
              <a:gd name="connsiteY1" fmla="*/ 0 h 6590321"/>
              <a:gd name="connsiteX2" fmla="*/ 0 w 9578226"/>
              <a:gd name="connsiteY2" fmla="*/ 6590321 h 6590321"/>
              <a:gd name="connsiteX3" fmla="*/ 9493338 w 9578226"/>
              <a:gd name="connsiteY3" fmla="*/ 2984432 h 6590321"/>
              <a:gd name="connsiteX4" fmla="*/ 9578226 w 9578226"/>
              <a:gd name="connsiteY4" fmla="*/ 2908618 h 659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8226" h="6590321">
                <a:moveTo>
                  <a:pt x="9578226" y="0"/>
                </a:moveTo>
                <a:lnTo>
                  <a:pt x="6205" y="0"/>
                </a:lnTo>
                <a:lnTo>
                  <a:pt x="0" y="6590321"/>
                </a:lnTo>
                <a:cubicBezTo>
                  <a:pt x="5310859" y="5426098"/>
                  <a:pt x="8101833" y="4148147"/>
                  <a:pt x="9493338" y="2984432"/>
                </a:cubicBezTo>
                <a:lnTo>
                  <a:pt x="9578226" y="290861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bg1"/>
              </a:gs>
            </a:gsLst>
            <a:lin ang="10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7" name="iṣľiḋé"/>
          <p:cNvSpPr/>
          <p:nvPr userDrawn="1"/>
        </p:nvSpPr>
        <p:spPr bwMode="auto">
          <a:xfrm flipH="1">
            <a:off x="-13714" y="-4989"/>
            <a:ext cx="9621936" cy="6367328"/>
          </a:xfrm>
          <a:custGeom>
            <a:avLst/>
            <a:gdLst>
              <a:gd name="connsiteX0" fmla="*/ 9580005 w 9580005"/>
              <a:gd name="connsiteY0" fmla="*/ 0 h 6339580"/>
              <a:gd name="connsiteX1" fmla="*/ 5969 w 9580005"/>
              <a:gd name="connsiteY1" fmla="*/ 0 h 6339580"/>
              <a:gd name="connsiteX2" fmla="*/ 0 w 9580005"/>
              <a:gd name="connsiteY2" fmla="*/ 6339580 h 6339580"/>
              <a:gd name="connsiteX3" fmla="*/ 9549201 w 9580005"/>
              <a:gd name="connsiteY3" fmla="*/ 2491289 h 6339580"/>
              <a:gd name="connsiteX4" fmla="*/ 9580005 w 9580005"/>
              <a:gd name="connsiteY4" fmla="*/ 2457799 h 633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0005" h="6339580">
                <a:moveTo>
                  <a:pt x="9580005" y="0"/>
                </a:moveTo>
                <a:lnTo>
                  <a:pt x="5969" y="0"/>
                </a:lnTo>
                <a:lnTo>
                  <a:pt x="0" y="6339580"/>
                </a:lnTo>
                <a:cubicBezTo>
                  <a:pt x="5692847" y="5091619"/>
                  <a:pt x="8380317" y="3708020"/>
                  <a:pt x="9549201" y="2491289"/>
                </a:cubicBezTo>
                <a:lnTo>
                  <a:pt x="9580005" y="245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22450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017660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329937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62403" y="502903"/>
            <a:ext cx="2658086" cy="7132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9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slideLayout" Target="../slideLayouts/slideLayout50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340768"/>
            <a:ext cx="12192000" cy="2088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非理想测量下的用户中心多TRP协同优化研究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36" y="155828"/>
            <a:ext cx="2042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3"/>
    </mc:Choice>
    <mc:Fallback xmlns="">
      <p:transition spd="slow" advTm="11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</p:nvPr>
        </p:nvSpPr>
        <p:spPr>
          <a:xfrm>
            <a:off x="1279525" y="2528666"/>
            <a:ext cx="1806575" cy="675057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主要内容</a:t>
            </a:r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5675907" y="569134"/>
            <a:ext cx="2882198" cy="1098506"/>
            <a:chOff x="5337036" y="1031947"/>
            <a:chExt cx="2882198" cy="1098506"/>
          </a:xfrm>
        </p:grpSpPr>
        <p:sp>
          <p:nvSpPr>
            <p:cNvPr id="46" name="文本框 45"/>
            <p:cNvSpPr txBox="1"/>
            <p:nvPr>
              <p:custDataLst>
                <p:tags r:id="rId11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6355262" y="1304201"/>
              <a:ext cx="1863972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7145">
                <a:spcBef>
                  <a:spcPts val="105"/>
                </a:spcBef>
              </a:pPr>
              <a:r>
                <a:rPr lang="zh-CN" altLang="en-US" sz="36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研究问题与网络</a:t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2"/>
            </p:custDataLst>
          </p:nvPr>
        </p:nvGrpSpPr>
        <p:grpSpPr>
          <a:xfrm>
            <a:off x="5683198" y="2012029"/>
            <a:ext cx="4278628" cy="1481021"/>
            <a:chOff x="5337036" y="1031947"/>
            <a:chExt cx="4278628" cy="1481021"/>
          </a:xfrm>
        </p:grpSpPr>
        <p:sp>
          <p:nvSpPr>
            <p:cNvPr id="60" name="文本框 59"/>
            <p:cNvSpPr txBox="1"/>
            <p:nvPr>
              <p:custDataLst>
                <p:tags r:id="rId9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0"/>
              </p:custDataLst>
            </p:nvPr>
          </p:nvSpPr>
          <p:spPr>
            <a:xfrm>
              <a:off x="6384010" y="1248904"/>
              <a:ext cx="3231654" cy="12640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系统模型与求解</a:t>
              </a:r>
            </a:p>
            <a:p>
              <a:pPr lvl="0">
                <a:lnSpc>
                  <a:spcPct val="120000"/>
                </a:lnSpc>
              </a:pPr>
              <a:endParaRPr lang="zh-CN" altLang="en-US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3"/>
            </p:custDataLst>
          </p:nvPr>
        </p:nvGrpSpPr>
        <p:grpSpPr>
          <a:xfrm>
            <a:off x="5675907" y="4918106"/>
            <a:ext cx="3804264" cy="1098506"/>
            <a:chOff x="5337036" y="1031947"/>
            <a:chExt cx="3804264" cy="1098506"/>
          </a:xfrm>
        </p:grpSpPr>
        <p:sp>
          <p:nvSpPr>
            <p:cNvPr id="67" name="文本框 66"/>
            <p:cNvSpPr txBox="1"/>
            <p:nvPr>
              <p:custDataLst>
                <p:tags r:id="rId7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8"/>
              </p:custDataLst>
            </p:nvPr>
          </p:nvSpPr>
          <p:spPr>
            <a:xfrm>
              <a:off x="6371311" y="1290123"/>
              <a:ext cx="276998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新版研究方案</a:t>
              </a:r>
              <a:endParaRPr lang="zh-CN" altLang="en-US" sz="3600" b="1" dirty="0">
                <a:solidFill>
                  <a:srgbClr val="013A89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5675658" y="3484713"/>
            <a:ext cx="5663622" cy="1098506"/>
            <a:chOff x="5337036" y="1031947"/>
            <a:chExt cx="5663622" cy="1098506"/>
          </a:xfrm>
        </p:grpSpPr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13A8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13A8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6384010" y="1248904"/>
              <a:ext cx="4616648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误差机制与验证</a:t>
              </a:r>
              <a:endParaRPr lang="zh-CN" altLang="en-GB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研究问题与方法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48716"/>
            <a:ext cx="2880360" cy="32008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lang="zh-CN" altLang="en-US" sz="1900" b="1" dirty="0">
                <a:solidFill>
                  <a:srgbClr val="092B56"/>
                </a:solidFill>
                <a:latin typeface="Microsoft YaHei"/>
              </a:rPr>
              <a:t>研究问题</a:t>
            </a:r>
            <a:r>
              <a:rPr sz="1900" b="1" dirty="0" err="1">
                <a:solidFill>
                  <a:srgbClr val="092B56"/>
                </a:solidFill>
                <a:latin typeface="Microsoft YaHei"/>
              </a:rPr>
              <a:t>中的困难</a:t>
            </a:r>
            <a:endParaRPr sz="1900" b="1" dirty="0">
              <a:solidFill>
                <a:srgbClr val="092B56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90872" y="1316736"/>
            <a:ext cx="2889504" cy="38404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当前处理与拟研究方法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3104" y="1316736"/>
            <a:ext cx="2697480" cy="38404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用什么检验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83664"/>
            <a:ext cx="3273552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883664"/>
            <a:ext cx="327355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06524"/>
            <a:ext cx="312724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303580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链路 SRS/CSI 质量不同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2" y="2304288"/>
            <a:ext cx="45720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25696" y="1883664"/>
            <a:ext cx="3749039" cy="85039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25696" y="1883664"/>
            <a:ext cx="3749039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906524"/>
            <a:ext cx="3602735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对应机制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0008"/>
            <a:ext cx="351129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链路条件误差 C → 接收与预编码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0456" y="2304288"/>
            <a:ext cx="44805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14232" y="1883664"/>
            <a:ext cx="2852928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14232" y="1883664"/>
            <a:ext cx="2852928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87384" y="1906524"/>
            <a:ext cx="2706624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评价口径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350008"/>
            <a:ext cx="2615184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同场景误差对照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026664"/>
            <a:ext cx="3273552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4360" y="3026664"/>
            <a:ext cx="3273552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049524"/>
            <a:ext cx="312724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493008"/>
            <a:ext cx="303580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边缘 UE 协同受干扰影响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13632" y="3447288"/>
            <a:ext cx="457200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25696" y="3026664"/>
            <a:ext cx="3749039" cy="85039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25696" y="3026664"/>
            <a:ext cx="3749039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3049524"/>
            <a:ext cx="3602735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对应机制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493008"/>
            <a:ext cx="351129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用户中心服务 + WMMSE 更新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0456" y="3447288"/>
            <a:ext cx="44805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714232" y="3026664"/>
            <a:ext cx="2852928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14232" y="3026664"/>
            <a:ext cx="2852928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87384" y="3049524"/>
            <a:ext cx="2706624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评价口径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493008"/>
            <a:ext cx="2615184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体验低分位与速率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169664"/>
            <a:ext cx="3273552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94360" y="4169664"/>
            <a:ext cx="3273552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" y="4192524"/>
            <a:ext cx="312724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636008"/>
            <a:ext cx="303580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273 RB 与跨组功率耦合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13632" y="4590288"/>
            <a:ext cx="457200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425696" y="4169664"/>
            <a:ext cx="3749039" cy="85039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425696" y="4169664"/>
            <a:ext cx="3749039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98848" y="4192524"/>
            <a:ext cx="3602735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对应机制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4636008"/>
            <a:ext cx="351129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集中式 ADMM 联合投影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20456" y="4590288"/>
            <a:ext cx="448056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714232" y="4169664"/>
            <a:ext cx="2852928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714232" y="4169664"/>
            <a:ext cx="2852928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87384" y="4192524"/>
            <a:ext cx="2706624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评价口径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33104" y="4636008"/>
            <a:ext cx="2615184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功率违规与残差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网络拓扑与协同架构</a:t>
            </a:r>
          </a:p>
        </p:txBody>
      </p:sp>
      <p:pic>
        <p:nvPicPr>
          <p:cNvPr id="3" name="Picture 2" descr="topology_full.png"/>
          <p:cNvPicPr>
            <a:picLocks noChangeAspect="1"/>
          </p:cNvPicPr>
          <p:nvPr/>
        </p:nvPicPr>
        <p:blipFill>
          <a:blip r:embed="rId3"/>
          <a:srcRect l="21400"/>
          <a:stretch>
            <a:fillRect/>
          </a:stretch>
        </p:blipFill>
        <p:spPr>
          <a:xfrm>
            <a:off x="417308" y="1280160"/>
            <a:ext cx="6119515" cy="5144147"/>
          </a:xfrm>
          <a:prstGeom prst="rect">
            <a:avLst/>
          </a:prstGeom>
        </p:spPr>
      </p:pic>
      <p:pic>
        <p:nvPicPr>
          <p:cNvPr id="6" name="Picture 5" descr="topology_zoom.png"/>
          <p:cNvPicPr>
            <a:picLocks noChangeAspect="1"/>
          </p:cNvPicPr>
          <p:nvPr/>
        </p:nvPicPr>
        <p:blipFill>
          <a:blip r:embed="rId4"/>
          <a:srcRect l="21261"/>
          <a:stretch>
            <a:fillRect/>
          </a:stretch>
        </p:blipFill>
        <p:spPr>
          <a:xfrm>
            <a:off x="7461503" y="1687854"/>
            <a:ext cx="3624845" cy="31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26187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87768" y="1161288"/>
            <a:ext cx="4343400" cy="4846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共址扇区 · 用户中心服务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3216" y="4910328"/>
            <a:ext cx="4224528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① 三个 TRP 共用一个站址，箭头表示扇区主方向。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6" y="5422392"/>
            <a:ext cx="4224528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② UE 7 由 T01、T02 服务；CPU 集中计算预编码。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5916168"/>
            <a:ext cx="4206240" cy="33832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40" b="1">
                <a:solidFill>
                  <a:srgbClr val="000000"/>
                </a:solidFill>
                <a:latin typeface="Microsoft YaHei"/>
              </a:rPr>
              <a:t>彩色小点＝实际 UE；颜色＝初始归属站址。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真实执行链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252728"/>
            <a:ext cx="10927080" cy="39319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正式 MATLAB 入口：一次场景快照生成 → 固定资源 → 求预编码 → 真信道评价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2648" y="1847088"/>
            <a:ext cx="1993392" cy="402336"/>
          </a:xfrm>
          <a:prstGeom prst="roundRect">
            <a:avLst/>
          </a:prstGeom>
          <a:solidFill>
            <a:srgbClr val="092B56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69948"/>
            <a:ext cx="18470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① 场景/业务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13432"/>
            <a:ext cx="1755648" cy="987551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站址、扇区、UE 位置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生成服务集与业务到达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80360" y="1847088"/>
            <a:ext cx="199339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1869948"/>
            <a:ext cx="18470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② 真信道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313432"/>
            <a:ext cx="1755648" cy="987551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几何增益 + 复高斯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Hᵗʳᵘᵉ：4×64 / 链路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48072" y="1847088"/>
            <a:ext cx="1993392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1224" y="1869948"/>
            <a:ext cx="18470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③ 等效测量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313432"/>
            <a:ext cx="1755648" cy="987551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CSI-RS / SRS 质量与年龄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输出 Ĥ、C：4×64 / 4×4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3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15783" y="1847088"/>
            <a:ext cx="1993392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88936" y="1869948"/>
            <a:ext cx="18470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④ 资源规则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2313432"/>
            <a:ext cx="1755648" cy="987551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关联 b、调度 χ、流数 r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及资源权重 ν 固定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83496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83496" y="1847088"/>
            <a:ext cx="1993392" cy="402336"/>
          </a:xfrm>
          <a:prstGeom prst="roundRect">
            <a:avLst/>
          </a:prstGeom>
          <a:solidFill>
            <a:srgbClr val="B12A30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6648" y="1869948"/>
            <a:ext cx="18470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⑤ 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313432"/>
            <a:ext cx="1755648" cy="987551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Ĥ、C 和固定资源输入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矩阵 WMMSE–ADMM 求 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24328" y="2596896"/>
            <a:ext cx="219456" cy="0"/>
          </a:xfrm>
          <a:prstGeom prst="line">
            <a:avLst/>
          </a:prstGeom>
          <a:ln w="30480">
            <a:solidFill>
              <a:srgbClr val="092B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92040" y="2596896"/>
            <a:ext cx="21945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59752" y="2596896"/>
            <a:ext cx="21945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27464" y="2596896"/>
            <a:ext cx="219456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039112" y="4206240"/>
            <a:ext cx="8284464" cy="996696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76856" y="4306824"/>
            <a:ext cx="7808975" cy="74980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700" b="1">
                <a:solidFill>
                  <a:srgbClr val="092B56"/>
                </a:solidFill>
                <a:latin typeface="Microsoft YaHei"/>
              </a:rPr>
              <a:t>⑥ 用同一预编码 w 在 Hᵗʳᵘᵉ 上重算下行速率 → 业务交付量、体验分位与功率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661904" y="3392424"/>
            <a:ext cx="0" cy="374904"/>
          </a:xfrm>
          <a:prstGeom prst="line">
            <a:avLst/>
          </a:prstGeom>
          <a:ln w="30480">
            <a:solidFill>
              <a:srgbClr val="B12A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199632" y="3767328"/>
            <a:ext cx="4462272" cy="0"/>
          </a:xfrm>
          <a:prstGeom prst="line">
            <a:avLst/>
          </a:prstGeom>
          <a:ln w="30480">
            <a:solidFill>
              <a:srgbClr val="B12A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99632" y="3767328"/>
            <a:ext cx="0" cy="402336"/>
          </a:xfrm>
          <a:prstGeom prst="line">
            <a:avLst/>
          </a:prstGeom>
          <a:ln w="30480">
            <a:solidFill>
              <a:srgbClr val="B12A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7512" y="5513831"/>
            <a:ext cx="10863072" cy="612648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5559552"/>
            <a:ext cx="10469880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20" b="1">
                <a:solidFill>
                  <a:srgbClr val="000000"/>
                </a:solidFill>
                <a:latin typeface="Microsoft YaHei"/>
              </a:rPr>
              <a:t>旧 GA / PSO 搜索链独立；当前正式入口没有把历史候选接到矩阵求解器。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SRS–CSI 测量与估计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3218688" cy="449884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298448"/>
            <a:ext cx="3218688" cy="457200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1344168"/>
            <a:ext cx="305409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UE / 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56232"/>
            <a:ext cx="2962656" cy="31089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450" b="1">
                <a:solidFill>
                  <a:srgbClr val="092B56"/>
                </a:solidFill>
                <a:latin typeface="Microsoft YaHei"/>
              </a:rPr>
              <a:t>测量对象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95928" y="1298448"/>
            <a:ext cx="3429000" cy="449884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95928" y="1298448"/>
            <a:ext cx="3429000" cy="457200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78224" y="1344168"/>
            <a:ext cx="326440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TRP / 接收侧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3944" y="1856232"/>
            <a:ext cx="3172968" cy="31089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450" b="1">
                <a:solidFill>
                  <a:srgbClr val="092B56"/>
                </a:solidFill>
                <a:latin typeface="Microsoft YaHei"/>
              </a:rPr>
              <a:t>采集与上送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8664" y="1298448"/>
            <a:ext cx="4041648" cy="449884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8664" y="1298448"/>
            <a:ext cx="4041648" cy="457200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0" y="1344168"/>
            <a:ext cx="387705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CPU / 协调侧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856232"/>
            <a:ext cx="3785615" cy="31089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450" b="1">
                <a:solidFill>
                  <a:srgbClr val="092B56"/>
                </a:solidFill>
                <a:latin typeface="Microsoft YaHei"/>
              </a:rPr>
              <a:t>集中建模与求解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" y="2322576"/>
            <a:ext cx="2724912" cy="7955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3816" y="2322576"/>
            <a:ext cx="272491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2345436"/>
            <a:ext cx="257860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① UE 测量视角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788920"/>
            <a:ext cx="2487168" cy="292607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SRS 上行；CSI-RS 下行观测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57015" y="2724912"/>
            <a:ext cx="612648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87952" y="2322576"/>
            <a:ext cx="2980944" cy="7955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87952" y="2322576"/>
            <a:ext cx="2980944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104" y="2345436"/>
            <a:ext cx="2834639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② 等效观测样本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2788920"/>
            <a:ext cx="2743200" cy="292607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质量、年龄、跳频选择 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96328" y="2724912"/>
            <a:ext cx="576072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36408" y="2322576"/>
            <a:ext cx="3520440" cy="7955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836408" y="2322576"/>
            <a:ext cx="352044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09560" y="2345436"/>
            <a:ext cx="337413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③ 条件估计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788920"/>
            <a:ext cx="3282696" cy="292607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先验 + CSI-RS + SRS → Ĥ、C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6408" y="3483864"/>
            <a:ext cx="3520440" cy="83210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836408" y="3483864"/>
            <a:ext cx="352044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3506724"/>
            <a:ext cx="337413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④ 资源与求解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950208"/>
            <a:ext cx="3282696" cy="329184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b、χ、r、ν 固定；用 Ĥ、C 求 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92056" y="3145536"/>
            <a:ext cx="0" cy="301752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214616" y="3877056"/>
            <a:ext cx="603504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187952" y="3483864"/>
            <a:ext cx="2980944" cy="83210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187952" y="3483864"/>
            <a:ext cx="2980944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61104" y="3506724"/>
            <a:ext cx="2834639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⑤ 下行执行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3950208"/>
            <a:ext cx="2743200" cy="329184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取得各 TRP 预编码块 wₗ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566160" y="3877056"/>
            <a:ext cx="603503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3816" y="3483864"/>
            <a:ext cx="2724912" cy="83210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13816" y="3483864"/>
            <a:ext cx="272491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" y="3506724"/>
            <a:ext cx="257860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⑥ UE 接收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3950208"/>
            <a:ext cx="2487168" cy="329184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多 TRP 相干叠加 + 干扰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" y="4700016"/>
            <a:ext cx="10497312" cy="713232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1832" y="4764024"/>
            <a:ext cx="10168128" cy="56692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Microsoft YaHei"/>
              </a:rPr>
              <a:t>当前是仿真的等效观测与集中数值计算；图中的信息流不代表完整上行协议或 TRP 本地 ADMM。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资源变量与方法分工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453895"/>
            <a:ext cx="5212080" cy="3986784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600200"/>
            <a:ext cx="4718304" cy="41148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历史慢层搜索：独立评价链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85415"/>
            <a:ext cx="4645152" cy="108813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10" b="0">
                <a:solidFill>
                  <a:srgbClr val="000000"/>
                </a:solidFill>
                <a:latin typeface="Microsoft YaHei"/>
              </a:rPr>
              <a:t>候选编码：PF 指数、连接数、调度阈值、rank 门限及修复参数等；不是正式场景的直接联合决策变量。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01568"/>
            <a:ext cx="4599432" cy="113385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10" b="0">
                <a:solidFill>
                  <a:srgbClr val="000000"/>
                </a:solidFill>
                <a:latin typeface="Microsoft YaHei"/>
              </a:rPr>
              <a:t>GA 用选择、交叉、变异产生候选；PSO 用位置和速度更新候选；历史评价器计算目标并筛选。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53895"/>
            <a:ext cx="5175504" cy="398678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1600200"/>
            <a:ext cx="4718304" cy="41148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当前正式快层：集中式求解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85415"/>
            <a:ext cx="4645152" cy="100584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20" b="0">
                <a:solidFill>
                  <a:srgbClr val="000000"/>
                </a:solidFill>
                <a:latin typeface="Microsoft YaHei"/>
              </a:rPr>
              <a:t>规则固定：关联 b、调度 χ、流数 r、资源权重 ν；输入 Ĥ 与 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328415"/>
            <a:ext cx="4617720" cy="107899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20" b="0">
                <a:solidFill>
                  <a:srgbClr val="000000"/>
                </a:solidFill>
                <a:latin typeface="Microsoft YaHei"/>
              </a:rPr>
              <a:t>优化：含发射幅度的预编码 w；跨资源组共享每 TRP 功率预算 Pₗ。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24728" y="3346704"/>
            <a:ext cx="502920" cy="0"/>
          </a:xfrm>
          <a:prstGeom prst="line">
            <a:avLst/>
          </a:prstGeom>
          <a:ln w="30480">
            <a:solidFill>
              <a:srgbClr val="DF7B2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83480" y="3557015"/>
            <a:ext cx="2020824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20" b="1">
                <a:solidFill>
                  <a:srgbClr val="DF7B27"/>
                </a:solidFill>
                <a:latin typeface="Microsoft YaHei"/>
              </a:rPr>
              <a:t>尚未接通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632703"/>
            <a:ext cx="10762488" cy="539496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5678424"/>
            <a:ext cx="10469880" cy="420624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580" b="1">
                <a:solidFill>
                  <a:srgbClr val="000000"/>
                </a:solidFill>
                <a:latin typeface="Microsoft YaHei"/>
              </a:rPr>
              <a:t>只有经过接入与统一评价，才能把“慢层候选 → 快层求解 → 反馈”称为当前联合链。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下行通信与评价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9224" y="1408176"/>
            <a:ext cx="1847088" cy="1078992"/>
          </a:xfrm>
          <a:prstGeom prst="roundRect">
            <a:avLst/>
          </a:prstGeom>
          <a:solidFill>
            <a:srgbClr val="092B56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645920" cy="75895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发射与传播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2834640"/>
            <a:ext cx="1847088" cy="1078992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980944"/>
            <a:ext cx="1645920" cy="75895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UE 接收与速率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" y="4261104"/>
            <a:ext cx="1847088" cy="1078992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4407408"/>
            <a:ext cx="1645920" cy="75895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业务与评价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43560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70632" y="1435608"/>
            <a:ext cx="242316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43784" y="1458468"/>
            <a:ext cx="227685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wₗkg：预编码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1901952"/>
            <a:ext cx="2185415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TRP l 发送 UE k 的 r 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13832" y="143560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13832" y="1435608"/>
            <a:ext cx="242316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86984" y="1458468"/>
            <a:ext cx="227685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Hᵗʳᵘᵉ：真实信道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1901952"/>
            <a:ext cx="2185415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各服务 TRP 在 UE 相干叠加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35608"/>
            <a:ext cx="3026664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75320" y="1435608"/>
            <a:ext cx="3026664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1458468"/>
            <a:ext cx="2880360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yₖg：接收信号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901952"/>
            <a:ext cx="2788920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有用信号 + 同资源干扰 + 噪声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02936" y="1938528"/>
            <a:ext cx="27432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46136" y="1938528"/>
            <a:ext cx="292608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70632" y="285292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70632" y="2852928"/>
            <a:ext cx="2423160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43784" y="2875788"/>
            <a:ext cx="227685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每 TTI 可传比特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9504" y="3319272"/>
            <a:ext cx="2185415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RB 带宽 × SE × 有效时长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13832" y="285292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13832" y="2852928"/>
            <a:ext cx="2423160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86984" y="2875788"/>
            <a:ext cx="227685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速率 / 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3319272"/>
            <a:ext cx="2185415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真实信道下 log-det 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852928"/>
            <a:ext cx="3026664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75320" y="2852928"/>
            <a:ext cx="3026664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2" y="2875788"/>
            <a:ext cx="2880360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组成分析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319272"/>
            <a:ext cx="2788920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分出有用信号、干扰与噪声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84080" y="2478024"/>
            <a:ext cx="0" cy="32004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973568" y="3355848"/>
            <a:ext cx="26517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230368" y="3355848"/>
            <a:ext cx="246888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770632" y="4279392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770632" y="4279392"/>
            <a:ext cx="242316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43784" y="4302252"/>
            <a:ext cx="227685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业务交付量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9504" y="4745736"/>
            <a:ext cx="2185415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受流量到达和队列限制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13832" y="4279392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513832" y="4279392"/>
            <a:ext cx="242316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86984" y="4302252"/>
            <a:ext cx="227685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用户体验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2704" y="4745736"/>
            <a:ext cx="2185415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有效时窗内交付量 / 时间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4279392"/>
            <a:ext cx="3026664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275320" y="4279392"/>
            <a:ext cx="3026664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48472" y="4302252"/>
            <a:ext cx="2880360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最终报告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4745736"/>
            <a:ext cx="2788920" cy="5029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体验分位、功率、停止状态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77639" y="3895344"/>
            <a:ext cx="0" cy="347472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202936" y="4782312"/>
            <a:ext cx="274320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46136" y="4782312"/>
            <a:ext cx="29260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58952" y="5641848"/>
            <a:ext cx="10607040" cy="36576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639" b="1">
                <a:solidFill>
                  <a:srgbClr val="092B56"/>
                </a:solidFill>
                <a:latin typeface="Microsoft YaHei"/>
              </a:rPr>
              <a:t>同一个 w 用于仿真真实信道评价；非理想优化分支的求解输入仍是 Ĥ、C。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WMMSE–ADMM 嵌套求解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307592"/>
            <a:ext cx="10972800" cy="1847088"/>
          </a:xfrm>
          <a:prstGeom prst="roundRect">
            <a:avLst/>
          </a:prstGeom>
          <a:solidFill>
            <a:srgbClr val="EDF4FB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1444752"/>
            <a:ext cx="5559552" cy="39319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WMMSE 外轮：更新接收与权重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007108"/>
            <a:ext cx="209397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可行 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450592"/>
            <a:ext cx="2002536" cy="42976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初始化 / 上轮输出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9272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2424" y="2007108"/>
            <a:ext cx="209397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F 与 Rʸʸ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450592"/>
            <a:ext cx="2002536" cy="42976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Ĥw；误差项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59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852159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25312" y="2007108"/>
            <a:ext cx="209397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A、E、Ω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2450592"/>
            <a:ext cx="2002536" cy="42976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MMSE 接收；逆 MSE 加权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85048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007108"/>
            <a:ext cx="2093976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二次子问题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50592"/>
            <a:ext cx="2002536" cy="42976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固定 A、Ω、η，求 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54096" y="2450592"/>
            <a:ext cx="22860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86984" y="2450592"/>
            <a:ext cx="228599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19872" y="2450592"/>
            <a:ext cx="22860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2648" y="3557016"/>
            <a:ext cx="10972800" cy="1819656"/>
          </a:xfrm>
          <a:prstGeom prst="roundRect">
            <a:avLst/>
          </a:prstGeom>
          <a:solidFill>
            <a:srgbClr val="FFF5E9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621024"/>
            <a:ext cx="3337560" cy="35661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ADMM 内轮：固定 A、Ω、η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3816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4155948"/>
            <a:ext cx="2130552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x：原变量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599431"/>
            <a:ext cx="2039112" cy="420623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CG 解线性系统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93008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66160" y="4155948"/>
            <a:ext cx="2130552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z：可行副本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599431"/>
            <a:ext cx="2039112" cy="420623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跨组功率投影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72200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45352" y="4155948"/>
            <a:ext cx="2130552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y：缩放对偶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599431"/>
            <a:ext cx="2039112" cy="420623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y ← y+x−z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51392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851392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24544" y="4155948"/>
            <a:ext cx="2130552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残差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0264" y="4599431"/>
            <a:ext cx="2039112" cy="420623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原始 / 对偶 / CG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18104" y="4590288"/>
            <a:ext cx="33832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97296" y="4590288"/>
            <a:ext cx="33832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76488" y="4590288"/>
            <a:ext cx="33832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94392" y="5093208"/>
            <a:ext cx="0" cy="246888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911095" y="5340096"/>
            <a:ext cx="8083297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911095" y="5093208"/>
            <a:ext cx="0" cy="246888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690872" y="5102352"/>
            <a:ext cx="2834640" cy="25603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350" b="1">
                <a:solidFill>
                  <a:srgbClr val="DF7B27"/>
                </a:solidFill>
                <a:latin typeface="Microsoft YaHei"/>
              </a:rPr>
              <a:t>内层未停止 → 再更新 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" y="5724144"/>
            <a:ext cx="10753344" cy="56692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96112" y="5788152"/>
            <a:ext cx="10341864" cy="42976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560" b="1">
                <a:solidFill>
                  <a:srgbClr val="000000"/>
                </a:solidFill>
                <a:latin typeface="Microsoft YaHei"/>
              </a:rPr>
              <a:t>返回可行 z → 重算外层目标 → 接受 / 回溯 / 停止；未停止则返回 F、Rʸʸ。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625328" y="2944368"/>
            <a:ext cx="0" cy="557784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37776" y="5385816"/>
            <a:ext cx="0" cy="292608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76072" y="5916168"/>
            <a:ext cx="192024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76072" y="2505456"/>
            <a:ext cx="0" cy="3410712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76072" y="2505456"/>
            <a:ext cx="17373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ADMM 功率约束与停止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444751"/>
            <a:ext cx="10698480" cy="43891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720" b="1">
                <a:solidFill>
                  <a:srgbClr val="092B56"/>
                </a:solidFill>
                <a:latin typeface="Microsoft YaHei"/>
              </a:rPr>
              <a:t>内轮将二次预编码问题拆为原变量 x 与功率可行副本 z，y 记录一致性误差。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2167128"/>
            <a:ext cx="3419856" cy="12344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6656" y="2167128"/>
            <a:ext cx="3419856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2189988"/>
            <a:ext cx="3273552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680" b="1">
                <a:solidFill>
                  <a:srgbClr val="FFFFFF"/>
                </a:solidFill>
                <a:latin typeface="Microsoft YaHei"/>
              </a:rPr>
              <a:t>① CG 更新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33472"/>
            <a:ext cx="3182112" cy="7315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按 νg Qg 与 ρ/2 构成线性系统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167128"/>
            <a:ext cx="3419856" cy="12344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70832" y="2167128"/>
            <a:ext cx="3419856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43984" y="2189988"/>
            <a:ext cx="3273552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680" b="1">
                <a:solidFill>
                  <a:srgbClr val="FFFFFF"/>
                </a:solidFill>
                <a:latin typeface="Microsoft YaHei"/>
              </a:rPr>
              <a:t>② 联合投影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633472"/>
            <a:ext cx="3182112" cy="7315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Σg νg Σj ‖wₗjg‖² ≤ Pₗ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167128"/>
            <a:ext cx="3419856" cy="12344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65008" y="2167128"/>
            <a:ext cx="3419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189988"/>
            <a:ext cx="3273552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680" b="1">
                <a:solidFill>
                  <a:srgbClr val="FFFFFF"/>
                </a:solidFill>
                <a:latin typeface="Microsoft YaHei"/>
              </a:rPr>
              <a:t>③ 对偶与残差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633472"/>
            <a:ext cx="3182112" cy="731520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y←y+x−z；检查残差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23944" y="2779776"/>
            <a:ext cx="201168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2779776"/>
            <a:ext cx="201168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4088" y="3849624"/>
            <a:ext cx="10753344" cy="106984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" y="3931920"/>
            <a:ext cx="10332720" cy="88696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720" b="1">
                <a:solidFill>
                  <a:srgbClr val="000000"/>
                </a:solidFill>
                <a:latin typeface="Microsoft YaHei"/>
              </a:rPr>
              <a:t>为什么跨组投影？一个 TRP 在所有资源组共用同一预算 Pₗ；逐组独立限制会改变原问题。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5276088"/>
            <a:ext cx="10753344" cy="585216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5321808"/>
            <a:ext cx="10332720" cy="466344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Microsoft YaHei"/>
              </a:rPr>
              <a:t>功率可行 ≠ 数值对拍通过 ≠ ADMM 收敛 ≠ WMMSE 外层停止。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现有统计误差机制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7512" y="1783080"/>
            <a:ext cx="245059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0664" y="1805940"/>
            <a:ext cx="23042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测量质量与年龄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49424"/>
            <a:ext cx="2212848" cy="90525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50" b="0">
                <a:solidFill>
                  <a:srgbClr val="000000"/>
                </a:solidFill>
                <a:latin typeface="Microsoft YaHei"/>
              </a:rPr>
              <a:t>SINR、CSI 年龄、SRS 行选择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47288" y="1783080"/>
            <a:ext cx="2450592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805940"/>
            <a:ext cx="23042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条件协方差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49424"/>
            <a:ext cx="2212848" cy="90525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50" b="0">
                <a:solidFill>
                  <a:srgbClr val="000000"/>
                </a:solidFill>
                <a:latin typeface="Microsoft YaHei"/>
              </a:rPr>
              <a:t>每链路、资源组的 4×4 统计误差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27064" y="1783080"/>
            <a:ext cx="2450592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0216" y="1805940"/>
            <a:ext cx="23042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接收统计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249424"/>
            <a:ext cx="2212848" cy="90525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450" b="0">
                <a:solidFill>
                  <a:srgbClr val="000000"/>
                </a:solidFill>
                <a:latin typeface="Microsoft YaHei"/>
              </a:rPr>
              <a:t>Rʸʸ 增加 Σₗ pₗg Cₖₗg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06840" y="1783080"/>
            <a:ext cx="2450592" cy="402336"/>
          </a:xfrm>
          <a:prstGeom prst="roundRect">
            <a:avLst/>
          </a:prstGeom>
          <a:solidFill>
            <a:srgbClr val="B12A30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9992" y="1805940"/>
            <a:ext cx="2304288" cy="34747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预编码与评价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249424"/>
            <a:ext cx="2212848" cy="905256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t>二次算子 𝒬(C) → w → 真信道体验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45536" y="2478024"/>
            <a:ext cx="26517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25312" y="2478024"/>
            <a:ext cx="26517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05088" y="2478024"/>
            <a:ext cx="265176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4944" y="3630168"/>
            <a:ext cx="5129784" cy="119786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721608"/>
            <a:ext cx="4727448" cy="98755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pPr algn="l"/>
            <a:r>
              <a:rPr sz="1620" b="0">
                <a:solidFill>
                  <a:srgbClr val="000000"/>
                </a:solidFill>
                <a:latin typeface="Microsoft YaHei"/>
              </a:rPr>
              <a:t>当前统计模型：先验、CSI-RS 与 SRS 观测的精度相加；未测 SRS 的组只用其余观测。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3630168"/>
            <a:ext cx="5157216" cy="1197864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721608"/>
            <a:ext cx="4718304" cy="987552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t>拟研究：由统计误差校准矩阵信道的不确定集合；最坏情况内层未接入。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8"/>
            <a:ext cx="10515600" cy="475488"/>
          </a:xfrm>
          <a:prstGeom prst="rect">
            <a:avLst/>
          </a:prstGeom>
          <a:noFill/>
        </p:spPr>
        <p:txBody>
          <a:bodyPr wrap="square" lIns="27432" tIns="13716" rIns="27432" bIns="13716" anchor="ctr">
            <a:spAutoFit/>
          </a:bodyPr>
          <a:lstStyle/>
          <a:p>
            <a:r>
              <a:t>当前 C 为接收侧 4×4 协方差；新版椭球的坐标域、尺度与置信水平还需定义。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核心变量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3312"/>
            <a:ext cx="1645920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1362456"/>
            <a:ext cx="1554480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4288" y="1353312"/>
            <a:ext cx="471830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50008" y="1362456"/>
            <a:ext cx="4626864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标准符号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2592" y="1353312"/>
            <a:ext cx="298094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68312" y="1362456"/>
            <a:ext cx="2889503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中文含义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3536" y="1353312"/>
            <a:ext cx="1490472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49256" y="1362456"/>
            <a:ext cx="1399032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维度 / 单位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653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19019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索引与规模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19019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l, k, j, g; Nₜ, Nᵣ,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019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TRP、UE、资源组；端口、接收天线、流数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7544" y="19019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索引；64、4、≤2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25237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8368" y="25511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25877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信道与测量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25877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Hᵗʳᵘᵉ, Ĥ,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5877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真信道、估计信道、条件误差协方差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67544" y="25877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4×64；4×64；4×4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32095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8368" y="32369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32735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资源变量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8296" y="32735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b, χ, ν; w, p, Pₗ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735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调度、服务、RB 权重；预编码、功率、预算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32735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0/1；64×r；W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38953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8368" y="39227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" y="39593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WMMSE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8296" y="39593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F, Rʸʸ, A, E, Ω, 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593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有效信道、接收协方差、接收器、MSE、权重、效用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39593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4×r；4×4；r×r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45811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" y="46085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6" y="46451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ADMM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8296" y="46451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x, z, y, 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6451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原变量、可行副本、缩放对偶、罚参数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7544" y="46451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同 w；标量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52669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58368" y="52943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" y="53309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评价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8296" y="53309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Rˢᴱ, Rᵉˣᵖ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3309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频谱效率、按协议统计的体验率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544" y="53309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bit/s/Hz；协议口径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09" y="438271"/>
            <a:ext cx="8520281" cy="438582"/>
          </a:xfrm>
        </p:spPr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新版方案：测量可靠性驱动协同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98448"/>
            <a:ext cx="10927080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10" b="1">
                <a:solidFill>
                  <a:srgbClr val="092B56"/>
                </a:solidFill>
                <a:latin typeface="Microsoft YaHei"/>
              </a:rPr>
              <a:t>SRS 测量误差 → CSI 偏差 → 协同波束与干扰预测失准 → 边缘体验风险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20"/>
            <a:ext cx="5230368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4828032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80" b="1">
                <a:solidFill>
                  <a:srgbClr val="092B56"/>
                </a:solidFill>
                <a:latin typeface="Microsoft YaHei"/>
              </a:rPr>
              <a:t>第一层：不同 UE–TRP 链路的误差规模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4773168" cy="6126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40" b="0">
                <a:solidFill>
                  <a:srgbClr val="000000"/>
                </a:solidFill>
                <a:latin typeface="Microsoft YaHei"/>
              </a:rPr>
              <a:t>原文用 SRS SINR、距离、速度和 NLOS 构造链路误差方差；函数 f 与量纲尚未标定。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216" y="1874520"/>
            <a:ext cx="5239512" cy="122529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65960"/>
            <a:ext cx="4828032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80" b="1">
                <a:solidFill>
                  <a:srgbClr val="092B56"/>
                </a:solidFill>
                <a:latin typeface="Microsoft YaHei"/>
              </a:rPr>
              <a:t>第二层：一条链路内的方向差异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377440"/>
            <a:ext cx="4818888" cy="6217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40" b="0">
                <a:solidFill>
                  <a:srgbClr val="000000"/>
                </a:solidFill>
                <a:latin typeface="Microsoft YaHei"/>
              </a:rPr>
              <a:t>Q 的特征值描述各方向误差；对角形式只在选定坐标基中成立。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43016" y="2496312"/>
            <a:ext cx="420624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3504" y="3374136"/>
            <a:ext cx="10927080" cy="144475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447288"/>
            <a:ext cx="3886200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原文的单接收向量椭球</a:t>
            </a:r>
          </a:p>
        </p:txBody>
      </p:sp>
      <p:pic>
        <p:nvPicPr>
          <p:cNvPr id="13" name="Picture 12" descr="original_ellips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725" y="3758184"/>
            <a:ext cx="2633988" cy="4846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4352544"/>
            <a:ext cx="10314432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Δh∈ℂ⁶⁴；Q∈ℂ⁶⁴×⁶⁴。若 Q 是统计协方差，置信边界还需要尺度 τ；原文固定为 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965192"/>
            <a:ext cx="10890504" cy="731520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5029200"/>
            <a:ext cx="10479024" cy="5943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10" b="1">
                <a:solidFill>
                  <a:srgbClr val="000000"/>
                </a:solidFill>
                <a:latin typeface="Microsoft YaHei"/>
              </a:rPr>
              <a:t>当前代码用 H∈ℂ⁴×⁶⁴、Cᵣₓ∈ℂ⁴×⁴；扩展为 256 维矩阵误差集合需推导，尚未实现。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新版方案的优化变量与约束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280160"/>
            <a:ext cx="10899648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完整波束 w 同时决定发射方向与幅度；功率 p 由波束范数导出。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73936"/>
            <a:ext cx="11000232" cy="74980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posal_objecti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868" y="1837943"/>
            <a:ext cx="4001719" cy="521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2578608"/>
            <a:ext cx="10716768" cy="3017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20" b="0">
                <a:solidFill>
                  <a:srgbClr val="000000"/>
                </a:solidFill>
                <a:latin typeface="Microsoft YaHei"/>
              </a:rPr>
              <a:t>公平效用 − 链路组稀疏 − TRP 激活代价；分开两种惩罚系数是解释修正。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054096"/>
            <a:ext cx="3401568" cy="15270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154680"/>
            <a:ext cx="3044952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波束与功率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611880"/>
            <a:ext cx="3026664" cy="8229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70" b="0">
                <a:solidFill>
                  <a:srgbClr val="000000"/>
                </a:solidFill>
                <a:latin typeface="Microsoft YaHei"/>
              </a:rPr>
              <a:t>wₗₖg∈ℂ⁶⁴×ʳ；pₗ 是所有资源组的加权发射功率。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3054096"/>
            <a:ext cx="3410712" cy="15270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3" y="3154680"/>
            <a:ext cx="3072384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链路组 vs 整 TRP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3" y="3611880"/>
            <a:ext cx="3044952" cy="8595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‖wₗₖ,:‖ 归零只删一条服务链；sₗ=0 才约束整台 TRP 不发射。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3054096"/>
            <a:ext cx="3520440" cy="152704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154680"/>
            <a:ext cx="3145536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限制与后处理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11880"/>
            <a:ext cx="3127248" cy="8595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边缘最低速率、关联可行性；sₗ 松弛判阈后须重优化并复查。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" y="4828032"/>
            <a:ext cx="10835640" cy="71323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ared_p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378" y="4974336"/>
            <a:ext cx="2522162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5632704"/>
            <a:ext cx="1060704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Microsoft YaHei"/>
              </a:rPr>
              <a:t>任务目标：边缘体验、体验损失 &lt;10%、空口发射功率降 &gt;30%；参照与分母须按原始材料核定，当前无新版效果证据。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新版求解流程与实现边界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16736"/>
            <a:ext cx="7626096" cy="1188720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399032"/>
            <a:ext cx="7260336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10" b="1">
                <a:solidFill>
                  <a:srgbClr val="092B56"/>
                </a:solidFill>
                <a:latin typeface="Microsoft YaHei"/>
              </a:rPr>
              <a:t>WMMSE 外轮：当前 w → A 接收器 → E、Ω 权重 → 固定量求 w</a:t>
            </a:r>
          </a:p>
        </p:txBody>
      </p:sp>
      <p:pic>
        <p:nvPicPr>
          <p:cNvPr id="5" name="Picture 4" descr="minmax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1" y="1828800"/>
            <a:ext cx="2441448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2249424"/>
            <a:ext cx="7232904" cy="2194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60" b="0">
                <a:solidFill>
                  <a:srgbClr val="000000"/>
                </a:solidFill>
                <a:latin typeface="Microsoft YaHei"/>
              </a:rPr>
              <a:t>上式是原文最坏情形设想；当前统计 C 尚未转化成这个内层问题。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70832" y="2523744"/>
            <a:ext cx="0" cy="246888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4360" y="2788920"/>
            <a:ext cx="7626096" cy="1901952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889504"/>
            <a:ext cx="7296912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92B56"/>
                </a:solidFill>
                <a:latin typeface="Microsoft YaHei"/>
              </a:rPr>
              <a:t>ADMM 内轮：固定 A、Ω；每轮更新 x → z → y → 双残差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3419856"/>
            <a:ext cx="1627632" cy="82296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465576"/>
            <a:ext cx="1463040" cy="2651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092B56"/>
                </a:solidFill>
                <a:latin typeface="Microsoft YaHei"/>
              </a:rPr>
              <a:t>x：波束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785615"/>
            <a:ext cx="1463040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40" b="0">
                <a:solidFill>
                  <a:srgbClr val="000000"/>
                </a:solidFill>
                <a:latin typeface="Microsoft YaHei"/>
              </a:rPr>
              <a:t>拟加链路组稀疏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3419856"/>
            <a:ext cx="1627632" cy="82296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3465576"/>
            <a:ext cx="1463040" cy="2651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092B56"/>
                </a:solidFill>
                <a:latin typeface="Microsoft YaHei"/>
              </a:rPr>
              <a:t>消息门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785615"/>
            <a:ext cx="1463040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40" b="0">
                <a:solidFill>
                  <a:srgbClr val="000000"/>
                </a:solidFill>
                <a:latin typeface="Microsoft YaHei"/>
              </a:rPr>
              <a:t>m 与缓存比较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1416" y="3419856"/>
            <a:ext cx="1627632" cy="82296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465576"/>
            <a:ext cx="1463040" cy="2651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092B56"/>
                </a:solidFill>
                <a:latin typeface="Microsoft YaHei"/>
              </a:rPr>
              <a:t>z：副本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785615"/>
            <a:ext cx="1463040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40" b="0">
                <a:solidFill>
                  <a:srgbClr val="000000"/>
                </a:solidFill>
                <a:latin typeface="Microsoft YaHei"/>
              </a:rPr>
              <a:t>联合功率投影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419856"/>
            <a:ext cx="1627632" cy="82296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3465576"/>
            <a:ext cx="1463040" cy="2651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092B56"/>
                </a:solidFill>
                <a:latin typeface="Microsoft YaHei"/>
              </a:rPr>
              <a:t>y：对偶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3785615"/>
            <a:ext cx="1463040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40" b="0">
                <a:solidFill>
                  <a:srgbClr val="000000"/>
                </a:solidFill>
                <a:latin typeface="Microsoft YaHei"/>
              </a:rPr>
              <a:t>按 x−z 更新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41448" y="3840480"/>
            <a:ext cx="164592" cy="0"/>
          </a:xfrm>
          <a:prstGeom prst="line">
            <a:avLst/>
          </a:prstGeom>
          <a:ln w="30480">
            <a:solidFill>
              <a:srgbClr val="DF7B2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79392" y="3840480"/>
            <a:ext cx="164591" cy="0"/>
          </a:xfrm>
          <a:prstGeom prst="line">
            <a:avLst/>
          </a:prstGeom>
          <a:ln w="30480">
            <a:solidFill>
              <a:srgbClr val="DF7B2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17336" y="3840480"/>
            <a:ext cx="164591" cy="0"/>
          </a:xfrm>
          <a:prstGeom prst="line">
            <a:avLst/>
          </a:prstGeom>
          <a:ln w="30480">
            <a:solidFill>
              <a:srgbClr val="DF7B2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6384" y="4297680"/>
            <a:ext cx="7324344" cy="2926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40" b="1">
                <a:solidFill>
                  <a:srgbClr val="000000"/>
                </a:solidFill>
                <a:latin typeface="Microsoft YaHei"/>
              </a:rPr>
              <a:t>原始残差 ‖x−z‖；对偶残差 ρ‖z⁺−z‖；触发变化 ‖m−缓存‖：三者不同。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2376" y="4754880"/>
            <a:ext cx="0" cy="301752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4360" y="5074920"/>
            <a:ext cx="7626096" cy="69494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138928"/>
            <a:ext cx="7269480" cy="5303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40" b="1">
                <a:solidFill>
                  <a:srgbClr val="000000"/>
                </a:solidFill>
                <a:latin typeface="Microsoft YaHei"/>
              </a:rPr>
              <a:t>返回可行 z → 检查外层停止；s 阈值判决后重优化并复查速率与功率。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0" y="5404104"/>
            <a:ext cx="128016" cy="0"/>
          </a:xfrm>
          <a:prstGeom prst="line">
            <a:avLst/>
          </a:prstGeom>
          <a:ln w="2794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357616" y="1911095"/>
            <a:ext cx="0" cy="3493009"/>
          </a:xfrm>
          <a:prstGeom prst="line">
            <a:avLst/>
          </a:prstGeom>
          <a:ln w="27940">
            <a:solidFill>
              <a:srgbClr val="124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238744" y="1911095"/>
            <a:ext cx="118872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540496" y="1325880"/>
            <a:ext cx="2990088" cy="444398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5944" y="1408176"/>
            <a:ext cx="2679192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739" b="1">
                <a:solidFill>
                  <a:srgbClr val="092B56"/>
                </a:solidFill>
                <a:latin typeface="Microsoft YaHei"/>
              </a:rPr>
              <a:t>当前实现状态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05088" y="1874519"/>
            <a:ext cx="2651760" cy="274320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7384" y="1865376"/>
            <a:ext cx="247802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10" b="1">
                <a:solidFill>
                  <a:srgbClr val="FFFFFF"/>
                </a:solidFill>
                <a:latin typeface="Microsoft YaHei"/>
              </a:rPr>
              <a:t>已实现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2167128"/>
            <a:ext cx="2587752" cy="5577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矩阵 WMMSE、统计 C、集中式 ADMM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05088" y="2788920"/>
            <a:ext cx="2651760" cy="274320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87384" y="2779776"/>
            <a:ext cx="247802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10" b="1">
                <a:solidFill>
                  <a:srgbClr val="FFFFFF"/>
                </a:solidFill>
                <a:latin typeface="Microsoft YaHei"/>
              </a:rPr>
              <a:t>部分证据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3081528"/>
            <a:ext cx="2587752" cy="5577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同输入对拍与功率可行；正式规模未收敛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05088" y="3703320"/>
            <a:ext cx="2651760" cy="274320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87384" y="3694176"/>
            <a:ext cx="247802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10" b="1">
                <a:solidFill>
                  <a:srgbClr val="FFFFFF"/>
                </a:solidFill>
                <a:latin typeface="Microsoft YaHei"/>
              </a:rPr>
              <a:t>未实现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41664" y="3995928"/>
            <a:ext cx="2587752" cy="5577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椭球最坏情况、稀疏/休眠、本地 TRP、触发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05088" y="4617720"/>
            <a:ext cx="2651760" cy="274320"/>
          </a:xfrm>
          <a:prstGeom prst="roundRect">
            <a:avLst/>
          </a:prstGeom>
          <a:solidFill>
            <a:srgbClr val="B12A30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7384" y="4608576"/>
            <a:ext cx="2478024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10" b="1">
                <a:solidFill>
                  <a:srgbClr val="FFFFFF"/>
                </a:solidFill>
                <a:latin typeface="Microsoft YaHei"/>
              </a:rPr>
              <a:t>未接通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664" y="4910328"/>
            <a:ext cx="2587752" cy="5577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90" b="0">
                <a:solidFill>
                  <a:srgbClr val="000000"/>
                </a:solidFill>
                <a:latin typeface="Microsoft YaHei"/>
              </a:rPr>
              <a:t>历史 GA/PSO 搜索 → 新求解器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5925312"/>
            <a:ext cx="10616184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30" b="1">
                <a:solidFill>
                  <a:srgbClr val="092B56"/>
                </a:solidFill>
                <a:latin typeface="Microsoft YaHei"/>
              </a:rPr>
              <a:t>原文尚未定义：本地耦合拆分、发送对象与缓存、触发后共识/对偶更新及收敛条件。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JmYmVhMGQ2YWQwOTc0ZDFkYmVkZTE0NzFkNThl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1881</Words>
  <Application>Microsoft Office PowerPoint</Application>
  <PresentationFormat>宽屏</PresentationFormat>
  <Paragraphs>219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Microsoft YaHei</vt:lpstr>
      <vt:lpstr>Microsoft YaHei</vt:lpstr>
      <vt:lpstr>微软雅黑 Light</vt:lpstr>
      <vt:lpstr>Arial</vt:lpstr>
      <vt:lpstr>Calibri</vt:lpstr>
      <vt:lpstr>Century Gothic</vt:lpstr>
      <vt:lpstr>Office 主题​​</vt:lpstr>
      <vt:lpstr>1_Office 主题​​</vt:lpstr>
      <vt:lpstr>PowerPoint 演示文稿</vt:lpstr>
      <vt:lpstr>主要内容</vt:lpstr>
      <vt:lpstr>研究问题与方法</vt:lpstr>
      <vt:lpstr>网络拓扑与协同架构</vt:lpstr>
      <vt:lpstr>真实执行链</vt:lpstr>
      <vt:lpstr>SRS–CSI 测量与估计</vt:lpstr>
      <vt:lpstr>资源变量与方法分工</vt:lpstr>
      <vt:lpstr>下行通信与评价</vt:lpstr>
      <vt:lpstr>WMMSE–ADMM 嵌套求解</vt:lpstr>
      <vt:lpstr>ADMM 功率约束与停止</vt:lpstr>
      <vt:lpstr>非均匀误差作用机制</vt:lpstr>
      <vt:lpstr>核心变量</vt:lpstr>
      <vt:lpstr>新版系统方案：根据测量可靠性，决定怎样协同、怎样发射</vt:lpstr>
      <vt:lpstr>新方案关键机制</vt:lpstr>
    </vt:vector>
  </TitlesOfParts>
  <Company>Guilddesign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亚萍 宋</cp:lastModifiedBy>
  <cp:revision>3</cp:revision>
  <cp:lastPrinted>2025-12-14T09:05:23Z</cp:lastPrinted>
  <dcterms:created xsi:type="dcterms:W3CDTF">2025-12-14T09:05:23Z</dcterms:created>
  <dcterms:modified xsi:type="dcterms:W3CDTF">2026-10-20T09:31:50Z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5F83327A812F4435B25E525EBED23916_13</vt:lpwstr>
  </property>
  <property fmtid="{D5CDD505-2E9C-101B-9397-08002B2CF9AE}" pid="3" name="KSOProductBuildVer">
    <vt:lpwstr>2052-12.9.0.24013</vt:lpwstr>
  </property>
</Properties>
</file>