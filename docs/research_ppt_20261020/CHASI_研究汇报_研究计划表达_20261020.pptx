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theme/theme2.xml" ContentType="application/vnd.openxmlformats-officedocument.them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99" r:id="rId2"/>
  </p:sldMasterIdLst>
  <p:notesMasterIdLst>
    <p:notesMasterId r:id="rId18"/>
  </p:notesMasterIdLst>
  <p:handoutMasterIdLst>
    <p:handoutMasterId r:id="rId19"/>
  </p:handoutMasterIdLst>
  <p:sldIdLst>
    <p:sldId id="2531" r:id="rId3"/>
    <p:sldId id="5977" r:id="rId4"/>
    <p:sldId id="5978" r:id="rId5"/>
    <p:sldId id="5979" r:id="rId6"/>
    <p:sldId id="5980" r:id="rId7"/>
    <p:sldId id="5981" r:id="rId8"/>
    <p:sldId id="5982" r:id="rId9"/>
    <p:sldId id="5983" r:id="rId10"/>
    <p:sldId id="5984" r:id="rId11"/>
    <p:sldId id="5985" r:id="rId12"/>
    <p:sldId id="5986" r:id="rId13"/>
    <p:sldId id="5987" r:id="rId14"/>
    <p:sldId id="5989" r:id="rId15"/>
    <p:sldId id="5990" r:id="rId16"/>
    <p:sldId id="5991" r:id="rId17"/>
  </p:sldIdLst>
  <p:sldSz cx="12192000" cy="6858000"/>
  <p:notesSz cx="7099300" cy="10234613"/>
  <p:custDataLst>
    <p:tags r:id="rId20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92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576" userDrawn="1">
          <p15:clr>
            <a:srgbClr val="A4A3A4"/>
          </p15:clr>
        </p15:guide>
        <p15:guide id="4" orient="horz" pos="3998" userDrawn="1">
          <p15:clr>
            <a:srgbClr val="A4A3A4"/>
          </p15:clr>
        </p15:guide>
        <p15:guide id="5" orient="horz" pos="38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452">
          <p15:clr>
            <a:srgbClr val="A4A3A4"/>
          </p15:clr>
        </p15:guide>
        <p15:guide id="2" pos="2183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dows 用户" initials="W用" lastIdx="4" clrIdx="0"/>
  <p:cmAuthor id="2" name="lj" initials="l" lastIdx="1" clrIdx="1"/>
  <p:cmAuthor id="3" name="Jason Zhang" initials="JZ" lastIdx="12" clrIdx="2"/>
  <p:cmAuthor id="4" name="可爱的小马驹ヾ" initials="可" lastIdx="1" clrIdx="3"/>
  <p:cmAuthor id="5" name="Tyselina Zheng" initials="TZ" lastIdx="2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F528F"/>
    <a:srgbClr val="CBCDDE"/>
    <a:srgbClr val="002B84"/>
    <a:srgbClr val="95D1E2"/>
    <a:srgbClr val="E7E8EF"/>
    <a:srgbClr val="E6E6E6"/>
    <a:srgbClr val="003399"/>
    <a:srgbClr val="C00000"/>
    <a:srgbClr val="DCF0F5"/>
    <a:srgbClr val="FBD4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82" autoAdjust="0"/>
    <p:restoredTop sz="96238" autoAdjust="0"/>
  </p:normalViewPr>
  <p:slideViewPr>
    <p:cSldViewPr showGuides="1">
      <p:cViewPr varScale="1">
        <p:scale>
          <a:sx n="82" d="100"/>
          <a:sy n="82" d="100"/>
        </p:scale>
        <p:origin x="773" y="72"/>
      </p:cViewPr>
      <p:guideLst>
        <p:guide pos="392"/>
        <p:guide pos="7256"/>
        <p:guide orient="horz" pos="576"/>
        <p:guide orient="horz" pos="3998"/>
        <p:guide orient="horz" pos="3800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1186"/>
    </p:cViewPr>
  </p:sorterViewPr>
  <p:notesViewPr>
    <p:cSldViewPr>
      <p:cViewPr varScale="1">
        <p:scale>
          <a:sx n="30" d="100"/>
          <a:sy n="30" d="100"/>
        </p:scale>
        <p:origin x="-2261" y="-67"/>
      </p:cViewPr>
      <p:guideLst>
        <p:guide orient="horz" pos="3452"/>
        <p:guide pos="218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t" anchorCtr="0" compatLnSpc="1"/>
          <a:lstStyle>
            <a:lvl1pPr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9" y="1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t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b" anchorCtr="0" compatLnSpc="1"/>
          <a:lstStyle>
            <a:lvl1pPr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9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b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FEB6453C-91E2-453A-8CFB-E8A5E658B759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/>
          <a:lstStyle>
            <a:lvl1pPr algn="l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1139" y="1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/>
          <a:lstStyle>
            <a:lvl1pPr algn="r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fld id="{F6709892-4A62-41CA-BB2D-19E92E32BA1A}" type="datetimeFigureOut">
              <a:rPr lang="zh-CN" altLang="en-US"/>
              <a:t>2026/10/20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63" tIns="47133" rIns="94263" bIns="47133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09613" y="4859338"/>
            <a:ext cx="5680075" cy="4606925"/>
          </a:xfrm>
          <a:prstGeom prst="rect">
            <a:avLst/>
          </a:prstGeom>
        </p:spPr>
        <p:txBody>
          <a:bodyPr vert="horz" lIns="94263" tIns="47133" rIns="94263" bIns="47133" rtlCol="0">
            <a:normAutofit/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 anchor="b"/>
          <a:lstStyle>
            <a:lvl1pPr algn="l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1139" y="9721850"/>
            <a:ext cx="3076575" cy="511175"/>
          </a:xfrm>
          <a:prstGeom prst="rect">
            <a:avLst/>
          </a:prstGeom>
        </p:spPr>
        <p:txBody>
          <a:bodyPr vert="horz" wrap="square" lIns="94263" tIns="47133" rIns="94263" bIns="47133" numCol="1" anchor="b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20B90B85-D45D-43B0-886B-48C061D8B8B2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73038" y="796925"/>
            <a:ext cx="7069137" cy="39766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研究对象：茶思任务中的非理想SRS</a:t>
            </a:r>
            <a:r>
              <a:rPr dirty="0"/>
              <a:t>/</a:t>
            </a:r>
            <a:r>
              <a:rPr dirty="0" err="1"/>
              <a:t>CSI与用户中心多TRP协同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讲解从茶思原始难题开始：非理想</a:t>
            </a:r>
            <a:r>
              <a:rPr dirty="0"/>
              <a:t> SRS/CSI </a:t>
            </a:r>
            <a:r>
              <a:rPr dirty="0" err="1"/>
              <a:t>下，多</a:t>
            </a:r>
            <a:r>
              <a:rPr dirty="0"/>
              <a:t> TRP </a:t>
            </a:r>
            <a:r>
              <a:rPr dirty="0" err="1"/>
              <a:t>协同需要兼顾边缘体验、跨资源功率与规模。标题中的“优化研究”对应当前已实现的矩阵</a:t>
            </a:r>
            <a:r>
              <a:rPr dirty="0"/>
              <a:t> WMMSE </a:t>
            </a:r>
            <a:r>
              <a:rPr dirty="0" err="1"/>
              <a:t>与集中式</a:t>
            </a:r>
            <a:r>
              <a:rPr dirty="0"/>
              <a:t> ADMM，也包含尚未完成的鲁棒扩展；不要把本汇报说成完整验收。下一页给出四段阅读顺序。追问：成果是否已达标？目前只能说同输入数值对拍和功率可行有记录，正式规模收敛及新版效果未证实。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本页给出四段讲述顺序。第一部分界定困难、目标与物理网络；第二部分沿通信变量讲建模与当前求解；第三部分说明非均匀误差和现有证据；第四部分</a:t>
            </a:r>
            <a:r>
              <a:rPr lang="zh-CN" altLang="en-US" dirty="0"/>
              <a:t>单列</a:t>
            </a:r>
            <a:r>
              <a:rPr dirty="0"/>
              <a:t>202610版系统方案。每段均区分原始任务、当前实现、已验证结果与研究设想。</a:t>
            </a:r>
          </a:p>
          <a:p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本页回答“</a:t>
            </a:r>
            <a:r>
              <a:rPr dirty="0" err="1"/>
              <a:t>困难为什么需要这些方法</a:t>
            </a:r>
            <a:r>
              <a:rPr dirty="0"/>
              <a:t>”。</a:t>
            </a:r>
            <a:r>
              <a:rPr dirty="0" err="1"/>
              <a:t>按每行从左到右读：不同</a:t>
            </a:r>
            <a:r>
              <a:rPr dirty="0"/>
              <a:t> UE–TRP </a:t>
            </a:r>
            <a:r>
              <a:rPr dirty="0" err="1"/>
              <a:t>的测量质量导致条件误差不同，当前用链路统计</a:t>
            </a:r>
            <a:r>
              <a:rPr dirty="0"/>
              <a:t> C </a:t>
            </a:r>
            <a:r>
              <a:rPr dirty="0" err="1"/>
              <a:t>进入接收与预编码；边缘</a:t>
            </a:r>
            <a:r>
              <a:rPr dirty="0"/>
              <a:t> UE </a:t>
            </a:r>
            <a:r>
              <a:rPr dirty="0" err="1"/>
              <a:t>协同受有用信号和干扰共同影响，用用户中心服务和</a:t>
            </a:r>
            <a:r>
              <a:rPr dirty="0"/>
              <a:t> WMMSE 更新；273 RB </a:t>
            </a:r>
            <a:r>
              <a:rPr dirty="0" err="1"/>
              <a:t>使各资源组共享</a:t>
            </a:r>
            <a:r>
              <a:rPr dirty="0"/>
              <a:t> TRP </a:t>
            </a:r>
            <a:r>
              <a:rPr dirty="0" err="1"/>
              <a:t>功率预算，当前集中式</a:t>
            </a:r>
            <a:r>
              <a:rPr dirty="0"/>
              <a:t> ADMM </a:t>
            </a:r>
            <a:r>
              <a:rPr dirty="0" err="1"/>
              <a:t>做联合投影。右侧列的是应检验的量，不是已经达成的效果。当前尚未实现椭球最坏情况或</a:t>
            </a:r>
            <a:r>
              <a:rPr dirty="0"/>
              <a:t> TRP </a:t>
            </a:r>
            <a:r>
              <a:rPr dirty="0" err="1"/>
              <a:t>本地分布式。第</a:t>
            </a:r>
            <a:r>
              <a:rPr dirty="0"/>
              <a:t> 4 </a:t>
            </a:r>
            <a:r>
              <a:rPr dirty="0" err="1"/>
              <a:t>页转到真实七站拓扑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回答：七站三扇区、UE</a:t>
            </a:r>
            <a:r>
              <a:rPr dirty="0"/>
              <a:t> </a:t>
            </a:r>
            <a:r>
              <a:rPr dirty="0" err="1"/>
              <a:t>空间分布、服务关系和</a:t>
            </a:r>
            <a:r>
              <a:rPr dirty="0"/>
              <a:t> CPU </a:t>
            </a:r>
            <a:r>
              <a:rPr dirty="0" err="1"/>
              <a:t>分工。左图是</a:t>
            </a:r>
            <a:r>
              <a:rPr dirty="0"/>
              <a:t> MATLAB 输出的真实坐标；全部210个 UE </a:t>
            </a:r>
            <a:r>
              <a:rPr dirty="0" err="1"/>
              <a:t>均为独立散点，未重复画点。MATLAB</a:t>
            </a:r>
            <a:r>
              <a:rPr dirty="0"/>
              <a:t> lines(7)</a:t>
            </a:r>
            <a:r>
              <a:rPr dirty="0" err="1"/>
              <a:t>颜色按</a:t>
            </a:r>
            <a:r>
              <a:rPr dirty="0"/>
              <a:t> home </a:t>
            </a:r>
            <a:r>
              <a:rPr dirty="0" err="1"/>
              <a:t>所在站</a:t>
            </a:r>
            <a:r>
              <a:rPr dirty="0"/>
              <a:t> S1–S7：S1蓝、S2橙、S3黄、S4紫、S5绿、S6青、S7洋红/</a:t>
            </a:r>
            <a:r>
              <a:rPr dirty="0" err="1"/>
              <a:t>暗红。颜色不是调度或完整服务集合。右图</a:t>
            </a:r>
            <a:r>
              <a:rPr dirty="0"/>
              <a:t> UE7 的 home=T01，服务集合 T01/T02；两TRP共址，服务连线可能重合。CPU 为逻辑协调节点，不是实际部署坐标。原材料规定每小区10–20 UE、小区内均匀分布；当前10 UE/小区，总210。chasi_geometry_from_samples.m </a:t>
            </a:r>
            <a:r>
              <a:rPr dirty="0" err="1"/>
              <a:t>以中心</a:t>
            </a:r>
            <a:r>
              <a:rPr dirty="0"/>
              <a:t>(450,450)m、外围6站距中心300m生成；每站三个 TRP </a:t>
            </a:r>
            <a:r>
              <a:rPr dirty="0" err="1"/>
              <a:t>共址；UE</a:t>
            </a:r>
            <a:r>
              <a:rPr dirty="0"/>
              <a:t> 在每扇区25–150m环扇区，以 θ=</a:t>
            </a:r>
            <a:r>
              <a:rPr dirty="0" err="1"/>
              <a:t>φ_l</a:t>
            </a:r>
            <a:r>
              <a:rPr dirty="0"/>
              <a:t>+(v−1/2)2π/3 与 r=sqrt(rmin²+u(rmax²−rmin²))采样，因此面积均匀。25–150m边界是项目假设。home </a:t>
            </a:r>
            <a:r>
              <a:rPr dirty="0" err="1"/>
              <a:t>为生成扇区，服务集合为</a:t>
            </a:r>
            <a:r>
              <a:rPr dirty="0"/>
              <a:t> home </a:t>
            </a:r>
            <a:r>
              <a:rPr dirty="0" err="1"/>
              <a:t>加最近活动</a:t>
            </a:r>
            <a:r>
              <a:rPr dirty="0"/>
              <a:t> TRP，当前上限2。扇形不是无干扰硬覆盖。下一页沿变量看执行链。追问：紫色点是什么？是初始归属 S4 </a:t>
            </a:r>
            <a:r>
              <a:rPr dirty="0" err="1"/>
              <a:t>的真实</a:t>
            </a:r>
            <a:r>
              <a:rPr dirty="0"/>
              <a:t> UE。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沿编号讲真实执行顺序。chasi_run.m 调 chasi_generate_scene.m → chasi_generate_traffic.m → chasi_matrix_wmmse.m → chasi_evaluate.m，当前是原生 MATLAB 求解，不再经旧 Python 桥接。Htrue 参与仿真测量生成及最后评价；非理想优化输入 Ĥ、C。b/χ/r/ν 为规则生成，w 为求解量。历史 GA/PSO 与正式链未接通。db9d7e3。</a:t>
            </a:r>
          </a:p>
          <a:p>
            <a:endParaRPr/>
          </a:p>
          <a:p>
            <a:r>
              <a:t>按左到右读真实执行链：几何与业务生成真信道 Htrue；等效 CSI-RS/SRS 质量形成估计 Hhat 和条件误差 C；关联 b、调度 χ、流数 r 和资源权重 ν 由规则固定；矩阵 WMMSE–ADMM 优化含幅度的 w；同一 w 放到 Htrue 上计算速率、体验代理和空口功率。真信道用于仿真生成与最后评价，非理想分支求解使用 Hhat、C。历史搜索链没有调用该正式求解器。下一页拆开测量主体。老师若问“是否已真实协议实现”，回答这是等效测量和集中仿真。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本页按三阶段讲：真实下行信道 Htrue → 参考信号观测 → 后验估计 Hhat 与误差协方差 C。k 为 UE，l 为 TRP，g 为资源组。Htrue 和 Hhat 均为 4×64：4 个 UE 下行接收维度，64 个 TRP 下行发射端口。物理方向是 UE 发上行 SRS、TRP 接收；TRP 发下行 CSI-RS、UE 观测。图中两个 Y 公式是当前代码的等效观测模型，不是参考信号波形或空口收发链。</a:t>
            </a:r>
          </a:p>
          <a:p>
            <a:r>
              <a:t>默认 awgn_independent 模式先计算链路增益 β 和接收相关矩阵 Rrx，设先验 P0=βRrx（4×4）。仿真先生成 Htrue=sqrt(β) chol(Rrx) Ξ，再生成 CSI-RS 等效观测 Yc=Htrue+Nc，其中 Nc 为 4×64 独立复高斯噪声。对已被当前 SRS 跳频测到的资源组，令 S 为 2×4 行选择矩阵，默认选择第 1、2 个接收行；Ys=S Htrue+Ns，其中 Ns 为 2×64 独立复高斯噪声。未测到的组没有 SRS 更新项。</a:t>
            </a:r>
          </a:p>
          <a:p>
            <a:r>
              <a:t>噪声方差把测量质量和年龄合在一起：nc=β·10^(−γc,dB/10)·exp(2ac/Tc)，ns=β·10^(−γs,dB/10)·exp(2as/Tc)。γc,dB 对应 CSI-RS 配置，γs,dB 对应 SRS 导频配置；ac、as 是各自观测年龄，Tc 是相干时间。观测越旧或标称 SNR 越低，噪声方差越大，后验对该观测赋予的精度越小。这里的噪声是归一化复高斯等效噪声，不是实际波形样本。</a:t>
            </a:r>
          </a:p>
          <a:p>
            <a:r>
              <a:t>默认独立观测分支的后验精度 A=P0^−1+I4/nc+SᴴS/ns，信息项 B=Yc/nc+SᴴYs/ns；输出 C=A^−1，Hhat=C B。未测 SRS 时删去两个含 ns 的项。C 是每个 64 维发射列所共享的 4×4 接收侧条件误差协方差；列间按模型独立，因此按列向量化后的完整 256×256 误差协方差为 I64⊗C。它不是 64×64 发射侧协方差。若切换到 pilot_reuse_gaussian 模式，SRS 更新改由复用相关观测实现，本页公式只对应当前默认模式。</a:t>
            </a:r>
          </a:p>
          <a:p>
            <a:r>
              <a:t>端口与互易性边界：配置给 UE 两个上行发射端口、四个下行接收端口。代码未构造独立的 64×2 上行传播矩阵，也未实施 TDD 射频校准或显式上行到下行矩阵变换；它直接把上行 SRS 抽象成同一 4×64 下行 Htrue 的第 1、2 接收行观测。因而这里隐含了这两个 SRS 端口与所选下行接收行可对应、传播可互易的理想化映射假设。不要把该等效构造解释为已验证的实际端口互易实现。</a:t>
            </a:r>
          </a:p>
          <a:p>
            <a:r>
              <a:t>源码依据：matlab/chasi/chasi_config.m 的默认 srsMode、srsRxRows、ueRxPorts、ueTxPorts；matlab/chasi/chasi_generate_scene.m 中真实信道、CSI-RS/SRS 等效观测及后验计算。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正式入口 chasi_run.m 当前从资源规则直接进入矩阵 WMMSE–ADMM。历史 GA/PSO 搜索代码在 matlab/core，候选含连接数、调度阈值、rank 门限及修复参数等，评价器与正式物理层目标不同；不能把独立搜索画成已接通。图中虚线是可能的未来接口。正式功率约束 ΣgνgΣj||w_ljg||²≤P_l。db9d7e3。</a:t>
            </a:r>
          </a:p>
          <a:p>
            <a:endParaRPr/>
          </a:p>
          <a:p>
            <a:r>
              <a:t>先比较两侧：左边历史候选搜索通过 GA 交叉/变异/选择或 PSO 位置/速度更新提议参数，再用旧评价器计分；右边当前正式链固定关联 b、调度 χ、流数 r 和资源权重 ν，只优化预编码 w。橙色虚线表示研究上希望有慢层候选传给快层求解，但当前无实际调用关系。跨资源组功率预算按一个 TRP 共用 P_l，不可每 RB 重新使用整额。下一页从 w 走向真实信道评价。追问：旧候选是否就是正式优化变量？不是，必须先做编码、目标和评价器映射。</a:t>
            </a:r>
          </a:p>
          <a:p>
            <a:endParaRPr/>
          </a:p>
          <a:p>
            <a:r>
              <a:t>研究表达补充：已有基础是两条独立链——历史 GA/PSO 候选生成与评价，以及当前固定 b、χ、r、ν 后的矩阵 WMMSE–ADMM 快层。切入点是把慢层候选映射到正式场景可行的关联/调度配置，定义统一评价输入输出。拟研究候选编码、无效候选修复、快层返回的边缘体验/功率/求解成本以及下一轮候选筛选。验证要在相同场景、测量质量、预算与运行时限下比较，不把虚线解释成已接通调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按三条横带讲：发射→传播→接收→物理速率→业务交付→用户体验。w_lkg 是 64×r 含幅度预编码，Htrue_klg 是 4×64 真信道，有用部分对同一 UE 的服务 TRP 相干求和；其余同组 UE 数据是干扰，另加单位噪声。chasi_evaluate.m 的 true_rates 在 Htrue 上计算 logdet 总协方差减干扰协方差；再由 RB 带宽和 TTI 得交付容量，与业务到达/队列共同得到体验 Mbps 和分位。不能将优化目标等同最终验收指标。db9d7e3。</a:t>
            </a:r>
          </a:p>
          <a:p>
            <a:endParaRPr/>
          </a:p>
          <a:p>
            <a:r>
              <a:t>从发送 w 到真实信道 Htrue，多个 TRP 的同用户流相干叠加；同资源其他用户流形成干扰，叠加噪声得到 UE 接收信号。接收矩阵和 MSE 在优化阶段使用 Hhat、C；最终速率评价重算于 Htrue，不能偷用 Htrue 优化非理想分支。SE 按资源权重转为 TTI 可传比特，再进入业务交付量和用户体验统计。现有体验是代理实现，原协议的有效样本、头尾剔除和底部 5% 口径仍需严格复核。下一页解释求 w 的嵌套算法。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外层：w 初始可行；F_kjg=Σ_l Hhat_klg w_ljg，相干叠加；Ryy_kg=I+Σ_j F_kjg F_kjg^H+Σ_l p_lg C_klg；A=(Ryy)^−1 Fkk；E 为 MSE 矩阵；Ω=E^-1；η 为用户效用权重。固定 A/Ω/η 构建预编码二次子问题。内层 ADMM 以 CG 更新 x，所有组联合投影 z 到每 TRP 功率预算，y+=x-z，并判原始/对偶/CG 残差；未停止闭合回到 x。返回 z 后外层重新计算目标并进行接受/回溯和停止检查；未停止返回状态更新。当前为集中式单进程求解，正式规模停止条件尚未满足。chasi_matrix_wmmse.m，db9d7e3。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源码 chasi_matrix_wmmse.m ADMM 段。每组 x 的正规方程含 νg Qg + ρ/2 I，与增广目标定义一致。z 是跨全部资源组的联合投影，y 为缩放对偶。检查原始/对偶残差及 CG 精度，ρ 可自适应。返回功率可行的 z 供外层接受/回溯。当前正式规模未满足算法停止条件。db9d7e3。</a:t>
            </a:r>
          </a:p>
          <a:p>
            <a:endParaRPr/>
          </a:p>
          <a:p>
            <a:r>
              <a:t>本页放大 ADMM 的跨组功率约束和停止判断。固定接收器 A、MSE 权重 Ω 和用户权重 η 后，x 步用 CG 解二次线性系统；z 步对同一 TRP 在所有资源组的加权波束功率联合投影；缩放对偶 y 按 x−z 更新。原始残差、对偶残差、CG 线性求解误差及 WMMSE 外层停止是不同量。当前返回可行副本 z 可以使功率预算满足，但不能证明内层或外层已收敛。210/420 UE 保存运行虽数值对拍与功率可行，正式规模停止条件未通过。下一页看测量误差进入接收计算。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本页回答当前代码如何利用非理想</a:t>
            </a:r>
            <a:r>
              <a:rPr dirty="0"/>
              <a:t> </a:t>
            </a:r>
            <a:r>
              <a:rPr dirty="0" err="1"/>
              <a:t>CSI，并为后面的新版方案划清边界。沿箭头从</a:t>
            </a:r>
            <a:r>
              <a:rPr dirty="0"/>
              <a:t> SRS </a:t>
            </a:r>
            <a:r>
              <a:rPr dirty="0" err="1"/>
              <a:t>质量</a:t>
            </a:r>
            <a:r>
              <a:rPr dirty="0"/>
              <a:t>/</a:t>
            </a:r>
            <a:r>
              <a:rPr dirty="0" err="1"/>
              <a:t>年龄讲到接收侧</a:t>
            </a:r>
            <a:r>
              <a:rPr dirty="0"/>
              <a:t> 4×4 </a:t>
            </a:r>
            <a:r>
              <a:rPr dirty="0" err="1"/>
              <a:t>条件协方差</a:t>
            </a:r>
            <a:r>
              <a:rPr dirty="0"/>
              <a:t> </a:t>
            </a:r>
            <a:r>
              <a:rPr dirty="0" err="1"/>
              <a:t>C、Ryy</a:t>
            </a:r>
            <a:r>
              <a:rPr dirty="0"/>
              <a:t> </a:t>
            </a:r>
            <a:r>
              <a:rPr dirty="0" err="1"/>
              <a:t>中的误差项、再到固定接收器后的二次算子</a:t>
            </a:r>
            <a:r>
              <a:rPr dirty="0"/>
              <a:t> 𝒬(C) </a:t>
            </a:r>
            <a:r>
              <a:rPr dirty="0" err="1"/>
              <a:t>与预编码</a:t>
            </a:r>
            <a:r>
              <a:rPr dirty="0"/>
              <a:t> </a:t>
            </a:r>
            <a:r>
              <a:rPr dirty="0" err="1"/>
              <a:t>w。这里的</a:t>
            </a:r>
            <a:r>
              <a:rPr dirty="0"/>
              <a:t> 𝒬 </a:t>
            </a:r>
            <a:r>
              <a:rPr dirty="0" err="1"/>
              <a:t>是求解器的线性算子，不是新版方案的</a:t>
            </a:r>
            <a:r>
              <a:rPr dirty="0"/>
              <a:t> 64×64 </a:t>
            </a:r>
            <a:r>
              <a:rPr dirty="0" err="1"/>
              <a:t>椭球矩阵</a:t>
            </a:r>
            <a:r>
              <a:rPr dirty="0"/>
              <a:t> </a:t>
            </a:r>
            <a:r>
              <a:rPr dirty="0" err="1"/>
              <a:t>Q。当前</a:t>
            </a:r>
            <a:r>
              <a:rPr dirty="0"/>
              <a:t> </a:t>
            </a:r>
            <a:r>
              <a:rPr dirty="0" err="1"/>
              <a:t>awgn_independent</a:t>
            </a:r>
            <a:r>
              <a:rPr dirty="0"/>
              <a:t> </a:t>
            </a:r>
            <a:r>
              <a:rPr dirty="0" err="1"/>
              <a:t>分支把先验、CSI-RS、SRS</a:t>
            </a:r>
            <a:r>
              <a:rPr dirty="0"/>
              <a:t> </a:t>
            </a:r>
            <a:r>
              <a:rPr dirty="0" err="1"/>
              <a:t>的精度相加；pilot_reuse_gaussian</a:t>
            </a:r>
            <a:r>
              <a:rPr dirty="0"/>
              <a:t> </a:t>
            </a:r>
            <a:r>
              <a:rPr dirty="0" err="1"/>
              <a:t>有单独分支。C</a:t>
            </a:r>
            <a:r>
              <a:rPr dirty="0"/>
              <a:t> 只描述统计平均意义的扰动，不保证任何确定性椭球内的最坏速率。下一页是当前符号表，之后单列新方案。老师若问是否已做到鲁棒保底：回答是统计误差惩罚已进入计算，最坏情况约束与公平对照结果尚未建立。</a:t>
            </a:r>
          </a:p>
          <a:p>
            <a:endParaRPr dirty="0"/>
          </a:p>
          <a:p>
            <a:r>
              <a:rPr dirty="0" err="1"/>
              <a:t>研究表达补充：已有基础是每链路接收侧</a:t>
            </a:r>
            <a:r>
              <a:rPr dirty="0"/>
              <a:t> 4×4 </a:t>
            </a:r>
            <a:r>
              <a:rPr dirty="0" err="1"/>
              <a:t>条件协方差</a:t>
            </a:r>
            <a:r>
              <a:rPr dirty="0"/>
              <a:t> C </a:t>
            </a:r>
            <a:r>
              <a:rPr dirty="0" err="1"/>
              <a:t>进入</a:t>
            </a:r>
            <a:r>
              <a:rPr dirty="0"/>
              <a:t> </a:t>
            </a:r>
            <a:r>
              <a:rPr dirty="0" err="1"/>
              <a:t>Ryy</a:t>
            </a:r>
            <a:r>
              <a:rPr dirty="0"/>
              <a:t> </a:t>
            </a:r>
            <a:r>
              <a:rPr dirty="0" err="1"/>
              <a:t>与预编码二次项。切入点是确定从这个统计量到完整</a:t>
            </a:r>
            <a:r>
              <a:rPr dirty="0"/>
              <a:t> 4×64 矩阵误差集合的坐标域、尺度和方向结构；协方差并非自动等于确定性椭球。拟研究置信水平、矩阵向量化、发射侧相关性假设及最坏情形内层的数学形式。验证时固定拓扑、功率预算和优化停止准则，分别比较名义、统一误差与非均匀误差对边缘体验、空口功率及收敛残差的影响；现有对拍不等于这一对照已经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回答：跨图使用的核心符号各表示什么，哪些有物理单位。维度r随用户与资源组变化，表中符号省略下标。Htrue</a:t>
            </a:r>
            <a:r>
              <a:rPr dirty="0"/>
              <a:t>/</a:t>
            </a:r>
            <a:r>
              <a:rPr dirty="0" err="1"/>
              <a:t>Hhat∈C</a:t>
            </a:r>
            <a:r>
              <a:rPr dirty="0"/>
              <a:t>^{4×64}，</a:t>
            </a:r>
            <a:r>
              <a:rPr dirty="0" err="1"/>
              <a:t>C、Ryy∈C</a:t>
            </a:r>
            <a:r>
              <a:rPr dirty="0"/>
              <a:t>^{4×4}，</a:t>
            </a:r>
            <a:r>
              <a:rPr dirty="0" err="1"/>
              <a:t>w∈C</a:t>
            </a:r>
            <a:r>
              <a:rPr dirty="0"/>
              <a:t>^{64×r}，A/F∈C^{4×r}，E/Ω∈C^{</a:t>
            </a:r>
            <a:r>
              <a:rPr dirty="0" err="1"/>
              <a:t>r×r</a:t>
            </a:r>
            <a:r>
              <a:rPr dirty="0"/>
              <a:t>}；x/z/</a:t>
            </a:r>
            <a:r>
              <a:rPr dirty="0" err="1"/>
              <a:t>y与w同维。ν为RB计数</a:t>
            </a:r>
            <a:r>
              <a:rPr dirty="0"/>
              <a:t>/</a:t>
            </a:r>
            <a:r>
              <a:rPr dirty="0" err="1"/>
              <a:t>权重，p和P_l按当前归一化功率制说明；SE</a:t>
            </a:r>
            <a:r>
              <a:rPr dirty="0"/>
              <a:t>=bit/s/</a:t>
            </a:r>
            <a:r>
              <a:rPr dirty="0" err="1"/>
              <a:t>Hz，Rexp依业务协议和采样规则定义。辅助索引、维度及假设可口头解释。下一页只介绍独立新版方案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本页作查阅符号而非替代每页解释。l、k、g</a:t>
            </a:r>
            <a:r>
              <a:rPr dirty="0"/>
              <a:t> 是 </a:t>
            </a:r>
            <a:r>
              <a:rPr dirty="0" err="1"/>
              <a:t>TRP、UE、资源组索引；Htrue</a:t>
            </a:r>
            <a:r>
              <a:rPr dirty="0"/>
              <a:t>/</a:t>
            </a:r>
            <a:r>
              <a:rPr dirty="0" err="1"/>
              <a:t>Hhat</a:t>
            </a:r>
            <a:r>
              <a:rPr dirty="0"/>
              <a:t> 是 4×64 真/</a:t>
            </a:r>
            <a:r>
              <a:rPr dirty="0" err="1"/>
              <a:t>估计信道；C</a:t>
            </a:r>
            <a:r>
              <a:rPr dirty="0"/>
              <a:t> 是 4×4 </a:t>
            </a:r>
            <a:r>
              <a:rPr dirty="0" err="1"/>
              <a:t>接收侧条件误差；w</a:t>
            </a:r>
            <a:r>
              <a:rPr dirty="0"/>
              <a:t> 为 64×r </a:t>
            </a:r>
            <a:r>
              <a:rPr dirty="0" err="1"/>
              <a:t>的完整预编码块。A、E、Ω</a:t>
            </a:r>
            <a:r>
              <a:rPr dirty="0"/>
              <a:t> 是 WMMSE </a:t>
            </a:r>
            <a:r>
              <a:rPr dirty="0" err="1"/>
              <a:t>中的接收器、MSE</a:t>
            </a:r>
            <a:r>
              <a:rPr dirty="0"/>
              <a:t> </a:t>
            </a:r>
            <a:r>
              <a:rPr dirty="0" err="1"/>
              <a:t>和权重；x、z、y</a:t>
            </a:r>
            <a:r>
              <a:rPr dirty="0"/>
              <a:t> 是 ADMM </a:t>
            </a:r>
            <a:r>
              <a:rPr dirty="0" err="1"/>
              <a:t>原变量、可行副本、缩放对偶。p</a:t>
            </a:r>
            <a:r>
              <a:rPr dirty="0"/>
              <a:t> 是 w </a:t>
            </a:r>
            <a:r>
              <a:rPr dirty="0" err="1"/>
              <a:t>的加权范数，P</a:t>
            </a:r>
            <a:r>
              <a:rPr dirty="0"/>
              <a:t> </a:t>
            </a:r>
            <a:r>
              <a:rPr dirty="0" err="1"/>
              <a:t>是每</a:t>
            </a:r>
            <a:r>
              <a:rPr dirty="0"/>
              <a:t> TRP </a:t>
            </a:r>
            <a:r>
              <a:rPr dirty="0" err="1"/>
              <a:t>预算；RSE</a:t>
            </a:r>
            <a:r>
              <a:rPr dirty="0"/>
              <a:t> 和 </a:t>
            </a:r>
            <a:r>
              <a:rPr dirty="0" err="1"/>
              <a:t>Rexp</a:t>
            </a:r>
            <a:r>
              <a:rPr dirty="0"/>
              <a:t> </a:t>
            </a:r>
            <a:r>
              <a:rPr dirty="0" err="1"/>
              <a:t>分别为物理频谱效率与业务体验统计口径。新方案的</a:t>
            </a:r>
            <a:r>
              <a:rPr dirty="0"/>
              <a:t> 64×64 </a:t>
            </a:r>
            <a:r>
              <a:rPr dirty="0" err="1"/>
              <a:t>椭球</a:t>
            </a:r>
            <a:r>
              <a:rPr dirty="0"/>
              <a:t> Q </a:t>
            </a:r>
            <a:r>
              <a:rPr dirty="0" err="1"/>
              <a:t>不应与现有</a:t>
            </a:r>
            <a:r>
              <a:rPr dirty="0"/>
              <a:t> 4×4 C </a:t>
            </a:r>
            <a:r>
              <a:rPr dirty="0" err="1"/>
              <a:t>或二次算子</a:t>
            </a:r>
            <a:r>
              <a:rPr dirty="0"/>
              <a:t> 𝒬 </a:t>
            </a:r>
            <a:r>
              <a:rPr dirty="0" err="1"/>
              <a:t>混淆。下一页据此进入拟研究方案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本页回答为什么提出新版方案，以及“非均匀”究竟有哪两层。从上方因果链讲：SRS</a:t>
            </a:r>
            <a:r>
              <a:rPr dirty="0"/>
              <a:t> </a:t>
            </a:r>
            <a:r>
              <a:rPr dirty="0" err="1"/>
              <a:t>不准使</a:t>
            </a:r>
            <a:r>
              <a:rPr dirty="0"/>
              <a:t> CSI </a:t>
            </a:r>
            <a:r>
              <a:rPr dirty="0" err="1"/>
              <a:t>有偏差，协同波束和干扰预测可能失准，边缘</a:t>
            </a:r>
            <a:r>
              <a:rPr dirty="0"/>
              <a:t> UE </a:t>
            </a:r>
            <a:r>
              <a:rPr dirty="0" err="1"/>
              <a:t>的体验风险上升；规模、功率和前传开销也是动机，不是已解决结果。左侧链路尺度来自</a:t>
            </a:r>
            <a:r>
              <a:rPr dirty="0"/>
              <a:t> 202610 Markdown 第31–43行的经验式 σ²=f(SRS </a:t>
            </a:r>
            <a:r>
              <a:rPr dirty="0" err="1"/>
              <a:t>SINR,d,v,NLOS</a:t>
            </a:r>
            <a:r>
              <a:rPr dirty="0"/>
              <a:t>)，</a:t>
            </a:r>
            <a:r>
              <a:rPr dirty="0" err="1"/>
              <a:t>f、单位和数据标定未给定；C</a:t>
            </a:r>
            <a:r>
              <a:rPr dirty="0"/>
              <a:t>=1/(1+σ²) </a:t>
            </a:r>
            <a:r>
              <a:rPr dirty="0" err="1"/>
              <a:t>只有</a:t>
            </a:r>
            <a:r>
              <a:rPr dirty="0"/>
              <a:t> σ² </a:t>
            </a:r>
            <a:r>
              <a:rPr dirty="0" err="1"/>
              <a:t>已无量纲化才有清楚含义。右侧是同一链路内方向差异。公式来自本地</a:t>
            </a:r>
            <a:r>
              <a:rPr dirty="0"/>
              <a:t> 1.png，对应 Markdown 第47–51行：Δh </a:t>
            </a:r>
            <a:r>
              <a:rPr dirty="0" err="1"/>
              <a:t>为一条单接收天线链路的</a:t>
            </a:r>
            <a:r>
              <a:rPr dirty="0"/>
              <a:t> 64 </a:t>
            </a:r>
            <a:r>
              <a:rPr dirty="0" err="1"/>
              <a:t>维复误差向量，Q</a:t>
            </a:r>
            <a:r>
              <a:rPr dirty="0"/>
              <a:t> 为 64×64 </a:t>
            </a:r>
            <a:r>
              <a:rPr dirty="0" err="1"/>
              <a:t>正定形状矩阵；本地</a:t>
            </a:r>
            <a:r>
              <a:rPr dirty="0"/>
              <a:t> 3.png 对应第219–233行的对角 </a:t>
            </a:r>
            <a:r>
              <a:rPr dirty="0" err="1"/>
              <a:t>Q。对角仅在天线坐标或指定特征</a:t>
            </a:r>
            <a:r>
              <a:rPr dirty="0"/>
              <a:t>/</a:t>
            </a:r>
            <a:r>
              <a:rPr dirty="0" err="1"/>
              <a:t>波束域有效，一般空间相关性不自动对角。若</a:t>
            </a:r>
            <a:r>
              <a:rPr dirty="0"/>
              <a:t> Q </a:t>
            </a:r>
            <a:r>
              <a:rPr dirty="0" err="1"/>
              <a:t>还代表误差协方差，应引入置信半径</a:t>
            </a:r>
            <a:r>
              <a:rPr dirty="0"/>
              <a:t> </a:t>
            </a:r>
            <a:r>
              <a:rPr dirty="0" err="1"/>
              <a:t>τ，例如</a:t>
            </a:r>
            <a:r>
              <a:rPr dirty="0"/>
              <a:t> </a:t>
            </a:r>
            <a:r>
              <a:rPr dirty="0" err="1"/>
              <a:t>Δh^H</a:t>
            </a:r>
            <a:r>
              <a:rPr dirty="0"/>
              <a:t>(</a:t>
            </a:r>
            <a:r>
              <a:rPr dirty="0" err="1"/>
              <a:t>τQ</a:t>
            </a:r>
            <a:r>
              <a:rPr dirty="0"/>
              <a:t>)^−1Δh≤1，并说明分布与置信水平；这属于解释时的补充，不是原文已标定结果。原文 Q=Φ/C </a:t>
            </a:r>
            <a:r>
              <a:rPr dirty="0" err="1"/>
              <a:t>的经验缩放在</a:t>
            </a:r>
            <a:r>
              <a:rPr dirty="0"/>
              <a:t> C→1 时不趋零，故不能说高置信链路椭球自动收缩到零；C→0 </a:t>
            </a:r>
            <a:r>
              <a:rPr dirty="0" err="1"/>
              <a:t>时无界也需截断。当前代码的</a:t>
            </a:r>
            <a:r>
              <a:rPr dirty="0"/>
              <a:t> </a:t>
            </a:r>
            <a:r>
              <a:rPr dirty="0" err="1"/>
              <a:t>H_true</a:t>
            </a:r>
            <a:r>
              <a:rPr dirty="0"/>
              <a:t>/</a:t>
            </a:r>
            <a:r>
              <a:rPr dirty="0" err="1"/>
              <a:t>H_est</a:t>
            </a:r>
            <a:r>
              <a:rPr dirty="0"/>
              <a:t> 是 4×64，接收侧 </a:t>
            </a:r>
            <a:r>
              <a:rPr dirty="0" err="1"/>
              <a:t>C_rx</a:t>
            </a:r>
            <a:r>
              <a:rPr dirty="0"/>
              <a:t> 是 4×4，列独立假设下完整 </a:t>
            </a:r>
            <a:r>
              <a:rPr dirty="0" err="1"/>
              <a:t>vec</a:t>
            </a:r>
            <a:r>
              <a:rPr dirty="0"/>
              <a:t>(H) </a:t>
            </a:r>
            <a:r>
              <a:rPr dirty="0" err="1"/>
              <a:t>协方差形式为</a:t>
            </a:r>
            <a:r>
              <a:rPr dirty="0"/>
              <a:t> I_64⊗C_rx；它不等于原文发射侧 64×64 </a:t>
            </a:r>
            <a:r>
              <a:rPr dirty="0" err="1"/>
              <a:t>Q。下一页讲</a:t>
            </a:r>
            <a:r>
              <a:rPr dirty="0"/>
              <a:t> </a:t>
            </a:r>
            <a:r>
              <a:rPr dirty="0" err="1"/>
              <a:t>w、功率与稀疏决定什么。追问：大误差是否必然展宽波束？不必然，要由目标、信道几何与约束共同决定</a:t>
            </a:r>
            <a:r>
              <a:rPr dirty="0"/>
              <a:t>。</a:t>
            </a:r>
          </a:p>
          <a:p>
            <a:r>
              <a:rPr dirty="0" err="1"/>
              <a:t>研究表达补充：这一页的两层差异是研究入口，不是现成效果。先从现有</a:t>
            </a:r>
            <a:r>
              <a:rPr dirty="0"/>
              <a:t> </a:t>
            </a:r>
            <a:r>
              <a:rPr dirty="0" err="1"/>
              <a:t>Hhat</a:t>
            </a:r>
            <a:r>
              <a:rPr dirty="0"/>
              <a:t> 和 </a:t>
            </a:r>
            <a:r>
              <a:rPr dirty="0" err="1"/>
              <a:t>C_rx</a:t>
            </a:r>
            <a:r>
              <a:rPr dirty="0"/>
              <a:t> </a:t>
            </a:r>
            <a:r>
              <a:rPr dirty="0" err="1"/>
              <a:t>的统计估计出发，研究链路间误差尺度由</a:t>
            </a:r>
            <a:r>
              <a:rPr dirty="0"/>
              <a:t> SRS SINR、CSI </a:t>
            </a:r>
            <a:r>
              <a:rPr dirty="0" err="1"/>
              <a:t>年龄、距离等可观测量如何校准；再研究一条链路内在明确天线或波束域坐标基上的方向结构。当前</a:t>
            </a:r>
            <a:r>
              <a:rPr dirty="0"/>
              <a:t> Q=Φ/c </a:t>
            </a:r>
            <a:r>
              <a:rPr dirty="0" err="1"/>
              <a:t>是原文经验关系，尚需量纲、分布和置信半径；从单接收</a:t>
            </a:r>
            <a:r>
              <a:rPr dirty="0"/>
              <a:t> 64 </a:t>
            </a:r>
            <a:r>
              <a:rPr dirty="0" err="1"/>
              <a:t>维误差向量扩展到</a:t>
            </a:r>
            <a:r>
              <a:rPr dirty="0"/>
              <a:t> 4×64 </a:t>
            </a:r>
            <a:r>
              <a:rPr dirty="0" err="1"/>
              <a:t>信道，应明确相关性与向量化次序。验证以观测残差和覆盖概率检查校准，再做同条件资源优化对照；不能预设更大误差会自动展宽波束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本页回答新版方案到底优化什么。先说当前预编码 w 已含幅度和方向，不应再无定义地把独立 p 当决策变量；p_l=Σ_gν_gΣ_k||w_lkg||² 是跨资源组/跨 RB 的空口发射功率，s_lP_l 表示 TRP 关断时该 TRP 所有发射块为零。公式的公平效用 Uα、链路稀疏 λ_link、激活成本 λ_on 是对 Markdown 第69–85行原目标的清晰参数化；原文写 λΣ_nΣ_k(||w_nk||+γs_n)，s_n 成本因 Σ_k 被重复计数，分离系数是解释修正，不冒充原文。w_lk,: 的组跨所有 g；该组归零只删 l→k 服务，未必让 l 对其他 UE 停发，更不会消除 l→k 的所有物理干扰。若整 TRP 休眠，可用 s_l=0 和全组功率约束，但需处理固定设备功耗与空口功率不同的口径。原文二进制 s_l 先放松到 [0,1] 再阈值判决，阈值后要在固定活跃集上重优化并检查速率、服务可行性和功率；原文未给出完整过程。α-fair 目标与硬最低速率并存时可行性不能预设。原始“难题1”要求挑战 50% PRB 条件下边缘体验提升达到理想 CSI 集中协同提升的 80%，这更像相对提升比例，不是绝对速率比；共同基线、分母和统计样本需在正式指标定义中核定。&lt;10% 指相对独立功控基线的平均体验损失，&gt;30% 指空口总发射功率降低，不是设备耗电或总能耗。当前代码尚无新版目标实测结果。下一页解释该目标如何可能进入求解器以及缺口。</a:t>
            </a:r>
          </a:p>
          <a:p>
            <a:endParaRPr/>
          </a:p>
          <a:p>
            <a:r>
              <a:t>研究表达补充：已有基础是 w 已含发射幅度、当前跨资源组共享每 TRP 总功率。研究切入点是明确链路组稀疏和整 TRP 激活两个不同决策层，并给出松弛、阈值判决及重优化后的速率/服务可行性检查。拟研究公平效用、空口功率和稀疏代价的权衡；不能将链路归零说成整台设备休眠，也不能以设备耗电替代空口辐射功率。验证必须以原始难题的边缘体验、平均体验损失和空口功率口径为准，并锁定“80%提升”的共同基线与分母。&lt;10% 和 &gt;30% 是目标，不是新版方案已取得的结果。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dirty="0" err="1"/>
              <a:t>本页回答</a:t>
            </a:r>
            <a:r>
              <a:rPr dirty="0"/>
              <a:t> WMMSE 与 ADMM </a:t>
            </a:r>
            <a:r>
              <a:rPr dirty="0" err="1"/>
              <a:t>怎样联合工作，以及稀疏、休眠、事件触发究竟插在哪。先读左上当前外轮：w</a:t>
            </a:r>
            <a:r>
              <a:rPr dirty="0"/>
              <a:t> </a:t>
            </a:r>
            <a:r>
              <a:rPr dirty="0" err="1"/>
              <a:t>形成有效信道，按</a:t>
            </a:r>
            <a:r>
              <a:rPr dirty="0"/>
              <a:t> </a:t>
            </a:r>
            <a:r>
              <a:rPr dirty="0" err="1"/>
              <a:t>Ryy</a:t>
            </a:r>
            <a:r>
              <a:rPr dirty="0"/>
              <a:t> </a:t>
            </a:r>
            <a:r>
              <a:rPr dirty="0" err="1"/>
              <a:t>更新</a:t>
            </a:r>
            <a:r>
              <a:rPr dirty="0"/>
              <a:t> A、E 和 </a:t>
            </a:r>
            <a:r>
              <a:rPr dirty="0" err="1"/>
              <a:t>Ω，固定它们与用户权重</a:t>
            </a:r>
            <a:r>
              <a:rPr dirty="0"/>
              <a:t> η </a:t>
            </a:r>
            <a:r>
              <a:rPr dirty="0" err="1"/>
              <a:t>后建立预编码二次子问题；这是分块交替，不表示整个联合问题凸。当前统计误差</a:t>
            </a:r>
            <a:r>
              <a:rPr dirty="0"/>
              <a:t> C </a:t>
            </a:r>
            <a:r>
              <a:rPr dirty="0" err="1"/>
              <a:t>进入</a:t>
            </a:r>
            <a:r>
              <a:rPr dirty="0"/>
              <a:t> </a:t>
            </a:r>
            <a:r>
              <a:rPr dirty="0" err="1"/>
              <a:t>Ryy</a:t>
            </a:r>
            <a:r>
              <a:rPr dirty="0"/>
              <a:t> </a:t>
            </a:r>
            <a:r>
              <a:rPr dirty="0" err="1"/>
              <a:t>与二次算子；原文最坏情形</a:t>
            </a:r>
            <a:r>
              <a:rPr dirty="0"/>
              <a:t> </a:t>
            </a:r>
            <a:r>
              <a:rPr dirty="0" err="1"/>
              <a:t>max_w</a:t>
            </a:r>
            <a:r>
              <a:rPr dirty="0"/>
              <a:t> </a:t>
            </a:r>
            <a:r>
              <a:rPr dirty="0" err="1"/>
              <a:t>min_ΔH</a:t>
            </a:r>
            <a:r>
              <a:rPr dirty="0"/>
              <a:t> </a:t>
            </a:r>
            <a:r>
              <a:rPr dirty="0" err="1"/>
              <a:t>见本地</a:t>
            </a:r>
            <a:r>
              <a:rPr dirty="0"/>
              <a:t> 2.png，对应 Markdown 第53–61行，但未给出与 WMMSE </a:t>
            </a:r>
            <a:r>
              <a:rPr dirty="0" err="1"/>
              <a:t>的等价转化，不能把统计平均模型叫作所有椭球误差的保底。再读内轮：当前代码在一个</a:t>
            </a:r>
            <a:r>
              <a:rPr dirty="0"/>
              <a:t> MATLAB </a:t>
            </a:r>
            <a:r>
              <a:rPr dirty="0" err="1"/>
              <a:t>进程里用</a:t>
            </a:r>
            <a:r>
              <a:rPr dirty="0"/>
              <a:t> CG </a:t>
            </a:r>
            <a:r>
              <a:rPr dirty="0" err="1"/>
              <a:t>更新</a:t>
            </a:r>
            <a:r>
              <a:rPr dirty="0"/>
              <a:t> </a:t>
            </a:r>
            <a:r>
              <a:rPr dirty="0" err="1"/>
              <a:t>x、联合跨组功率投影</a:t>
            </a:r>
            <a:r>
              <a:rPr dirty="0"/>
              <a:t> </a:t>
            </a:r>
            <a:r>
              <a:rPr dirty="0" err="1"/>
              <a:t>z、缩放对偶</a:t>
            </a:r>
            <a:r>
              <a:rPr dirty="0"/>
              <a:t> y+=</a:t>
            </a:r>
            <a:r>
              <a:rPr dirty="0" err="1"/>
              <a:t>x−z。原文提议把链路组稀疏加到</a:t>
            </a:r>
            <a:r>
              <a:rPr dirty="0"/>
              <a:t> x </a:t>
            </a:r>
            <a:r>
              <a:rPr dirty="0" err="1"/>
              <a:t>步；近端</a:t>
            </a:r>
            <a:r>
              <a:rPr dirty="0"/>
              <a:t> group-shrink </a:t>
            </a:r>
            <a:r>
              <a:rPr dirty="0" err="1"/>
              <a:t>的单独算子有闭式形式，但耦合二次项加组稀疏的完整子问题一般不能一次软阈值求解，固定变量后凸性要逐项判断。原文的未缩放</a:t>
            </a:r>
            <a:r>
              <a:rPr dirty="0"/>
              <a:t> μ </a:t>
            </a:r>
            <a:r>
              <a:rPr dirty="0" err="1"/>
              <a:t>对偶更新应为</a:t>
            </a:r>
            <a:r>
              <a:rPr dirty="0"/>
              <a:t> μ+=ρ(x−z)，</a:t>
            </a:r>
            <a:r>
              <a:rPr dirty="0" err="1"/>
              <a:t>缩放</a:t>
            </a:r>
            <a:r>
              <a:rPr dirty="0"/>
              <a:t> y=μ/ρ </a:t>
            </a:r>
            <a:r>
              <a:rPr dirty="0" err="1"/>
              <a:t>时为</a:t>
            </a:r>
            <a:r>
              <a:rPr dirty="0"/>
              <a:t> y+=</a:t>
            </a:r>
            <a:r>
              <a:rPr dirty="0" err="1"/>
              <a:t>x−z，当前代码使用后者。原始残差应是更新后</a:t>
            </a:r>
            <a:r>
              <a:rPr dirty="0"/>
              <a:t> x^{t+1}−z^{t+1}，</a:t>
            </a:r>
            <a:r>
              <a:rPr dirty="0" err="1"/>
              <a:t>对偶残差</a:t>
            </a:r>
            <a:r>
              <a:rPr dirty="0"/>
              <a:t> ρ(z^{t+1}−</a:t>
            </a:r>
            <a:r>
              <a:rPr dirty="0" err="1"/>
              <a:t>z^t</a:t>
            </a:r>
            <a:r>
              <a:rPr dirty="0"/>
              <a:t>)；Markdown 第133行写 x^{t+1}−</a:t>
            </a:r>
            <a:r>
              <a:rPr dirty="0" err="1"/>
              <a:t>z^t，不能当本轮原始残差。事件触发若按相对上次发送的消息</a:t>
            </a:r>
            <a:r>
              <a:rPr dirty="0"/>
              <a:t> m </a:t>
            </a:r>
            <a:r>
              <a:rPr dirty="0" err="1"/>
              <a:t>与缓存</a:t>
            </a:r>
            <a:r>
              <a:rPr dirty="0"/>
              <a:t> m̄ </a:t>
            </a:r>
            <a:r>
              <a:rPr dirty="0" err="1"/>
              <a:t>比较，还必须定义</a:t>
            </a:r>
            <a:r>
              <a:rPr dirty="0"/>
              <a:t> m 的内容、未发送时协调侧使用的缓存、哪些消息每轮仍发送，以及对偶与共识如何更新；原文第135–141行“静默并跳过对偶”尚不足以形成收敛的完整算法。TRP </a:t>
            </a:r>
            <a:r>
              <a:rPr dirty="0" err="1"/>
              <a:t>本地并行也需拆开跨</a:t>
            </a:r>
            <a:r>
              <a:rPr dirty="0"/>
              <a:t> TRP </a:t>
            </a:r>
            <a:r>
              <a:rPr dirty="0" err="1"/>
              <a:t>的相干与干扰耦合，变量副本本身不证明已分布式。最后看右侧状态：当前矩阵</a:t>
            </a:r>
            <a:r>
              <a:rPr dirty="0"/>
              <a:t> </a:t>
            </a:r>
            <a:r>
              <a:rPr dirty="0" err="1"/>
              <a:t>WMMSE、接收侧统计</a:t>
            </a:r>
            <a:r>
              <a:rPr dirty="0"/>
              <a:t> C </a:t>
            </a:r>
            <a:r>
              <a:rPr dirty="0" err="1"/>
              <a:t>和集中</a:t>
            </a:r>
            <a:r>
              <a:rPr dirty="0"/>
              <a:t> ADMM 有源码；210/420 UE 同输入对拍、功率可行有记录，但正式规模停止条件未通过；最坏情况、组稀疏、休眠、本地计算、消息缓存和事件触发无实现；历史搜索未接正式入口。下一步不是在汇报中承诺效果，而是补充定义和做同条件对照。</a:t>
            </a:r>
          </a:p>
          <a:p>
            <a:r>
              <a:rPr dirty="0" err="1"/>
              <a:t>研究表达补充：右侧状态栏保留当前事实。已有基础是集中式矩阵</a:t>
            </a:r>
            <a:r>
              <a:rPr dirty="0"/>
              <a:t> </a:t>
            </a:r>
            <a:r>
              <a:rPr dirty="0" err="1"/>
              <a:t>WMMSE、统计误差项和</a:t>
            </a:r>
            <a:r>
              <a:rPr dirty="0"/>
              <a:t> ADMM 可行功率副本。拟研究的事件触发、稀疏与本地计算用相应节点标为“</a:t>
            </a:r>
            <a:r>
              <a:rPr dirty="0" err="1"/>
              <a:t>拟议</a:t>
            </a:r>
            <a:r>
              <a:rPr dirty="0"/>
              <a:t>”，</a:t>
            </a:r>
            <a:r>
              <a:rPr dirty="0" err="1"/>
              <a:t>不属于当前</a:t>
            </a:r>
            <a:r>
              <a:rPr dirty="0"/>
              <a:t> ADMM </a:t>
            </a:r>
            <a:r>
              <a:rPr dirty="0" err="1"/>
              <a:t>执行路径。针对</a:t>
            </a:r>
            <a:r>
              <a:rPr dirty="0"/>
              <a:t> TRP </a:t>
            </a:r>
            <a:r>
              <a:rPr dirty="0" err="1"/>
              <a:t>本地化，需研究跨</a:t>
            </a:r>
            <a:r>
              <a:rPr dirty="0"/>
              <a:t> TRP 相干项与干扰二次项的变量划分、共识副本、交换消息和缓存；针对触发规则，需区分本轮原始残差、对偶残差以及相对上次发送值的变化，说明静默时继续计算什么。验证比较集中式基线与拟议方法的边缘体验、功率可行性、内外层停止、运行时间和传递量；不预设收敛保证或通信降低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4" Type="http://schemas.openxmlformats.org/officeDocument/2006/relationships/image" Target="../media/image6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4" Type="http://schemas.openxmlformats.org/officeDocument/2006/relationships/image" Target="../media/image27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2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5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png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4" Type="http://schemas.openxmlformats.org/officeDocument/2006/relationships/image" Target="../media/image2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2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screen"/>
          <a:srcRect r="25963"/>
          <a:stretch>
            <a:fillRect/>
          </a:stretch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549208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3549208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3549208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3549208" y="1484311"/>
            <a:ext cx="7287114" cy="238680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单击此处</a:t>
            </a:r>
            <a:endParaRPr lang="en-US" altLang="zh-CN" dirty="0"/>
          </a:p>
          <a:p>
            <a:pPr lvl="0"/>
            <a:r>
              <a:rPr lang="zh-CN" altLang="en-US" dirty="0"/>
              <a:t>输入大标题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6118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600575" y="133072"/>
            <a:ext cx="6791691" cy="6535793"/>
          </a:xfrm>
          <a:prstGeom prst="rect">
            <a:avLst/>
          </a:prstGeom>
        </p:spPr>
      </p:pic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216315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1216315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1216315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1216315" y="1484311"/>
            <a:ext cx="7287114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98320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41" name="文本框 40"/>
          <p:cNvSpPr txBox="1"/>
          <p:nvPr userDrawn="1"/>
        </p:nvSpPr>
        <p:spPr>
          <a:xfrm rot="16200000">
            <a:off x="-1443469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52633" y="548450"/>
            <a:ext cx="2295327" cy="504694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dirty="0"/>
          </a:p>
        </p:txBody>
      </p:sp>
      <p:sp>
        <p:nvSpPr>
          <p:cNvPr id="8" name="任意多边形: 形状 39"/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39"/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39"/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任意多边形: 形状 74"/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标题 47"/>
          <p:cNvSpPr>
            <a:spLocks noGrp="1"/>
          </p:cNvSpPr>
          <p:nvPr>
            <p:ph type="title" hasCustomPrompt="1"/>
          </p:nvPr>
        </p:nvSpPr>
        <p:spPr>
          <a:xfrm>
            <a:off x="630418" y="2616692"/>
            <a:ext cx="705595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654709" y="2352090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655638" y="430418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1899117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◀ BIT</a:t>
            </a:r>
            <a:r>
              <a:rPr lang="en-US" altLang="zh-CN" sz="2400" b="1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▶</a:t>
            </a:r>
            <a:endParaRPr lang="zh-CN" altLang="en-US" sz="2400" b="1" i="0" spc="100" dirty="0">
              <a:solidFill>
                <a:schemeClr val="accent3"/>
              </a:solidFill>
              <a:latin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4" name="组合 23"/>
          <p:cNvGrpSpPr/>
          <p:nvPr userDrawn="1"/>
        </p:nvGrpSpPr>
        <p:grpSpPr>
          <a:xfrm>
            <a:off x="671368" y="6083135"/>
            <a:ext cx="2542613" cy="276499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25" name="组合 2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3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1" name="组合 4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4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4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26" name="组合 2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27" name="组合 2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3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3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/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31" name="任意多边形: 形状 30"/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48" name="标题 47"/>
          <p:cNvSpPr>
            <a:spLocks noGrp="1"/>
          </p:cNvSpPr>
          <p:nvPr>
            <p:ph type="title" hasCustomPrompt="1"/>
          </p:nvPr>
        </p:nvSpPr>
        <p:spPr>
          <a:xfrm>
            <a:off x="5113420" y="2558484"/>
            <a:ext cx="6236023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98880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/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6" name="任意多边形: 形状 105"/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8" name="任意多边形: 形状 117"/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49" name="任意多边形: 形状 83"/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50" name="任意多边形: 形状 83"/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102" name="任意多边形: 形状 101"/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0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48" name="标题 47"/>
          <p:cNvSpPr>
            <a:spLocks noGrp="1"/>
          </p:cNvSpPr>
          <p:nvPr userDrawn="1">
            <p:ph type="title" hasCustomPrompt="1"/>
          </p:nvPr>
        </p:nvSpPr>
        <p:spPr>
          <a:xfrm>
            <a:off x="515939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063320" y="554073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" name="组合 51"/>
          <p:cNvGrpSpPr/>
          <p:nvPr userDrawn="1"/>
        </p:nvGrpSpPr>
        <p:grpSpPr>
          <a:xfrm>
            <a:off x="10083479" y="631518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53" name="组合 5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91" name="组合 9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54" name="组合 5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55" name="组合 5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6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/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-1" fmla="*/ 0 w 3162300"/>
              <a:gd name="connsiteY0-2" fmla="*/ 2147409 h 2238849"/>
              <a:gd name="connsiteX1-3" fmla="*/ 0 w 3162300"/>
              <a:gd name="connsiteY1-4" fmla="*/ 1565265 h 2238849"/>
              <a:gd name="connsiteX2-5" fmla="*/ 0 w 3162300"/>
              <a:gd name="connsiteY2-6" fmla="*/ 1544697 h 2238849"/>
              <a:gd name="connsiteX3-7" fmla="*/ 0 w 3162300"/>
              <a:gd name="connsiteY3-8" fmla="*/ 0 h 2238849"/>
              <a:gd name="connsiteX4-9" fmla="*/ 1585774 w 3162300"/>
              <a:gd name="connsiteY4-10" fmla="*/ 1112898 h 2238849"/>
              <a:gd name="connsiteX5-11" fmla="*/ 3162300 w 3162300"/>
              <a:gd name="connsiteY5-12" fmla="*/ 0 h 2238849"/>
              <a:gd name="connsiteX6-13" fmla="*/ 3162300 w 3162300"/>
              <a:gd name="connsiteY6-14" fmla="*/ 1544697 h 2238849"/>
              <a:gd name="connsiteX7-15" fmla="*/ 3162300 w 3162300"/>
              <a:gd name="connsiteY7-16" fmla="*/ 1565265 h 2238849"/>
              <a:gd name="connsiteX8-17" fmla="*/ 3162300 w 3162300"/>
              <a:gd name="connsiteY8-18" fmla="*/ 2147409 h 2238849"/>
              <a:gd name="connsiteX9" fmla="*/ 91440 w 3162300"/>
              <a:gd name="connsiteY9" fmla="*/ 2238849 h 2238849"/>
              <a:gd name="connsiteX0-19" fmla="*/ 0 w 3162300"/>
              <a:gd name="connsiteY0-20" fmla="*/ 2147409 h 2147409"/>
              <a:gd name="connsiteX1-21" fmla="*/ 0 w 3162300"/>
              <a:gd name="connsiteY1-22" fmla="*/ 1565265 h 2147409"/>
              <a:gd name="connsiteX2-23" fmla="*/ 0 w 3162300"/>
              <a:gd name="connsiteY2-24" fmla="*/ 1544697 h 2147409"/>
              <a:gd name="connsiteX3-25" fmla="*/ 0 w 3162300"/>
              <a:gd name="connsiteY3-26" fmla="*/ 0 h 2147409"/>
              <a:gd name="connsiteX4-27" fmla="*/ 1585774 w 3162300"/>
              <a:gd name="connsiteY4-28" fmla="*/ 1112898 h 2147409"/>
              <a:gd name="connsiteX5-29" fmla="*/ 3162300 w 3162300"/>
              <a:gd name="connsiteY5-30" fmla="*/ 0 h 2147409"/>
              <a:gd name="connsiteX6-31" fmla="*/ 3162300 w 3162300"/>
              <a:gd name="connsiteY6-32" fmla="*/ 1544697 h 2147409"/>
              <a:gd name="connsiteX7-33" fmla="*/ 3162300 w 3162300"/>
              <a:gd name="connsiteY7-34" fmla="*/ 1565265 h 2147409"/>
              <a:gd name="connsiteX8-35" fmla="*/ 3162300 w 3162300"/>
              <a:gd name="connsiteY8-36" fmla="*/ 2147409 h 214740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/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-1" fmla="*/ 0 w 3162300"/>
              <a:gd name="connsiteY0-2" fmla="*/ 1871961 h 1963401"/>
              <a:gd name="connsiteX1-3" fmla="*/ 0 w 3162300"/>
              <a:gd name="connsiteY1-4" fmla="*/ 0 h 1963401"/>
              <a:gd name="connsiteX2-5" fmla="*/ 3162300 w 3162300"/>
              <a:gd name="connsiteY2-6" fmla="*/ 0 h 1963401"/>
              <a:gd name="connsiteX3-7" fmla="*/ 3162300 w 3162300"/>
              <a:gd name="connsiteY3-8" fmla="*/ 1871961 h 1963401"/>
              <a:gd name="connsiteX4-9" fmla="*/ 91440 w 3162300"/>
              <a:gd name="connsiteY4-10" fmla="*/ 1963401 h 1963401"/>
              <a:gd name="connsiteX0-11" fmla="*/ 0 w 3162300"/>
              <a:gd name="connsiteY0-12" fmla="*/ 1871961 h 1871961"/>
              <a:gd name="connsiteX1-13" fmla="*/ 0 w 3162300"/>
              <a:gd name="connsiteY1-14" fmla="*/ 0 h 1871961"/>
              <a:gd name="connsiteX2-15" fmla="*/ 3162300 w 3162300"/>
              <a:gd name="connsiteY2-16" fmla="*/ 0 h 1871961"/>
              <a:gd name="connsiteX3-17" fmla="*/ 3162300 w 3162300"/>
              <a:gd name="connsiteY3-18" fmla="*/ 1871961 h 187196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/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28" r="23340"/>
          <a:stretch>
            <a:fillRect/>
          </a:stretch>
        </p:blipFill>
        <p:spPr>
          <a:xfrm>
            <a:off x="4303956" y="0"/>
            <a:ext cx="7888043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5573" r="198"/>
          <a:stretch>
            <a:fillRect/>
          </a:stretch>
        </p:blipFill>
        <p:spPr>
          <a:xfrm>
            <a:off x="0" y="0"/>
            <a:ext cx="8678174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9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4768810" y="7452"/>
            <a:ext cx="7423189" cy="6850548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-10414" y="0"/>
            <a:ext cx="8336943" cy="686004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0414" y="0"/>
            <a:ext cx="1220241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17" name="组合 16"/>
          <p:cNvGrpSpPr/>
          <p:nvPr userDrawn="1"/>
        </p:nvGrpSpPr>
        <p:grpSpPr>
          <a:xfrm>
            <a:off x="3040886" y="5719548"/>
            <a:ext cx="6136451" cy="681262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9000"/>
                </a:schemeClr>
              </a:gs>
              <a:gs pos="0">
                <a:schemeClr val="bg1">
                  <a:alpha val="3000"/>
                </a:schemeClr>
              </a:gs>
            </a:gsLst>
            <a:lin ang="16200000" scaled="1"/>
            <a:tileRect/>
          </a:gradFill>
        </p:grpSpPr>
        <p:grpSp>
          <p:nvGrpSpPr>
            <p:cNvPr id="18" name="组合 17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9" name="组合 18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20" name="组合 19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3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29" y="-2924"/>
            <a:ext cx="12193057" cy="3633531"/>
          </a:xfrm>
          <a:prstGeom prst="rect">
            <a:avLst/>
          </a:prstGeom>
        </p:spPr>
      </p:pic>
      <p:sp>
        <p:nvSpPr>
          <p:cNvPr id="37" name="任意形状 36"/>
          <p:cNvSpPr/>
          <p:nvPr userDrawn="1"/>
        </p:nvSpPr>
        <p:spPr>
          <a:xfrm>
            <a:off x="-134112" y="-106934"/>
            <a:ext cx="12468264" cy="3829332"/>
          </a:xfrm>
          <a:custGeom>
            <a:avLst/>
            <a:gdLst>
              <a:gd name="connsiteX0" fmla="*/ 0 w 12192000"/>
              <a:gd name="connsiteY0" fmla="*/ 0 h 3632200"/>
              <a:gd name="connsiteX1" fmla="*/ 12192000 w 12192000"/>
              <a:gd name="connsiteY1" fmla="*/ 0 h 3632200"/>
              <a:gd name="connsiteX2" fmla="*/ 12192000 w 12192000"/>
              <a:gd name="connsiteY2" fmla="*/ 2602097 h 3632200"/>
              <a:gd name="connsiteX3" fmla="*/ 11858362 w 12192000"/>
              <a:gd name="connsiteY3" fmla="*/ 2747371 h 3632200"/>
              <a:gd name="connsiteX4" fmla="*/ 6859519 w 12192000"/>
              <a:gd name="connsiteY4" fmla="*/ 3619648 h 3632200"/>
              <a:gd name="connsiteX5" fmla="*/ 6096062 w 12192000"/>
              <a:gd name="connsiteY5" fmla="*/ 3632200 h 3632200"/>
              <a:gd name="connsiteX6" fmla="*/ 6095939 w 12192000"/>
              <a:gd name="connsiteY6" fmla="*/ 3632200 h 3632200"/>
              <a:gd name="connsiteX7" fmla="*/ 5332482 w 12192000"/>
              <a:gd name="connsiteY7" fmla="*/ 3619648 h 3632200"/>
              <a:gd name="connsiteX8" fmla="*/ 333638 w 12192000"/>
              <a:gd name="connsiteY8" fmla="*/ 2747371 h 3632200"/>
              <a:gd name="connsiteX9" fmla="*/ 0 w 12192000"/>
              <a:gd name="connsiteY9" fmla="*/ 2602097 h 363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Autofit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rmAutofit fontScale="25000" lnSpcReduction="20000"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502191" y="3048198"/>
            <a:ext cx="1193467" cy="1192626"/>
          </a:xfrm>
          <a:prstGeom prst="rect">
            <a:avLst/>
          </a:prstGeom>
        </p:spPr>
      </p:pic>
      <p:sp>
        <p:nvSpPr>
          <p:cNvPr id="43" name="文本框 42"/>
          <p:cNvSpPr txBox="1"/>
          <p:nvPr userDrawn="1"/>
        </p:nvSpPr>
        <p:spPr>
          <a:xfrm>
            <a:off x="150844" y="617414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4" name="组合 43"/>
          <p:cNvGrpSpPr/>
          <p:nvPr userDrawn="1"/>
        </p:nvGrpSpPr>
        <p:grpSpPr>
          <a:xfrm>
            <a:off x="10083479" y="640064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45" name="组合 4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5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61" name="组合 6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6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2" name="组合 6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6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46" name="组合 4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47" name="组合 4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5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5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5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7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222990" y="1401505"/>
            <a:ext cx="3746000" cy="104851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453730" y="4619682"/>
            <a:ext cx="3284503" cy="72219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b="7394"/>
          <a:stretch>
            <a:fillRect/>
          </a:stretch>
        </p:blipFill>
        <p:spPr>
          <a:xfrm>
            <a:off x="-3165" y="0"/>
            <a:ext cx="12191980" cy="6858000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10" y="1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  <a:buFontTx/>
              <a:buNone/>
            </a:pPr>
            <a:endParaRPr lang="zh-CN" altLang="en-US"/>
          </a:p>
        </p:txBody>
      </p:sp>
      <p:sp>
        <p:nvSpPr>
          <p:cNvPr id="6" name="文本占位符 10"/>
          <p:cNvSpPr>
            <a:spLocks noGrp="1"/>
          </p:cNvSpPr>
          <p:nvPr>
            <p:ph type="body" sz="quarter" idx="11" hasCustomPrompt="1"/>
          </p:nvPr>
        </p:nvSpPr>
        <p:spPr>
          <a:xfrm>
            <a:off x="1572100" y="3028371"/>
            <a:ext cx="9041450" cy="911074"/>
          </a:xfr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北京理工大学毕业答辩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767417" y="1018488"/>
            <a:ext cx="4650816" cy="13017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81566"/>
            <a:ext cx="12192000" cy="3244934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3317875"/>
            <a:ext cx="12192000" cy="3540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6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auto">
          <a:xfrm>
            <a:off x="9790632" y="109143"/>
            <a:ext cx="2286546" cy="297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224285" y="-494144"/>
            <a:ext cx="3165893" cy="41243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5089582"/>
            <a:chOff x="0" y="0"/>
            <a:chExt cx="12192000" cy="5089582"/>
          </a:xfrm>
          <a:solidFill>
            <a:schemeClr val="accent1"/>
          </a:solidFill>
        </p:grpSpPr>
        <p:sp>
          <p:nvSpPr>
            <p:cNvPr id="3" name="等腰三角形 2"/>
            <p:cNvSpPr/>
            <p:nvPr/>
          </p:nvSpPr>
          <p:spPr>
            <a:xfrm flipV="1">
              <a:off x="0" y="4123423"/>
              <a:ext cx="12192000" cy="966159"/>
            </a:xfrm>
            <a:prstGeom prst="triangle">
              <a:avLst/>
            </a:prstGeom>
            <a:grpFill/>
            <a:ln>
              <a:noFill/>
            </a:ln>
            <a:effectLst>
              <a:outerShdw blurRad="76200" dist="127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0" y="0"/>
              <a:ext cx="12192000" cy="41234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/>
          <p:cNvGrpSpPr/>
          <p:nvPr userDrawn="1"/>
        </p:nvGrpSpPr>
        <p:grpSpPr>
          <a:xfrm>
            <a:off x="1866428" y="1872369"/>
            <a:ext cx="8481919" cy="863927"/>
            <a:chOff x="1797415" y="1328902"/>
            <a:chExt cx="8481919" cy="863927"/>
          </a:xfrm>
        </p:grpSpPr>
        <p:grpSp>
          <p:nvGrpSpPr>
            <p:cNvPr id="6" name="组合 5"/>
            <p:cNvGrpSpPr/>
            <p:nvPr/>
          </p:nvGrpSpPr>
          <p:grpSpPr>
            <a:xfrm>
              <a:off x="6886532" y="1337094"/>
              <a:ext cx="3392802" cy="846135"/>
              <a:chOff x="10340336" y="2247899"/>
              <a:chExt cx="2724438" cy="679451"/>
            </a:xfrm>
          </p:grpSpPr>
          <p:sp>
            <p:nvSpPr>
              <p:cNvPr id="2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2" name="组合 2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solidFill>
                <a:schemeClr val="bg1"/>
              </a:solidFill>
            </p:grpSpPr>
            <p:sp>
              <p:nvSpPr>
                <p:cNvPr id="2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3" name="组合 2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solidFill>
                <a:schemeClr val="bg1"/>
              </a:solidFill>
            </p:grpSpPr>
            <p:sp>
              <p:nvSpPr>
                <p:cNvPr id="2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" name="组合 6"/>
            <p:cNvGrpSpPr/>
            <p:nvPr/>
          </p:nvGrpSpPr>
          <p:grpSpPr>
            <a:xfrm>
              <a:off x="1797415" y="1328902"/>
              <a:ext cx="3445163" cy="863927"/>
              <a:chOff x="6738929" y="2270918"/>
              <a:chExt cx="2766486" cy="693738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solidFill>
                <a:schemeClr val="bg1"/>
              </a:solidFill>
            </p:grpSpPr>
            <p:sp>
              <p:nvSpPr>
                <p:cNvPr id="1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solidFill>
                <a:schemeClr val="bg1"/>
              </a:solidFill>
            </p:grpSpPr>
            <p:sp>
              <p:nvSpPr>
                <p:cNvPr id="1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" name="组合 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solidFill>
                <a:schemeClr val="bg1"/>
              </a:solidFill>
            </p:grpSpPr>
            <p:sp>
              <p:nvSpPr>
                <p:cNvPr id="1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/>
          <p:cNvSpPr/>
          <p:nvPr userDrawn="1"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50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15558" b="38705"/>
          <a:stretch>
            <a:fillRect/>
          </a:stretch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" name="直接连接符 3"/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screen"/>
          <a:srcRect l="49471"/>
          <a:stretch>
            <a:fillRect/>
          </a:stretch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screen"/>
          <a:srcRect r="49912"/>
          <a:stretch>
            <a:fillRect/>
          </a:stretch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000" b="1" spc="50" dirty="0">
                <a:solidFill>
                  <a:schemeClr val="bg1">
                    <a:lumMod val="85000"/>
                  </a:schemeClr>
                </a:solidFill>
                <a:latin typeface="+mj-lt"/>
              </a:rPr>
              <a:t>Contents</a:t>
            </a:r>
            <a:r>
              <a:rPr lang="en-US" altLang="zh-CN" sz="4400" b="1" spc="50" dirty="0">
                <a:solidFill>
                  <a:schemeClr val="accent4"/>
                </a:solidFill>
                <a:latin typeface="+mj-lt"/>
              </a:rPr>
              <a:t>■</a:t>
            </a:r>
            <a:endParaRPr lang="zh-CN" altLang="en-US" sz="4400" b="1" spc="50" dirty="0">
              <a:solidFill>
                <a:schemeClr val="accent4"/>
              </a:solidFill>
              <a:latin typeface="+mj-lt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1116549" y="3752395"/>
            <a:ext cx="738664" cy="224676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3600" b="1" spc="600" dirty="0">
                <a:solidFill>
                  <a:schemeClr val="accent1"/>
                </a:solidFill>
              </a:rPr>
              <a:t>结构大纲</a:t>
            </a:r>
          </a:p>
        </p:txBody>
      </p:sp>
      <p:sp>
        <p:nvSpPr>
          <p:cNvPr id="12" name="文本框 11"/>
          <p:cNvSpPr txBox="1"/>
          <p:nvPr userDrawn="1"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000" spc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</a:t>
            </a:r>
            <a:r>
              <a:rPr lang="en-US" altLang="zh-CN" sz="1000" spc="0" baseline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INSTITUTE OF TECHNOLOGY</a:t>
            </a:r>
            <a:endParaRPr lang="zh-CN" altLang="en-US" sz="1000" spc="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041148" y="78493"/>
            <a:ext cx="2025400" cy="566914"/>
          </a:xfrm>
          <a:prstGeom prst="rect">
            <a:avLst/>
          </a:prstGeom>
        </p:spPr>
      </p:pic>
      <p:sp>
        <p:nvSpPr>
          <p:cNvPr id="82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83" name="图片 8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84" name="矩形 83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5" name="组合 84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0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02" name="组合 10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0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0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7" name="组合 86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88" name="组合 8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9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9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9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9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r="20215"/>
          <a:stretch>
            <a:fillRect/>
          </a:stretch>
        </p:blipFill>
        <p:spPr>
          <a:xfrm>
            <a:off x="6592525" y="0"/>
            <a:ext cx="5609371" cy="6765696"/>
          </a:xfrm>
          <a:prstGeom prst="rect">
            <a:avLst/>
          </a:prstGeom>
        </p:spPr>
      </p:pic>
      <p:sp>
        <p:nvSpPr>
          <p:cNvPr id="63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64" name="图片 6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65" name="矩形 64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67" name="组合 6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1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3" name="组合 82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88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9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4" name="组合 83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85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7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8" name="组合 6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69" name="组合 6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79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0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77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8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1" name="组合 70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74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5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6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2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r="30571" b="46397"/>
          <a:stretch>
            <a:fillRect/>
          </a:stretch>
        </p:blipFill>
        <p:spPr>
          <a:xfrm>
            <a:off x="9019185" y="4400550"/>
            <a:ext cx="3194586" cy="246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sp>
        <p:nvSpPr>
          <p:cNvPr id="18" name="矩形: 圆角 162"/>
          <p:cNvSpPr/>
          <p:nvPr userDrawn="1"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: 圆角 163"/>
          <p:cNvSpPr/>
          <p:nvPr userDrawn="1"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0" name="矩形: 圆角 164"/>
          <p:cNvSpPr/>
          <p:nvPr userDrawn="1"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noAutofit/>
          </a:bodyPr>
          <a:lstStyle/>
          <a:p>
            <a:pPr marL="0" marR="0" lvl="0" indent="457200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l="29063" r="32938"/>
          <a:stretch>
            <a:fillRect/>
          </a:stretch>
        </p:blipFill>
        <p:spPr>
          <a:xfrm>
            <a:off x="0" y="0"/>
            <a:ext cx="3914775" cy="6857999"/>
          </a:xfrm>
          <a:prstGeom prst="rect">
            <a:avLst/>
          </a:prstGeom>
        </p:spPr>
      </p:pic>
      <p:sp>
        <p:nvSpPr>
          <p:cNvPr id="13" name="矩形 12"/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 userDrawn="1"/>
        </p:nvSpPr>
        <p:spPr>
          <a:xfrm>
            <a:off x="0" y="0"/>
            <a:ext cx="3914774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/>
          <p:cNvGrpSpPr/>
          <p:nvPr userDrawn="1"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4"/>
          </a:solidFill>
        </p:grpSpPr>
        <p:sp>
          <p:nvSpPr>
            <p:cNvPr id="22" name="等腰三角形 21"/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/>
          <p:cNvCxnSpPr/>
          <p:nvPr userDrawn="1"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 userDrawn="1"/>
        </p:nvSpPr>
        <p:spPr>
          <a:xfrm>
            <a:off x="846867" y="2752385"/>
            <a:ext cx="21971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zh-CN" altLang="en-US" sz="5400" spc="600" dirty="0">
                <a:solidFill>
                  <a:schemeClr val="bg1"/>
                </a:solidFill>
                <a:latin typeface="+mn-ea"/>
                <a:ea typeface="+mn-ea"/>
              </a:rPr>
              <a:t>目录</a:t>
            </a:r>
          </a:p>
        </p:txBody>
      </p:sp>
      <p:sp>
        <p:nvSpPr>
          <p:cNvPr id="44" name="矩形 43"/>
          <p:cNvSpPr/>
          <p:nvPr userDrawn="1"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en-US" altLang="zh-CN" sz="2400" dirty="0">
                <a:solidFill>
                  <a:schemeClr val="bg1"/>
                </a:solidFill>
              </a:rPr>
              <a:t>CONTENTS</a:t>
            </a:r>
          </a:p>
        </p:txBody>
      </p:sp>
      <p:cxnSp>
        <p:nvCxnSpPr>
          <p:cNvPr id="45" name="直接连接符 44"/>
          <p:cNvCxnSpPr/>
          <p:nvPr userDrawn="1"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64854" y="2218510"/>
            <a:ext cx="1715719" cy="48023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4" cstate="screen"/>
          <a:srcRect r="15912" b="16285"/>
          <a:stretch>
            <a:fillRect/>
          </a:stretch>
        </p:blipFill>
        <p:spPr>
          <a:xfrm>
            <a:off x="7258050" y="1942165"/>
            <a:ext cx="4949784" cy="493364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493231"/>
            <a:ext cx="5251028" cy="5254131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6943725" y="0"/>
            <a:ext cx="5248273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/>
          <p:cNvSpPr/>
          <p:nvPr userDrawn="1"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第几部分 ▶</a:t>
            </a:r>
          </a:p>
        </p:txBody>
      </p:sp>
      <p:sp>
        <p:nvSpPr>
          <p:cNvPr id="122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</a:p>
        </p:txBody>
      </p:sp>
      <p:sp>
        <p:nvSpPr>
          <p:cNvPr id="123" name="文本占位符 15"/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</a:p>
          <a:p>
            <a:pPr lvl="0"/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grpSp>
        <p:nvGrpSpPr>
          <p:cNvPr id="115" name="组合 114"/>
          <p:cNvGrpSpPr/>
          <p:nvPr userDrawn="1"/>
        </p:nvGrpSpPr>
        <p:grpSpPr>
          <a:xfrm>
            <a:off x="684666" y="6423435"/>
            <a:ext cx="1915659" cy="208321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117" name="组合 11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34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36" name="组合 135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4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7" name="组合 136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38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18" name="组合 11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9" name="组合 11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13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1" name="组合 1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3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4" name="组合 123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2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25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143" name="图片 14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203766" y="6386257"/>
            <a:ext cx="1257421" cy="27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l="1" t="13078" r="-1" b="115"/>
          <a:stretch>
            <a:fillRect/>
          </a:stretch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4346687"/>
            <a:ext cx="12192001" cy="2511313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936" y="4346687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69" name="图片 68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861200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7423183" y="0"/>
            <a:ext cx="4768815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5" name="文本框 44"/>
          <p:cNvSpPr txBox="1"/>
          <p:nvPr userDrawn="1"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0" dirty="0">
                <a:solidFill>
                  <a:schemeClr val="bg1">
                    <a:alpha val="40000"/>
                  </a:schemeClr>
                </a:solidFill>
              </a:rPr>
              <a:t>0</a:t>
            </a:r>
            <a:endParaRPr lang="zh-CN" altLang="en-US" sz="72000" dirty="0">
              <a:solidFill>
                <a:schemeClr val="bg1">
                  <a:alpha val="40000"/>
                </a:schemeClr>
              </a:solidFill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6870981" y="0"/>
            <a:ext cx="5321017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  <p:grpSp>
        <p:nvGrpSpPr>
          <p:cNvPr id="9" name="Group 6"/>
          <p:cNvGrpSpPr/>
          <p:nvPr userDrawn="1"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417309" y="362097"/>
            <a:ext cx="8643848" cy="5909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36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cxnSp>
        <p:nvCxnSpPr>
          <p:cNvPr id="87" name="直接连接符 86"/>
          <p:cNvCxnSpPr/>
          <p:nvPr userDrawn="1"/>
        </p:nvCxnSpPr>
        <p:spPr>
          <a:xfrm>
            <a:off x="442913" y="957831"/>
            <a:ext cx="11306175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77585" y="334397"/>
            <a:ext cx="1871503" cy="561768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447254" y="957831"/>
            <a:ext cx="7808986" cy="94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11792769" y="56260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  <a:t>‹#›</a:t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/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/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72" name="组合 71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73" name="组合 7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9" name="组合 8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75" name="组合 7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6" name="组合 7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8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96" name="直接连接符 95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screen"/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227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/>
          <p:cNvCxnSpPr/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/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/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/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14" name="组合 13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8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5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2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5" name="组合 14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6" name="组合 15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6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4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1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4214818"/>
            <a:ext cx="8534400" cy="142398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11049000" y="6492876"/>
            <a:ext cx="1143000" cy="365125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solidFill>
                  <a:prstClr val="black"/>
                </a:solidFill>
                <a:latin typeface="+mn-lt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91EDFD1-D3AB-4518-98BC-E386A1BB9611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itchFamily="2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itchFamily="2" charset="-122"/>
              <a:cs typeface="+mn-cs"/>
            </a:endParaRPr>
          </a:p>
        </p:txBody>
      </p:sp>
      <p:sp>
        <p:nvSpPr>
          <p:cNvPr id="5" name="TextBox 11"/>
          <p:cNvSpPr txBox="1">
            <a:spLocks noChangeArrowheads="1"/>
          </p:cNvSpPr>
          <p:nvPr userDrawn="1"/>
        </p:nvSpPr>
        <p:spPr bwMode="auto">
          <a:xfrm>
            <a:off x="11620500" y="116632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  <a:t>‹#›</a:t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椭圆 88"/>
          <p:cNvSpPr/>
          <p:nvPr userDrawn="1"/>
        </p:nvSpPr>
        <p:spPr>
          <a:xfrm>
            <a:off x="-3625080" y="-1541834"/>
            <a:ext cx="8697505" cy="9941668"/>
          </a:xfrm>
          <a:prstGeom prst="ellipse">
            <a:avLst/>
          </a:prstGeom>
          <a:solidFill>
            <a:schemeClr val="accent4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8" name="椭圆 87"/>
          <p:cNvSpPr/>
          <p:nvPr userDrawn="1"/>
        </p:nvSpPr>
        <p:spPr>
          <a:xfrm>
            <a:off x="-3999568" y="-1541834"/>
            <a:ext cx="8697505" cy="9941668"/>
          </a:xfrm>
          <a:prstGeom prst="ellipse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87" name="图片 8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809587" y="1"/>
            <a:ext cx="5507524" cy="6857999"/>
          </a:xfrm>
          <a:custGeom>
            <a:avLst/>
            <a:gdLst>
              <a:gd name="connsiteX0" fmla="*/ 0 w 5919101"/>
              <a:gd name="connsiteY0" fmla="*/ 0 h 6858000"/>
              <a:gd name="connsiteX1" fmla="*/ 4714485 w 5919101"/>
              <a:gd name="connsiteY1" fmla="*/ 0 h 6858000"/>
              <a:gd name="connsiteX2" fmla="*/ 4786974 w 5919101"/>
              <a:gd name="connsiteY2" fmla="*/ 86723 h 6858000"/>
              <a:gd name="connsiteX3" fmla="*/ 5919101 w 5919101"/>
              <a:gd name="connsiteY3" fmla="*/ 3429000 h 6858000"/>
              <a:gd name="connsiteX4" fmla="*/ 4786974 w 5919101"/>
              <a:gd name="connsiteY4" fmla="*/ 6771277 h 6858000"/>
              <a:gd name="connsiteX5" fmla="*/ 4714485 w 5919101"/>
              <a:gd name="connsiteY5" fmla="*/ 6858000 h 6858000"/>
              <a:gd name="connsiteX6" fmla="*/ 0 w 59191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19101" h="6858000">
                <a:moveTo>
                  <a:pt x="0" y="0"/>
                </a:moveTo>
                <a:lnTo>
                  <a:pt x="4714485" y="0"/>
                </a:lnTo>
                <a:lnTo>
                  <a:pt x="4786974" y="86723"/>
                </a:lnTo>
                <a:cubicBezTo>
                  <a:pt x="5490384" y="969480"/>
                  <a:pt x="5919101" y="2142133"/>
                  <a:pt x="5919101" y="3429000"/>
                </a:cubicBezTo>
                <a:cubicBezTo>
                  <a:pt x="5919101" y="4715867"/>
                  <a:pt x="5490384" y="5888521"/>
                  <a:pt x="4786974" y="6771277"/>
                </a:cubicBezTo>
                <a:lnTo>
                  <a:pt x="4714485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86" name="椭圆 85"/>
          <p:cNvSpPr/>
          <p:nvPr userDrawn="1"/>
        </p:nvSpPr>
        <p:spPr>
          <a:xfrm>
            <a:off x="-3913112" y="-1570588"/>
            <a:ext cx="8697505" cy="9941668"/>
          </a:xfrm>
          <a:prstGeom prst="ellipse">
            <a:avLst/>
          </a:prstGeom>
          <a:solidFill>
            <a:schemeClr val="accent1">
              <a:alpha val="8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056440" y="167430"/>
            <a:ext cx="1871503" cy="5617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screen"/>
          <a:srcRect r="25963"/>
          <a:stretch>
            <a:fillRect/>
          </a:stretch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549208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3549208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3549208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3549208" y="1484311"/>
            <a:ext cx="7287114" cy="238680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单击此处</a:t>
            </a:r>
            <a:endParaRPr lang="en-US" altLang="zh-CN" dirty="0"/>
          </a:p>
          <a:p>
            <a:pPr lvl="0"/>
            <a:r>
              <a:rPr lang="zh-CN" altLang="en-US" dirty="0"/>
              <a:t>输入大标题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6118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600575" y="133072"/>
            <a:ext cx="6791691" cy="6535793"/>
          </a:xfrm>
          <a:prstGeom prst="rect">
            <a:avLst/>
          </a:prstGeom>
        </p:spPr>
      </p:pic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216315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1216315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1216315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1216315" y="1484311"/>
            <a:ext cx="7287114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98320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41" name="文本框 40"/>
          <p:cNvSpPr txBox="1"/>
          <p:nvPr userDrawn="1"/>
        </p:nvSpPr>
        <p:spPr>
          <a:xfrm rot="16200000">
            <a:off x="-1443469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52633" y="548450"/>
            <a:ext cx="2295327" cy="504694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dirty="0"/>
          </a:p>
        </p:txBody>
      </p:sp>
      <p:sp>
        <p:nvSpPr>
          <p:cNvPr id="8" name="任意多边形: 形状 39"/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39"/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39"/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任意多边形: 形状 74"/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标题 47"/>
          <p:cNvSpPr>
            <a:spLocks noGrp="1"/>
          </p:cNvSpPr>
          <p:nvPr>
            <p:ph type="title" hasCustomPrompt="1"/>
          </p:nvPr>
        </p:nvSpPr>
        <p:spPr>
          <a:xfrm>
            <a:off x="630418" y="2616692"/>
            <a:ext cx="705595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654709" y="2352090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655638" y="430418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1899117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◀ BIT</a:t>
            </a:r>
            <a:r>
              <a:rPr lang="en-US" altLang="zh-CN" sz="2400" b="1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▶</a:t>
            </a:r>
            <a:endParaRPr lang="zh-CN" altLang="en-US" sz="2400" b="1" i="0" spc="100" dirty="0">
              <a:solidFill>
                <a:schemeClr val="accent3"/>
              </a:solidFill>
              <a:latin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4" name="组合 23"/>
          <p:cNvGrpSpPr/>
          <p:nvPr userDrawn="1"/>
        </p:nvGrpSpPr>
        <p:grpSpPr>
          <a:xfrm>
            <a:off x="671368" y="6083135"/>
            <a:ext cx="2542613" cy="276499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25" name="组合 2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3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1" name="组合 4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4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4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26" name="组合 2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27" name="组合 2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3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3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/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31" name="任意多边形: 形状 30"/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48" name="标题 47"/>
          <p:cNvSpPr>
            <a:spLocks noGrp="1"/>
          </p:cNvSpPr>
          <p:nvPr>
            <p:ph type="title" hasCustomPrompt="1"/>
          </p:nvPr>
        </p:nvSpPr>
        <p:spPr>
          <a:xfrm>
            <a:off x="5113420" y="2558484"/>
            <a:ext cx="6236023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98880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/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6" name="任意多边形: 形状 105"/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8" name="任意多边形: 形状 117"/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49" name="任意多边形: 形状 83"/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50" name="任意多边形: 形状 83"/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102" name="任意多边形: 形状 101"/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0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48" name="标题 47"/>
          <p:cNvSpPr>
            <a:spLocks noGrp="1"/>
          </p:cNvSpPr>
          <p:nvPr userDrawn="1">
            <p:ph type="title" hasCustomPrompt="1"/>
          </p:nvPr>
        </p:nvSpPr>
        <p:spPr>
          <a:xfrm>
            <a:off x="515939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063320" y="554073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" name="组合 51"/>
          <p:cNvGrpSpPr/>
          <p:nvPr userDrawn="1"/>
        </p:nvGrpSpPr>
        <p:grpSpPr>
          <a:xfrm>
            <a:off x="10083479" y="631518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53" name="组合 5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91" name="组合 9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54" name="组合 5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55" name="组合 5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6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/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-1" fmla="*/ 0 w 3162300"/>
              <a:gd name="connsiteY0-2" fmla="*/ 2147409 h 2238849"/>
              <a:gd name="connsiteX1-3" fmla="*/ 0 w 3162300"/>
              <a:gd name="connsiteY1-4" fmla="*/ 1565265 h 2238849"/>
              <a:gd name="connsiteX2-5" fmla="*/ 0 w 3162300"/>
              <a:gd name="connsiteY2-6" fmla="*/ 1544697 h 2238849"/>
              <a:gd name="connsiteX3-7" fmla="*/ 0 w 3162300"/>
              <a:gd name="connsiteY3-8" fmla="*/ 0 h 2238849"/>
              <a:gd name="connsiteX4-9" fmla="*/ 1585774 w 3162300"/>
              <a:gd name="connsiteY4-10" fmla="*/ 1112898 h 2238849"/>
              <a:gd name="connsiteX5-11" fmla="*/ 3162300 w 3162300"/>
              <a:gd name="connsiteY5-12" fmla="*/ 0 h 2238849"/>
              <a:gd name="connsiteX6-13" fmla="*/ 3162300 w 3162300"/>
              <a:gd name="connsiteY6-14" fmla="*/ 1544697 h 2238849"/>
              <a:gd name="connsiteX7-15" fmla="*/ 3162300 w 3162300"/>
              <a:gd name="connsiteY7-16" fmla="*/ 1565265 h 2238849"/>
              <a:gd name="connsiteX8-17" fmla="*/ 3162300 w 3162300"/>
              <a:gd name="connsiteY8-18" fmla="*/ 2147409 h 2238849"/>
              <a:gd name="connsiteX9" fmla="*/ 91440 w 3162300"/>
              <a:gd name="connsiteY9" fmla="*/ 2238849 h 2238849"/>
              <a:gd name="connsiteX0-19" fmla="*/ 0 w 3162300"/>
              <a:gd name="connsiteY0-20" fmla="*/ 2147409 h 2147409"/>
              <a:gd name="connsiteX1-21" fmla="*/ 0 w 3162300"/>
              <a:gd name="connsiteY1-22" fmla="*/ 1565265 h 2147409"/>
              <a:gd name="connsiteX2-23" fmla="*/ 0 w 3162300"/>
              <a:gd name="connsiteY2-24" fmla="*/ 1544697 h 2147409"/>
              <a:gd name="connsiteX3-25" fmla="*/ 0 w 3162300"/>
              <a:gd name="connsiteY3-26" fmla="*/ 0 h 2147409"/>
              <a:gd name="connsiteX4-27" fmla="*/ 1585774 w 3162300"/>
              <a:gd name="connsiteY4-28" fmla="*/ 1112898 h 2147409"/>
              <a:gd name="connsiteX5-29" fmla="*/ 3162300 w 3162300"/>
              <a:gd name="connsiteY5-30" fmla="*/ 0 h 2147409"/>
              <a:gd name="connsiteX6-31" fmla="*/ 3162300 w 3162300"/>
              <a:gd name="connsiteY6-32" fmla="*/ 1544697 h 2147409"/>
              <a:gd name="connsiteX7-33" fmla="*/ 3162300 w 3162300"/>
              <a:gd name="connsiteY7-34" fmla="*/ 1565265 h 2147409"/>
              <a:gd name="connsiteX8-35" fmla="*/ 3162300 w 3162300"/>
              <a:gd name="connsiteY8-36" fmla="*/ 2147409 h 214740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/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-1" fmla="*/ 0 w 3162300"/>
              <a:gd name="connsiteY0-2" fmla="*/ 1871961 h 1963401"/>
              <a:gd name="connsiteX1-3" fmla="*/ 0 w 3162300"/>
              <a:gd name="connsiteY1-4" fmla="*/ 0 h 1963401"/>
              <a:gd name="connsiteX2-5" fmla="*/ 3162300 w 3162300"/>
              <a:gd name="connsiteY2-6" fmla="*/ 0 h 1963401"/>
              <a:gd name="connsiteX3-7" fmla="*/ 3162300 w 3162300"/>
              <a:gd name="connsiteY3-8" fmla="*/ 1871961 h 1963401"/>
              <a:gd name="connsiteX4-9" fmla="*/ 91440 w 3162300"/>
              <a:gd name="connsiteY4-10" fmla="*/ 1963401 h 1963401"/>
              <a:gd name="connsiteX0-11" fmla="*/ 0 w 3162300"/>
              <a:gd name="connsiteY0-12" fmla="*/ 1871961 h 1871961"/>
              <a:gd name="connsiteX1-13" fmla="*/ 0 w 3162300"/>
              <a:gd name="connsiteY1-14" fmla="*/ 0 h 1871961"/>
              <a:gd name="connsiteX2-15" fmla="*/ 3162300 w 3162300"/>
              <a:gd name="connsiteY2-16" fmla="*/ 0 h 1871961"/>
              <a:gd name="connsiteX3-17" fmla="*/ 3162300 w 3162300"/>
              <a:gd name="connsiteY3-18" fmla="*/ 1871961 h 187196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/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28" r="23340"/>
          <a:stretch>
            <a:fillRect/>
          </a:stretch>
        </p:blipFill>
        <p:spPr>
          <a:xfrm>
            <a:off x="4303956" y="0"/>
            <a:ext cx="7888043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5573" r="198"/>
          <a:stretch>
            <a:fillRect/>
          </a:stretch>
        </p:blipFill>
        <p:spPr>
          <a:xfrm>
            <a:off x="0" y="0"/>
            <a:ext cx="8678174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9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4768810" y="7452"/>
            <a:ext cx="7423189" cy="6850548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-10414" y="0"/>
            <a:ext cx="8336943" cy="686004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0414" y="0"/>
            <a:ext cx="1220241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17" name="组合 16"/>
          <p:cNvGrpSpPr/>
          <p:nvPr userDrawn="1"/>
        </p:nvGrpSpPr>
        <p:grpSpPr>
          <a:xfrm>
            <a:off x="3040886" y="5719548"/>
            <a:ext cx="6136451" cy="681262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9000"/>
                </a:schemeClr>
              </a:gs>
              <a:gs pos="0">
                <a:schemeClr val="bg1">
                  <a:alpha val="3000"/>
                </a:schemeClr>
              </a:gs>
            </a:gsLst>
            <a:lin ang="16200000" scaled="1"/>
            <a:tileRect/>
          </a:gradFill>
        </p:grpSpPr>
        <p:grpSp>
          <p:nvGrpSpPr>
            <p:cNvPr id="18" name="组合 17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9" name="组合 18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20" name="组合 19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3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29" y="-2924"/>
            <a:ext cx="12193057" cy="3633531"/>
          </a:xfrm>
          <a:prstGeom prst="rect">
            <a:avLst/>
          </a:prstGeom>
        </p:spPr>
      </p:pic>
      <p:sp>
        <p:nvSpPr>
          <p:cNvPr id="37" name="任意形状 36"/>
          <p:cNvSpPr/>
          <p:nvPr userDrawn="1"/>
        </p:nvSpPr>
        <p:spPr>
          <a:xfrm>
            <a:off x="-134112" y="-106934"/>
            <a:ext cx="12468264" cy="3829332"/>
          </a:xfrm>
          <a:custGeom>
            <a:avLst/>
            <a:gdLst>
              <a:gd name="connsiteX0" fmla="*/ 0 w 12192000"/>
              <a:gd name="connsiteY0" fmla="*/ 0 h 3632200"/>
              <a:gd name="connsiteX1" fmla="*/ 12192000 w 12192000"/>
              <a:gd name="connsiteY1" fmla="*/ 0 h 3632200"/>
              <a:gd name="connsiteX2" fmla="*/ 12192000 w 12192000"/>
              <a:gd name="connsiteY2" fmla="*/ 2602097 h 3632200"/>
              <a:gd name="connsiteX3" fmla="*/ 11858362 w 12192000"/>
              <a:gd name="connsiteY3" fmla="*/ 2747371 h 3632200"/>
              <a:gd name="connsiteX4" fmla="*/ 6859519 w 12192000"/>
              <a:gd name="connsiteY4" fmla="*/ 3619648 h 3632200"/>
              <a:gd name="connsiteX5" fmla="*/ 6096062 w 12192000"/>
              <a:gd name="connsiteY5" fmla="*/ 3632200 h 3632200"/>
              <a:gd name="connsiteX6" fmla="*/ 6095939 w 12192000"/>
              <a:gd name="connsiteY6" fmla="*/ 3632200 h 3632200"/>
              <a:gd name="connsiteX7" fmla="*/ 5332482 w 12192000"/>
              <a:gd name="connsiteY7" fmla="*/ 3619648 h 3632200"/>
              <a:gd name="connsiteX8" fmla="*/ 333638 w 12192000"/>
              <a:gd name="connsiteY8" fmla="*/ 2747371 h 3632200"/>
              <a:gd name="connsiteX9" fmla="*/ 0 w 12192000"/>
              <a:gd name="connsiteY9" fmla="*/ 2602097 h 363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Autofit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rmAutofit fontScale="25000" lnSpcReduction="20000"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502191" y="3048198"/>
            <a:ext cx="1193467" cy="1192626"/>
          </a:xfrm>
          <a:prstGeom prst="rect">
            <a:avLst/>
          </a:prstGeom>
        </p:spPr>
      </p:pic>
      <p:sp>
        <p:nvSpPr>
          <p:cNvPr id="43" name="文本框 42"/>
          <p:cNvSpPr txBox="1"/>
          <p:nvPr userDrawn="1"/>
        </p:nvSpPr>
        <p:spPr>
          <a:xfrm>
            <a:off x="150844" y="617414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4" name="组合 43"/>
          <p:cNvGrpSpPr/>
          <p:nvPr userDrawn="1"/>
        </p:nvGrpSpPr>
        <p:grpSpPr>
          <a:xfrm>
            <a:off x="10083479" y="640064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45" name="组合 4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5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61" name="组合 6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6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2" name="组合 6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6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46" name="组合 4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47" name="组合 4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5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5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5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7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222990" y="1401505"/>
            <a:ext cx="3746000" cy="104851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453730" y="4619682"/>
            <a:ext cx="3284503" cy="72219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b="7394"/>
          <a:stretch>
            <a:fillRect/>
          </a:stretch>
        </p:blipFill>
        <p:spPr>
          <a:xfrm>
            <a:off x="-3165" y="0"/>
            <a:ext cx="12191980" cy="6858000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10" y="1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  <a:buFontTx/>
              <a:buNone/>
            </a:pPr>
            <a:endParaRPr lang="zh-CN" altLang="en-US"/>
          </a:p>
        </p:txBody>
      </p:sp>
      <p:sp>
        <p:nvSpPr>
          <p:cNvPr id="6" name="文本占位符 10"/>
          <p:cNvSpPr>
            <a:spLocks noGrp="1"/>
          </p:cNvSpPr>
          <p:nvPr>
            <p:ph type="body" sz="quarter" idx="11" hasCustomPrompt="1"/>
          </p:nvPr>
        </p:nvSpPr>
        <p:spPr>
          <a:xfrm>
            <a:off x="1572100" y="3028371"/>
            <a:ext cx="9041450" cy="911074"/>
          </a:xfr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北京理工大学毕业答辩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767417" y="1018488"/>
            <a:ext cx="4650816" cy="13017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81566"/>
            <a:ext cx="12192000" cy="3244934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3317875"/>
            <a:ext cx="12192000" cy="3540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6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auto">
          <a:xfrm>
            <a:off x="9790632" y="109143"/>
            <a:ext cx="2286546" cy="297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224285" y="-494144"/>
            <a:ext cx="3165893" cy="41243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5089582"/>
            <a:chOff x="0" y="0"/>
            <a:chExt cx="12192000" cy="5089582"/>
          </a:xfrm>
          <a:solidFill>
            <a:schemeClr val="accent1"/>
          </a:solidFill>
        </p:grpSpPr>
        <p:sp>
          <p:nvSpPr>
            <p:cNvPr id="3" name="等腰三角形 2"/>
            <p:cNvSpPr/>
            <p:nvPr/>
          </p:nvSpPr>
          <p:spPr>
            <a:xfrm flipV="1">
              <a:off x="0" y="4123423"/>
              <a:ext cx="12192000" cy="966159"/>
            </a:xfrm>
            <a:prstGeom prst="triangle">
              <a:avLst/>
            </a:prstGeom>
            <a:grpFill/>
            <a:ln>
              <a:noFill/>
            </a:ln>
            <a:effectLst>
              <a:outerShdw blurRad="76200" dist="127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0" y="0"/>
              <a:ext cx="12192000" cy="41234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/>
          <p:cNvGrpSpPr/>
          <p:nvPr userDrawn="1"/>
        </p:nvGrpSpPr>
        <p:grpSpPr>
          <a:xfrm>
            <a:off x="1866428" y="1872369"/>
            <a:ext cx="8481919" cy="863927"/>
            <a:chOff x="1797415" y="1328902"/>
            <a:chExt cx="8481919" cy="863927"/>
          </a:xfrm>
        </p:grpSpPr>
        <p:grpSp>
          <p:nvGrpSpPr>
            <p:cNvPr id="6" name="组合 5"/>
            <p:cNvGrpSpPr/>
            <p:nvPr/>
          </p:nvGrpSpPr>
          <p:grpSpPr>
            <a:xfrm>
              <a:off x="6886532" y="1337094"/>
              <a:ext cx="3392802" cy="846135"/>
              <a:chOff x="10340336" y="2247899"/>
              <a:chExt cx="2724438" cy="679451"/>
            </a:xfrm>
          </p:grpSpPr>
          <p:sp>
            <p:nvSpPr>
              <p:cNvPr id="2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2" name="组合 2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solidFill>
                <a:schemeClr val="bg1"/>
              </a:solidFill>
            </p:grpSpPr>
            <p:sp>
              <p:nvSpPr>
                <p:cNvPr id="2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3" name="组合 2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solidFill>
                <a:schemeClr val="bg1"/>
              </a:solidFill>
            </p:grpSpPr>
            <p:sp>
              <p:nvSpPr>
                <p:cNvPr id="2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" name="组合 6"/>
            <p:cNvGrpSpPr/>
            <p:nvPr/>
          </p:nvGrpSpPr>
          <p:grpSpPr>
            <a:xfrm>
              <a:off x="1797415" y="1328902"/>
              <a:ext cx="3445163" cy="863927"/>
              <a:chOff x="6738929" y="2270918"/>
              <a:chExt cx="2766486" cy="693738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solidFill>
                <a:schemeClr val="bg1"/>
              </a:solidFill>
            </p:grpSpPr>
            <p:sp>
              <p:nvSpPr>
                <p:cNvPr id="1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solidFill>
                <a:schemeClr val="bg1"/>
              </a:solidFill>
            </p:grpSpPr>
            <p:sp>
              <p:nvSpPr>
                <p:cNvPr id="1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" name="组合 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solidFill>
                <a:schemeClr val="bg1"/>
              </a:solidFill>
            </p:grpSpPr>
            <p:sp>
              <p:nvSpPr>
                <p:cNvPr id="1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/>
          <p:cNvSpPr/>
          <p:nvPr userDrawn="1"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50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15558" b="38705"/>
          <a:stretch>
            <a:fillRect/>
          </a:stretch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" name="直接连接符 3"/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screen"/>
          <a:srcRect l="49471"/>
          <a:stretch>
            <a:fillRect/>
          </a:stretch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screen"/>
          <a:srcRect r="49912"/>
          <a:stretch>
            <a:fillRect/>
          </a:stretch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000" b="1" spc="50" dirty="0">
                <a:solidFill>
                  <a:schemeClr val="bg1">
                    <a:lumMod val="85000"/>
                  </a:schemeClr>
                </a:solidFill>
                <a:latin typeface="+mj-lt"/>
              </a:rPr>
              <a:t>Contents</a:t>
            </a:r>
            <a:r>
              <a:rPr lang="en-US" altLang="zh-CN" sz="4400" b="1" spc="50" dirty="0">
                <a:solidFill>
                  <a:schemeClr val="accent4"/>
                </a:solidFill>
                <a:latin typeface="+mj-lt"/>
              </a:rPr>
              <a:t>■</a:t>
            </a:r>
            <a:endParaRPr lang="zh-CN" altLang="en-US" sz="4400" b="1" spc="50" dirty="0">
              <a:solidFill>
                <a:schemeClr val="accent4"/>
              </a:solidFill>
              <a:latin typeface="+mj-lt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1116549" y="3752395"/>
            <a:ext cx="738664" cy="224676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3600" b="1" spc="600" dirty="0">
                <a:solidFill>
                  <a:schemeClr val="accent1"/>
                </a:solidFill>
              </a:rPr>
              <a:t>结构大纲</a:t>
            </a:r>
          </a:p>
        </p:txBody>
      </p:sp>
      <p:sp>
        <p:nvSpPr>
          <p:cNvPr id="12" name="文本框 11"/>
          <p:cNvSpPr txBox="1"/>
          <p:nvPr userDrawn="1"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000" spc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</a:t>
            </a:r>
            <a:r>
              <a:rPr lang="en-US" altLang="zh-CN" sz="1000" spc="0" baseline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INSTITUTE OF TECHNOLOGY</a:t>
            </a:r>
            <a:endParaRPr lang="zh-CN" altLang="en-US" sz="1000" spc="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041148" y="78493"/>
            <a:ext cx="2025400" cy="566914"/>
          </a:xfrm>
          <a:prstGeom prst="rect">
            <a:avLst/>
          </a:prstGeom>
        </p:spPr>
      </p:pic>
      <p:sp>
        <p:nvSpPr>
          <p:cNvPr id="82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83" name="图片 8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84" name="矩形 83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5" name="组合 84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0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02" name="组合 10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0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0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7" name="组合 86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88" name="组合 8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9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9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9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9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r="20215"/>
          <a:stretch>
            <a:fillRect/>
          </a:stretch>
        </p:blipFill>
        <p:spPr>
          <a:xfrm>
            <a:off x="6592525" y="0"/>
            <a:ext cx="5609371" cy="6765696"/>
          </a:xfrm>
          <a:prstGeom prst="rect">
            <a:avLst/>
          </a:prstGeom>
        </p:spPr>
      </p:pic>
      <p:sp>
        <p:nvSpPr>
          <p:cNvPr id="63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64" name="图片 6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65" name="矩形 64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67" name="组合 6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1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3" name="组合 82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88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9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4" name="组合 83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85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7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8" name="组合 6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69" name="组合 6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79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0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77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8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1" name="组合 70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74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5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6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2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r="30571" b="46397"/>
          <a:stretch>
            <a:fillRect/>
          </a:stretch>
        </p:blipFill>
        <p:spPr>
          <a:xfrm>
            <a:off x="9019185" y="4400550"/>
            <a:ext cx="3194586" cy="246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sp>
        <p:nvSpPr>
          <p:cNvPr id="18" name="矩形: 圆角 162"/>
          <p:cNvSpPr/>
          <p:nvPr userDrawn="1"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: 圆角 163"/>
          <p:cNvSpPr/>
          <p:nvPr userDrawn="1"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0" name="矩形: 圆角 164"/>
          <p:cNvSpPr/>
          <p:nvPr userDrawn="1"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noAutofit/>
          </a:bodyPr>
          <a:lstStyle/>
          <a:p>
            <a:pPr marL="0" marR="0" lvl="0" indent="457200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l="29063" r="32938"/>
          <a:stretch>
            <a:fillRect/>
          </a:stretch>
        </p:blipFill>
        <p:spPr>
          <a:xfrm>
            <a:off x="0" y="0"/>
            <a:ext cx="3914775" cy="6857999"/>
          </a:xfrm>
          <a:prstGeom prst="rect">
            <a:avLst/>
          </a:prstGeom>
        </p:spPr>
      </p:pic>
      <p:sp>
        <p:nvSpPr>
          <p:cNvPr id="13" name="矩形 12"/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 userDrawn="1"/>
        </p:nvSpPr>
        <p:spPr>
          <a:xfrm>
            <a:off x="0" y="0"/>
            <a:ext cx="3914774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/>
          <p:cNvGrpSpPr/>
          <p:nvPr userDrawn="1"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4"/>
          </a:solidFill>
        </p:grpSpPr>
        <p:sp>
          <p:nvSpPr>
            <p:cNvPr id="22" name="等腰三角形 21"/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/>
          <p:cNvCxnSpPr/>
          <p:nvPr userDrawn="1"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 userDrawn="1"/>
        </p:nvSpPr>
        <p:spPr>
          <a:xfrm>
            <a:off x="846867" y="2752385"/>
            <a:ext cx="21971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zh-CN" altLang="en-US" sz="5400" spc="600" dirty="0">
                <a:solidFill>
                  <a:schemeClr val="bg1"/>
                </a:solidFill>
                <a:latin typeface="+mn-ea"/>
                <a:ea typeface="+mn-ea"/>
              </a:rPr>
              <a:t>目录</a:t>
            </a:r>
          </a:p>
        </p:txBody>
      </p:sp>
      <p:sp>
        <p:nvSpPr>
          <p:cNvPr id="44" name="矩形 43"/>
          <p:cNvSpPr/>
          <p:nvPr userDrawn="1"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en-US" altLang="zh-CN" sz="2400" dirty="0">
                <a:solidFill>
                  <a:schemeClr val="bg1"/>
                </a:solidFill>
              </a:rPr>
              <a:t>CONTENTS</a:t>
            </a:r>
          </a:p>
        </p:txBody>
      </p:sp>
      <p:cxnSp>
        <p:nvCxnSpPr>
          <p:cNvPr id="45" name="直接连接符 44"/>
          <p:cNvCxnSpPr/>
          <p:nvPr userDrawn="1"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64854" y="2218510"/>
            <a:ext cx="1715719" cy="48023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4" cstate="screen"/>
          <a:srcRect r="15912" b="16285"/>
          <a:stretch>
            <a:fillRect/>
          </a:stretch>
        </p:blipFill>
        <p:spPr>
          <a:xfrm>
            <a:off x="7258050" y="1942165"/>
            <a:ext cx="4949784" cy="493364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493231"/>
            <a:ext cx="5251028" cy="5254131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6943725" y="0"/>
            <a:ext cx="5248273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/>
          <p:cNvSpPr/>
          <p:nvPr userDrawn="1"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第几部分 ▶</a:t>
            </a:r>
          </a:p>
        </p:txBody>
      </p:sp>
      <p:sp>
        <p:nvSpPr>
          <p:cNvPr id="122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</a:p>
        </p:txBody>
      </p:sp>
      <p:sp>
        <p:nvSpPr>
          <p:cNvPr id="123" name="文本占位符 15"/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</a:p>
          <a:p>
            <a:pPr lvl="0"/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grpSp>
        <p:nvGrpSpPr>
          <p:cNvPr id="115" name="组合 114"/>
          <p:cNvGrpSpPr/>
          <p:nvPr userDrawn="1"/>
        </p:nvGrpSpPr>
        <p:grpSpPr>
          <a:xfrm>
            <a:off x="684666" y="6423435"/>
            <a:ext cx="1915659" cy="208321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117" name="组合 11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34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36" name="组合 135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4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7" name="组合 136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38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18" name="组合 11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9" name="组合 11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13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1" name="组合 1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3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4" name="组合 123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2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25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143" name="图片 14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203766" y="6386257"/>
            <a:ext cx="1257421" cy="27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l="1" t="13078" r="-1" b="115"/>
          <a:stretch>
            <a:fillRect/>
          </a:stretch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4346687"/>
            <a:ext cx="12192001" cy="2511313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936" y="4346687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69" name="图片 68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861200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7423183" y="0"/>
            <a:ext cx="4768815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5" name="文本框 44"/>
          <p:cNvSpPr txBox="1"/>
          <p:nvPr userDrawn="1"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0" dirty="0">
                <a:solidFill>
                  <a:schemeClr val="bg1">
                    <a:alpha val="40000"/>
                  </a:schemeClr>
                </a:solidFill>
              </a:rPr>
              <a:t>0</a:t>
            </a:r>
            <a:endParaRPr lang="zh-CN" altLang="en-US" sz="72000" dirty="0">
              <a:solidFill>
                <a:schemeClr val="bg1">
                  <a:alpha val="40000"/>
                </a:schemeClr>
              </a:solidFill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6870981" y="0"/>
            <a:ext cx="5321017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  <p:grpSp>
        <p:nvGrpSpPr>
          <p:cNvPr id="9" name="Group 6"/>
          <p:cNvGrpSpPr/>
          <p:nvPr userDrawn="1"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417309" y="362097"/>
            <a:ext cx="8643848" cy="5909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36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cxnSp>
        <p:nvCxnSpPr>
          <p:cNvPr id="87" name="直接连接符 86"/>
          <p:cNvCxnSpPr/>
          <p:nvPr userDrawn="1"/>
        </p:nvCxnSpPr>
        <p:spPr>
          <a:xfrm>
            <a:off x="442913" y="957831"/>
            <a:ext cx="11306175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77585" y="334397"/>
            <a:ext cx="1871503" cy="561768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447254" y="957831"/>
            <a:ext cx="7808986" cy="94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11792769" y="56260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  <a:t>‹#›</a:t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/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/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72" name="组合 71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73" name="组合 7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9" name="组合 8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75" name="组合 7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6" name="组合 7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8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96" name="直接连接符 95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screen"/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227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/>
          <p:cNvCxnSpPr/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/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/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/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>
    <p:fade/>
  </p:transition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14" name="组合 13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8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5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2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5" name="组合 14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6" name="组合 15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6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4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1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ïşlíḓè"/>
          <p:cNvSpPr/>
          <p:nvPr userDrawn="1"/>
        </p:nvSpPr>
        <p:spPr>
          <a:xfrm>
            <a:off x="-3560" y="2387600"/>
            <a:ext cx="9581785" cy="447040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srgbClr val="FFFFFF"/>
              </a:solidFill>
            </a:endParaRPr>
          </a:p>
        </p:txBody>
      </p:sp>
      <p:sp>
        <p:nvSpPr>
          <p:cNvPr id="31" name="iśļïḓê"/>
          <p:cNvSpPr/>
          <p:nvPr userDrawn="1"/>
        </p:nvSpPr>
        <p:spPr bwMode="auto">
          <a:xfrm flipH="1">
            <a:off x="-1" y="-4989"/>
            <a:ext cx="9581785" cy="6865116"/>
          </a:xfrm>
          <a:custGeom>
            <a:avLst/>
            <a:gdLst>
              <a:gd name="connsiteX0" fmla="*/ 9581785 w 9581785"/>
              <a:gd name="connsiteY0" fmla="*/ 0 h 6865116"/>
              <a:gd name="connsiteX1" fmla="*/ 6463 w 9581785"/>
              <a:gd name="connsiteY1" fmla="*/ 0 h 6865116"/>
              <a:gd name="connsiteX2" fmla="*/ 0 w 9581785"/>
              <a:gd name="connsiteY2" fmla="*/ 6865116 h 6865116"/>
              <a:gd name="connsiteX3" fmla="*/ 9435691 w 9581785"/>
              <a:gd name="connsiteY3" fmla="*/ 3424381 h 6865116"/>
              <a:gd name="connsiteX4" fmla="*/ 9581785 w 9581785"/>
              <a:gd name="connsiteY4" fmla="*/ 3311401 h 686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1785" h="6865116">
                <a:moveTo>
                  <a:pt x="9581785" y="0"/>
                </a:moveTo>
                <a:lnTo>
                  <a:pt x="6463" y="0"/>
                </a:lnTo>
                <a:lnTo>
                  <a:pt x="0" y="6865116"/>
                </a:lnTo>
                <a:cubicBezTo>
                  <a:pt x="5057128" y="5756514"/>
                  <a:pt x="7899338" y="4547950"/>
                  <a:pt x="9435691" y="3424381"/>
                </a:cubicBezTo>
                <a:lnTo>
                  <a:pt x="9581785" y="331140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34" name="ïSļîḑè"/>
          <p:cNvSpPr/>
          <p:nvPr userDrawn="1"/>
        </p:nvSpPr>
        <p:spPr bwMode="auto">
          <a:xfrm flipH="1">
            <a:off x="3558" y="44794"/>
            <a:ext cx="9578226" cy="6590321"/>
          </a:xfrm>
          <a:custGeom>
            <a:avLst/>
            <a:gdLst>
              <a:gd name="connsiteX0" fmla="*/ 9578226 w 9578226"/>
              <a:gd name="connsiteY0" fmla="*/ 0 h 6590321"/>
              <a:gd name="connsiteX1" fmla="*/ 6205 w 9578226"/>
              <a:gd name="connsiteY1" fmla="*/ 0 h 6590321"/>
              <a:gd name="connsiteX2" fmla="*/ 0 w 9578226"/>
              <a:gd name="connsiteY2" fmla="*/ 6590321 h 6590321"/>
              <a:gd name="connsiteX3" fmla="*/ 9493338 w 9578226"/>
              <a:gd name="connsiteY3" fmla="*/ 2984432 h 6590321"/>
              <a:gd name="connsiteX4" fmla="*/ 9578226 w 9578226"/>
              <a:gd name="connsiteY4" fmla="*/ 2908618 h 6590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8226" h="6590321">
                <a:moveTo>
                  <a:pt x="9578226" y="0"/>
                </a:moveTo>
                <a:lnTo>
                  <a:pt x="6205" y="0"/>
                </a:lnTo>
                <a:lnTo>
                  <a:pt x="0" y="6590321"/>
                </a:lnTo>
                <a:cubicBezTo>
                  <a:pt x="5310859" y="5426098"/>
                  <a:pt x="8101833" y="4148147"/>
                  <a:pt x="9493338" y="2984432"/>
                </a:cubicBezTo>
                <a:lnTo>
                  <a:pt x="9578226" y="2908618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8000">
                <a:schemeClr val="bg1"/>
              </a:gs>
            </a:gsLst>
            <a:lin ang="108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27" name="iṣľiḋé"/>
          <p:cNvSpPr/>
          <p:nvPr userDrawn="1"/>
        </p:nvSpPr>
        <p:spPr bwMode="auto">
          <a:xfrm flipH="1">
            <a:off x="-13714" y="-4989"/>
            <a:ext cx="9621936" cy="6367328"/>
          </a:xfrm>
          <a:custGeom>
            <a:avLst/>
            <a:gdLst>
              <a:gd name="connsiteX0" fmla="*/ 9580005 w 9580005"/>
              <a:gd name="connsiteY0" fmla="*/ 0 h 6339580"/>
              <a:gd name="connsiteX1" fmla="*/ 5969 w 9580005"/>
              <a:gd name="connsiteY1" fmla="*/ 0 h 6339580"/>
              <a:gd name="connsiteX2" fmla="*/ 0 w 9580005"/>
              <a:gd name="connsiteY2" fmla="*/ 6339580 h 6339580"/>
              <a:gd name="connsiteX3" fmla="*/ 9549201 w 9580005"/>
              <a:gd name="connsiteY3" fmla="*/ 2491289 h 6339580"/>
              <a:gd name="connsiteX4" fmla="*/ 9580005 w 9580005"/>
              <a:gd name="connsiteY4" fmla="*/ 2457799 h 6339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0005" h="6339580">
                <a:moveTo>
                  <a:pt x="9580005" y="0"/>
                </a:moveTo>
                <a:lnTo>
                  <a:pt x="5969" y="0"/>
                </a:lnTo>
                <a:lnTo>
                  <a:pt x="0" y="6339580"/>
                </a:lnTo>
                <a:cubicBezTo>
                  <a:pt x="5692847" y="5091619"/>
                  <a:pt x="8380317" y="3708020"/>
                  <a:pt x="9549201" y="2491289"/>
                </a:cubicBezTo>
                <a:lnTo>
                  <a:pt x="9580005" y="245779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13" name="标题 12"/>
          <p:cNvSpPr>
            <a:spLocks noGrp="1"/>
          </p:cNvSpPr>
          <p:nvPr userDrawn="1">
            <p:ph type="ctrTitle" hasCustomPrompt="1"/>
          </p:nvPr>
        </p:nvSpPr>
        <p:spPr>
          <a:xfrm>
            <a:off x="669925" y="1822450"/>
            <a:ext cx="10850564" cy="160655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0" hasCustomPrompt="1"/>
          </p:nvPr>
        </p:nvSpPr>
        <p:spPr>
          <a:xfrm>
            <a:off x="669925" y="4017660"/>
            <a:ext cx="10850564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1" hasCustomPrompt="1"/>
          </p:nvPr>
        </p:nvSpPr>
        <p:spPr>
          <a:xfrm>
            <a:off x="669925" y="4329937"/>
            <a:ext cx="10850564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862403" y="502903"/>
            <a:ext cx="2658086" cy="71329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3.xml"/><Relationship Id="rId18" Type="http://schemas.openxmlformats.org/officeDocument/2006/relationships/slideLayout" Target="../slideLayouts/slideLayout68.xml"/><Relationship Id="rId26" Type="http://schemas.openxmlformats.org/officeDocument/2006/relationships/slideLayout" Target="../slideLayouts/slideLayout76.xml"/><Relationship Id="rId39" Type="http://schemas.openxmlformats.org/officeDocument/2006/relationships/slideLayout" Target="../slideLayouts/slideLayout89.xml"/><Relationship Id="rId21" Type="http://schemas.openxmlformats.org/officeDocument/2006/relationships/slideLayout" Target="../slideLayouts/slideLayout71.xml"/><Relationship Id="rId34" Type="http://schemas.openxmlformats.org/officeDocument/2006/relationships/slideLayout" Target="../slideLayouts/slideLayout84.xml"/><Relationship Id="rId42" Type="http://schemas.openxmlformats.org/officeDocument/2006/relationships/slideLayout" Target="../slideLayouts/slideLayout92.xml"/><Relationship Id="rId47" Type="http://schemas.openxmlformats.org/officeDocument/2006/relationships/slideLayout" Target="../slideLayouts/slideLayout97.xml"/><Relationship Id="rId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2.xml"/><Relationship Id="rId16" Type="http://schemas.openxmlformats.org/officeDocument/2006/relationships/slideLayout" Target="../slideLayouts/slideLayout66.xml"/><Relationship Id="rId29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61.xml"/><Relationship Id="rId24" Type="http://schemas.openxmlformats.org/officeDocument/2006/relationships/slideLayout" Target="../slideLayouts/slideLayout74.xml"/><Relationship Id="rId32" Type="http://schemas.openxmlformats.org/officeDocument/2006/relationships/slideLayout" Target="../slideLayouts/slideLayout82.xml"/><Relationship Id="rId37" Type="http://schemas.openxmlformats.org/officeDocument/2006/relationships/slideLayout" Target="../slideLayouts/slideLayout87.xml"/><Relationship Id="rId40" Type="http://schemas.openxmlformats.org/officeDocument/2006/relationships/slideLayout" Target="../slideLayouts/slideLayout90.xml"/><Relationship Id="rId45" Type="http://schemas.openxmlformats.org/officeDocument/2006/relationships/slideLayout" Target="../slideLayouts/slideLayout95.xml"/><Relationship Id="rId5" Type="http://schemas.openxmlformats.org/officeDocument/2006/relationships/slideLayout" Target="../slideLayouts/slideLayout55.xml"/><Relationship Id="rId15" Type="http://schemas.openxmlformats.org/officeDocument/2006/relationships/slideLayout" Target="../slideLayouts/slideLayout65.xml"/><Relationship Id="rId23" Type="http://schemas.openxmlformats.org/officeDocument/2006/relationships/slideLayout" Target="../slideLayouts/slideLayout73.xml"/><Relationship Id="rId28" Type="http://schemas.openxmlformats.org/officeDocument/2006/relationships/slideLayout" Target="../slideLayouts/slideLayout78.xml"/><Relationship Id="rId36" Type="http://schemas.openxmlformats.org/officeDocument/2006/relationships/slideLayout" Target="../slideLayouts/slideLayout86.xml"/><Relationship Id="rId49" Type="http://schemas.openxmlformats.org/officeDocument/2006/relationships/theme" Target="../theme/theme2.xml"/><Relationship Id="rId10" Type="http://schemas.openxmlformats.org/officeDocument/2006/relationships/slideLayout" Target="../slideLayouts/slideLayout60.xml"/><Relationship Id="rId19" Type="http://schemas.openxmlformats.org/officeDocument/2006/relationships/slideLayout" Target="../slideLayouts/slideLayout69.xml"/><Relationship Id="rId31" Type="http://schemas.openxmlformats.org/officeDocument/2006/relationships/slideLayout" Target="../slideLayouts/slideLayout81.xml"/><Relationship Id="rId44" Type="http://schemas.openxmlformats.org/officeDocument/2006/relationships/slideLayout" Target="../slideLayouts/slideLayout94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4.xml"/><Relationship Id="rId22" Type="http://schemas.openxmlformats.org/officeDocument/2006/relationships/slideLayout" Target="../slideLayouts/slideLayout72.xml"/><Relationship Id="rId27" Type="http://schemas.openxmlformats.org/officeDocument/2006/relationships/slideLayout" Target="../slideLayouts/slideLayout77.xml"/><Relationship Id="rId30" Type="http://schemas.openxmlformats.org/officeDocument/2006/relationships/slideLayout" Target="../slideLayouts/slideLayout80.xml"/><Relationship Id="rId35" Type="http://schemas.openxmlformats.org/officeDocument/2006/relationships/slideLayout" Target="../slideLayouts/slideLayout85.xml"/><Relationship Id="rId43" Type="http://schemas.openxmlformats.org/officeDocument/2006/relationships/slideLayout" Target="../slideLayouts/slideLayout93.xml"/><Relationship Id="rId48" Type="http://schemas.openxmlformats.org/officeDocument/2006/relationships/slideLayout" Target="../slideLayouts/slideLayout98.xml"/><Relationship Id="rId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62.xml"/><Relationship Id="rId17" Type="http://schemas.openxmlformats.org/officeDocument/2006/relationships/slideLayout" Target="../slideLayouts/slideLayout67.xml"/><Relationship Id="rId25" Type="http://schemas.openxmlformats.org/officeDocument/2006/relationships/slideLayout" Target="../slideLayouts/slideLayout75.xml"/><Relationship Id="rId33" Type="http://schemas.openxmlformats.org/officeDocument/2006/relationships/slideLayout" Target="../slideLayouts/slideLayout83.xml"/><Relationship Id="rId38" Type="http://schemas.openxmlformats.org/officeDocument/2006/relationships/slideLayout" Target="../slideLayouts/slideLayout88.xml"/><Relationship Id="rId46" Type="http://schemas.openxmlformats.org/officeDocument/2006/relationships/slideLayout" Target="../slideLayouts/slideLayout96.xml"/><Relationship Id="rId20" Type="http://schemas.openxmlformats.org/officeDocument/2006/relationships/slideLayout" Target="../slideLayouts/slideLayout70.xml"/><Relationship Id="rId41" Type="http://schemas.openxmlformats.org/officeDocument/2006/relationships/slideLayout" Target="../slideLayouts/slideLayout91.xml"/><Relationship Id="rId1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</p:sldLayoutIdLst>
  <p:transition spd="med">
    <p:fade/>
  </p:transition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  <p:sldLayoutId id="2147483742" r:id="rId43"/>
    <p:sldLayoutId id="2147483743" r:id="rId44"/>
    <p:sldLayoutId id="2147483744" r:id="rId45"/>
    <p:sldLayoutId id="2147483745" r:id="rId46"/>
    <p:sldLayoutId id="2147483746" r:id="rId47"/>
    <p:sldLayoutId id="2147483747" r:id="rId48"/>
  </p:sldLayoutIdLst>
  <p:transition spd="med">
    <p:fade/>
  </p:transition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27.xml"/><Relationship Id="rId13" Type="http://schemas.openxmlformats.org/officeDocument/2006/relationships/slideLayout" Target="../slideLayouts/slideLayout50.xml"/><Relationship Id="rId3" Type="http://schemas.openxmlformats.org/officeDocument/2006/relationships/tags" Target="../tags/tag22.xml"/><Relationship Id="rId7" Type="http://schemas.openxmlformats.org/officeDocument/2006/relationships/tags" Target="../tags/tag26.xml"/><Relationship Id="rId12" Type="http://schemas.openxmlformats.org/officeDocument/2006/relationships/tags" Target="../tags/tag31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tags" Target="../tags/tag25.xml"/><Relationship Id="rId11" Type="http://schemas.openxmlformats.org/officeDocument/2006/relationships/tags" Target="../tags/tag30.xml"/><Relationship Id="rId5" Type="http://schemas.openxmlformats.org/officeDocument/2006/relationships/tags" Target="../tags/tag24.xml"/><Relationship Id="rId10" Type="http://schemas.openxmlformats.org/officeDocument/2006/relationships/tags" Target="../tags/tag29.xml"/><Relationship Id="rId4" Type="http://schemas.openxmlformats.org/officeDocument/2006/relationships/tags" Target="../tags/tag23.xml"/><Relationship Id="rId9" Type="http://schemas.openxmlformats.org/officeDocument/2006/relationships/tags" Target="../tags/tag28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1340768"/>
            <a:ext cx="12192000" cy="20882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非理想测量下的用户中心多TRP协同优化研究</a:t>
            </a:r>
            <a:endParaRPr lang="en-US" altLang="zh-CN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336" y="155828"/>
            <a:ext cx="20425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tx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研究汇报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73"/>
    </mc:Choice>
    <mc:Fallback xmlns="">
      <p:transition spd="slow" advTm="117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 idx="4294967295"/>
          </p:nvPr>
        </p:nvSpPr>
        <p:spPr>
          <a:xfrm>
            <a:off x="1279525" y="2528666"/>
            <a:ext cx="1806575" cy="675057"/>
          </a:xfrm>
        </p:spPr>
        <p:txBody>
          <a:bodyPr/>
          <a:lstStyle/>
          <a:p>
            <a:pPr algn="ctr"/>
            <a:r>
              <a:rPr lang="zh-CN" altLang="en-US" sz="6000" b="1" dirty="0">
                <a:solidFill>
                  <a:schemeClr val="bg1"/>
                </a:solidFill>
              </a:rPr>
              <a:t>主要内容</a:t>
            </a:r>
          </a:p>
        </p:txBody>
      </p:sp>
      <p:grpSp>
        <p:nvGrpSpPr>
          <p:cNvPr id="30" name="组合 29"/>
          <p:cNvGrpSpPr/>
          <p:nvPr>
            <p:custDataLst>
              <p:tags r:id="rId1"/>
            </p:custDataLst>
          </p:nvPr>
        </p:nvGrpSpPr>
        <p:grpSpPr>
          <a:xfrm>
            <a:off x="5675907" y="569134"/>
            <a:ext cx="5190522" cy="1098506"/>
            <a:chOff x="5337036" y="1031947"/>
            <a:chExt cx="5190522" cy="1098506"/>
          </a:xfrm>
        </p:grpSpPr>
        <p:sp>
          <p:nvSpPr>
            <p:cNvPr id="46" name="文本框 45"/>
            <p:cNvSpPr txBox="1"/>
            <p:nvPr>
              <p:custDataLst>
                <p:tags r:id="rId11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1</a:t>
              </a:r>
              <a:endParaRPr kumimoji="0" lang="zh-CN" altLang="en-US" sz="5400" b="1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8" name="文本框 47"/>
            <p:cNvSpPr txBox="1"/>
            <p:nvPr>
              <p:custDataLst>
                <p:tags r:id="rId12"/>
              </p:custDataLst>
            </p:nvPr>
          </p:nvSpPr>
          <p:spPr>
            <a:xfrm>
              <a:off x="6355262" y="1304201"/>
              <a:ext cx="417229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7145">
                <a:spcBef>
                  <a:spcPts val="105"/>
                </a:spcBef>
              </a:pPr>
              <a:r>
                <a:rPr lang="zh-CN" altLang="en-US" sz="36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</a:rPr>
                <a:t>研究问题与验收场景</a:t>
              </a:r>
            </a:p>
          </p:txBody>
        </p:sp>
      </p:grpSp>
      <p:grpSp>
        <p:nvGrpSpPr>
          <p:cNvPr id="59" name="组合 58"/>
          <p:cNvGrpSpPr/>
          <p:nvPr>
            <p:custDataLst>
              <p:tags r:id="rId2"/>
            </p:custDataLst>
          </p:nvPr>
        </p:nvGrpSpPr>
        <p:grpSpPr>
          <a:xfrm>
            <a:off x="5683198" y="2012029"/>
            <a:ext cx="4278628" cy="1481021"/>
            <a:chOff x="5337036" y="1031947"/>
            <a:chExt cx="4278628" cy="1481021"/>
          </a:xfrm>
        </p:grpSpPr>
        <p:sp>
          <p:nvSpPr>
            <p:cNvPr id="60" name="文本框 59"/>
            <p:cNvSpPr txBox="1"/>
            <p:nvPr>
              <p:custDataLst>
                <p:tags r:id="rId9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02B84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2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02B84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2" name="文本框 61"/>
            <p:cNvSpPr txBox="1"/>
            <p:nvPr>
              <p:custDataLst>
                <p:tags r:id="rId10"/>
              </p:custDataLst>
            </p:nvPr>
          </p:nvSpPr>
          <p:spPr>
            <a:xfrm>
              <a:off x="6384010" y="1248904"/>
              <a:ext cx="3231654" cy="126406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</a:rPr>
                <a:t>系统模型与框架</a:t>
              </a:r>
            </a:p>
            <a:p>
              <a:pPr lvl="0">
                <a:lnSpc>
                  <a:spcPct val="120000"/>
                </a:lnSpc>
              </a:pPr>
              <a:endParaRPr lang="zh-CN" altLang="en-US" sz="3600" b="1" dirty="0">
                <a:solidFill>
                  <a:srgbClr val="002B84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66" name="组合 65"/>
          <p:cNvGrpSpPr/>
          <p:nvPr>
            <p:custDataLst>
              <p:tags r:id="rId3"/>
            </p:custDataLst>
          </p:nvPr>
        </p:nvGrpSpPr>
        <p:grpSpPr>
          <a:xfrm>
            <a:off x="5675907" y="4918106"/>
            <a:ext cx="3804264" cy="1098506"/>
            <a:chOff x="5337036" y="1031947"/>
            <a:chExt cx="3804264" cy="1098506"/>
          </a:xfrm>
        </p:grpSpPr>
        <p:sp>
          <p:nvSpPr>
            <p:cNvPr id="67" name="文本框 66"/>
            <p:cNvSpPr txBox="1"/>
            <p:nvPr>
              <p:custDataLst>
                <p:tags r:id="rId7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02B84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4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02B84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9" name="文本框 68"/>
            <p:cNvSpPr txBox="1"/>
            <p:nvPr>
              <p:custDataLst>
                <p:tags r:id="rId8"/>
              </p:custDataLst>
            </p:nvPr>
          </p:nvSpPr>
          <p:spPr>
            <a:xfrm>
              <a:off x="6371311" y="1290123"/>
              <a:ext cx="2769989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spcBef>
                  <a:spcPct val="20000"/>
                </a:spcBef>
              </a:pPr>
              <a:r>
                <a:rPr lang="zh-CN" altLang="en-US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ea"/>
                </a:rPr>
                <a:t>新版研究方案</a:t>
              </a:r>
              <a:endParaRPr lang="zh-CN" altLang="en-US" sz="3600" b="1" dirty="0">
                <a:solidFill>
                  <a:srgbClr val="013A89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3" name="组合 12"/>
          <p:cNvGrpSpPr/>
          <p:nvPr>
            <p:custDataLst>
              <p:tags r:id="rId4"/>
            </p:custDataLst>
          </p:nvPr>
        </p:nvGrpSpPr>
        <p:grpSpPr>
          <a:xfrm>
            <a:off x="5675658" y="3484713"/>
            <a:ext cx="4462974" cy="1098506"/>
            <a:chOff x="5337036" y="1031947"/>
            <a:chExt cx="4462974" cy="1098506"/>
          </a:xfrm>
        </p:grpSpPr>
        <p:sp>
          <p:nvSpPr>
            <p:cNvPr id="14" name="文本框 13"/>
            <p:cNvSpPr txBox="1"/>
            <p:nvPr>
              <p:custDataLst>
                <p:tags r:id="rId5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13A8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3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13A8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>
              <p:custDataLst>
                <p:tags r:id="rId6"/>
              </p:custDataLst>
            </p:nvPr>
          </p:nvSpPr>
          <p:spPr>
            <a:xfrm>
              <a:off x="6384010" y="1248904"/>
              <a:ext cx="3416000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spcBef>
                  <a:spcPct val="20000"/>
                </a:spcBef>
              </a:pPr>
              <a:r>
                <a:rPr lang="en-US" altLang="zh-CN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ea"/>
                </a:rPr>
                <a:t>WMMSE-ADMM</a:t>
              </a:r>
              <a:endParaRPr lang="zh-CN" altLang="en-GB" sz="3600" b="1" dirty="0">
                <a:solidFill>
                  <a:srgbClr val="002B84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</a:endParaRPr>
            </a:p>
          </p:txBody>
        </p:sp>
      </p:grp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362097"/>
            <a:ext cx="4801314" cy="590931"/>
          </a:xfrm>
        </p:spPr>
        <p:txBody>
          <a:bodyPr wrap="none"/>
          <a:lstStyle/>
          <a:p>
            <a:r>
              <a:rPr lang="zh-CN" altLang="en-US" b="1" dirty="0">
                <a:solidFill>
                  <a:srgbClr val="092B56"/>
                </a:solidFill>
                <a:latin typeface="Microsoft YaHei"/>
              </a:rPr>
              <a:t>研究问题、方法与目标</a:t>
            </a:r>
            <a:endParaRPr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1348716"/>
            <a:ext cx="2880360" cy="3200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zh-CN" altLang="en-US" sz="1900" b="1" dirty="0">
                <a:solidFill>
                  <a:srgbClr val="092B56"/>
                </a:solidFill>
                <a:latin typeface="Microsoft YaHei"/>
              </a:rPr>
              <a:t>研究问题</a:t>
            </a:r>
            <a:r>
              <a:rPr sz="1900" b="1" dirty="0" err="1">
                <a:solidFill>
                  <a:srgbClr val="092B56"/>
                </a:solidFill>
                <a:latin typeface="Microsoft YaHei"/>
              </a:rPr>
              <a:t>中的困难</a:t>
            </a:r>
            <a:endParaRPr sz="19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690872" y="1348716"/>
            <a:ext cx="2889504" cy="3200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900" b="1" dirty="0" err="1">
                <a:solidFill>
                  <a:srgbClr val="092B56"/>
                </a:solidFill>
                <a:latin typeface="Microsoft YaHei"/>
              </a:rPr>
              <a:t>研究方法</a:t>
            </a:r>
            <a:endParaRPr sz="19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33104" y="1348716"/>
            <a:ext cx="2697480" cy="3200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zh-CN" altLang="en-US" sz="1900" b="1" dirty="0">
                <a:solidFill>
                  <a:srgbClr val="092B56"/>
                </a:solidFill>
                <a:latin typeface="Microsoft YaHei"/>
              </a:rPr>
              <a:t>研究目标</a:t>
            </a:r>
            <a:endParaRPr sz="19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360" y="1883664"/>
            <a:ext cx="3273552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883664"/>
            <a:ext cx="327355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906524"/>
            <a:ext cx="312724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63673"/>
            <a:ext cx="3035808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非理想测量：不同 </a:t>
            </a:r>
            <a:r>
              <a:rPr lang="en-US" altLang="zh-CN" sz="1600" b="0" dirty="0">
                <a:solidFill>
                  <a:srgbClr val="000000"/>
                </a:solidFill>
                <a:latin typeface="Microsoft YaHei"/>
              </a:rPr>
              <a:t>UE–TRP </a:t>
            </a:r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链路的 </a:t>
            </a:r>
            <a:r>
              <a:rPr lang="en-US" altLang="zh-CN" sz="1600" b="0" dirty="0">
                <a:solidFill>
                  <a:srgbClr val="000000"/>
                </a:solidFill>
                <a:latin typeface="Microsoft YaHei"/>
              </a:rPr>
              <a:t>CSI </a:t>
            </a:r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质量存在差异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913632" y="2304288"/>
            <a:ext cx="45720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425696" y="1883664"/>
            <a:ext cx="3749039" cy="85039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1918093"/>
            <a:ext cx="3511296" cy="76636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b="1" dirty="0"/>
              <a:t>测量质量感知建模</a:t>
            </a:r>
            <a:r>
              <a:rPr lang="zh-CN" altLang="zh-CN" sz="1600" dirty="0"/>
              <a:t>：以链路误差统计 </a:t>
            </a:r>
            <a:r>
              <a:rPr lang="en-US" altLang="zh-CN" sz="1600" dirty="0" err="1"/>
              <a:t>Cklg</a:t>
            </a:r>
            <a:r>
              <a:rPr lang="zh-CN" altLang="zh-CN" sz="1600" dirty="0"/>
              <a:t>为基础，</a:t>
            </a:r>
            <a:r>
              <a:rPr lang="zh-CN" altLang="en-US" sz="1600" dirty="0"/>
              <a:t>不同链路</a:t>
            </a:r>
            <a:r>
              <a:rPr lang="en-US" altLang="zh-CN" sz="1600" dirty="0" err="1"/>
              <a:t>Cklg</a:t>
            </a:r>
            <a:r>
              <a:rPr lang="zh-CN" altLang="en-US" sz="1600" dirty="0"/>
              <a:t>不同，接收器与预编码更新也不同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220456" y="2304288"/>
            <a:ext cx="44805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14232" y="1883664"/>
            <a:ext cx="2852928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33104" y="2059726"/>
            <a:ext cx="2615184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dirty="0"/>
              <a:t>提高协同传输对估计误差的适应能力</a:t>
            </a:r>
            <a:endParaRPr sz="155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94360" y="3026664"/>
            <a:ext cx="3273552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94360" y="3026664"/>
            <a:ext cx="3273552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512" y="3049524"/>
            <a:ext cx="312724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406673"/>
            <a:ext cx="3035808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 dirty="0" err="1">
                <a:solidFill>
                  <a:srgbClr val="000000"/>
                </a:solidFill>
                <a:latin typeface="Microsoft YaHei"/>
              </a:rPr>
              <a:t>边缘</a:t>
            </a:r>
            <a:r>
              <a:rPr sz="1600" b="0" dirty="0">
                <a:solidFill>
                  <a:srgbClr val="000000"/>
                </a:solidFill>
                <a:latin typeface="Microsoft YaHei"/>
              </a:rPr>
              <a:t> UE </a:t>
            </a:r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信号弱、</a:t>
            </a:r>
            <a:r>
              <a:rPr sz="1600" b="0" dirty="0" err="1">
                <a:solidFill>
                  <a:srgbClr val="000000"/>
                </a:solidFill>
                <a:latin typeface="Microsoft YaHei"/>
              </a:rPr>
              <a:t>受干扰影响</a:t>
            </a:r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明显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3913632" y="3447288"/>
            <a:ext cx="457200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425696" y="3026664"/>
            <a:ext cx="3749039" cy="85039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34957" y="3099835"/>
            <a:ext cx="3511296" cy="76636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b="1" dirty="0"/>
              <a:t>用户中心协同＋WMMSE</a:t>
            </a:r>
            <a:r>
              <a:rPr lang="zh-CN" altLang="zh-CN" sz="1600" dirty="0"/>
              <a:t>：用户中心协同提供增强有用信号的机会，</a:t>
            </a:r>
            <a:r>
              <a:rPr lang="en-US" altLang="zh-CN" sz="1600" dirty="0"/>
              <a:t>WMMSE</a:t>
            </a:r>
            <a:r>
              <a:rPr lang="zh-CN" altLang="zh-CN" sz="1600" dirty="0"/>
              <a:t>协调有用信号与干扰</a:t>
            </a:r>
            <a:r>
              <a:rPr lang="zh-CN" altLang="en-US" sz="1600" dirty="0"/>
              <a:t>，</a:t>
            </a:r>
            <a:r>
              <a:rPr lang="zh-CN" altLang="zh-CN" sz="1600" dirty="0"/>
              <a:t>处理</a:t>
            </a:r>
            <a:r>
              <a:rPr lang="zh-CN" altLang="en-US" sz="1600" dirty="0"/>
              <a:t>均衡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8220456" y="3447288"/>
            <a:ext cx="44805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714232" y="3026664"/>
            <a:ext cx="2852928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85965" y="3234816"/>
            <a:ext cx="2615184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dirty="0"/>
              <a:t>改善边缘 UE 体验，兼顾整体速率</a:t>
            </a:r>
            <a:endParaRPr sz="155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4360" y="4169664"/>
            <a:ext cx="3273552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94360" y="4169664"/>
            <a:ext cx="3273552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7512" y="4192524"/>
            <a:ext cx="312724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4672783"/>
            <a:ext cx="3035808" cy="27392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不同资源组共享功率预算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3913632" y="4590288"/>
            <a:ext cx="457200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425696" y="4169664"/>
            <a:ext cx="3749039" cy="85039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44568" y="4184498"/>
            <a:ext cx="3511296" cy="76636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b="1" dirty="0"/>
              <a:t>ADMM 约束求解</a:t>
            </a:r>
            <a:r>
              <a:rPr lang="zh-CN" altLang="zh-CN" sz="1600" dirty="0"/>
              <a:t>：</a:t>
            </a:r>
            <a:r>
              <a:rPr lang="zh-CN" altLang="en-US" sz="1600" dirty="0"/>
              <a:t>提供可拆分求解结构，功率约束和目标更新分开处理，通过一致性迭代联合求解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8220456" y="4590288"/>
            <a:ext cx="448056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714232" y="4169664"/>
            <a:ext cx="2852928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863584" y="4359911"/>
            <a:ext cx="2615184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dirty="0"/>
              <a:t>控制空口发射功率，提高大规模求解效率</a:t>
            </a:r>
            <a:endParaRPr sz="155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BED6DF-8150-EA99-6BC5-75F8EFE39117}"/>
              </a:ext>
            </a:extLst>
          </p:cNvPr>
          <p:cNvSpPr txBox="1"/>
          <p:nvPr/>
        </p:nvSpPr>
        <p:spPr>
          <a:xfrm>
            <a:off x="526598" y="5283456"/>
            <a:ext cx="110405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在非理想 SRS/CSI 条件下，如何利用用户中心多 TRP 协同，改善边缘 UE 体验，并控制发射功率和求解开销。这三个困难分别对应</a:t>
            </a:r>
            <a:r>
              <a:rPr lang="zh-CN" altLang="zh-CN" b="1" dirty="0"/>
              <a:t>误差建模</a:t>
            </a:r>
            <a:r>
              <a:rPr lang="zh-CN" altLang="zh-CN" dirty="0"/>
              <a:t>、</a:t>
            </a:r>
            <a:r>
              <a:rPr lang="zh-CN" altLang="zh-CN" b="1" dirty="0"/>
              <a:t>协同预编码</a:t>
            </a:r>
            <a:r>
              <a:rPr lang="zh-CN" altLang="zh-CN" dirty="0"/>
              <a:t>和</a:t>
            </a:r>
            <a:r>
              <a:rPr lang="zh-CN" altLang="zh-CN" b="1" dirty="0"/>
              <a:t>跨资源功率约束</a:t>
            </a:r>
            <a:r>
              <a:rPr lang="zh-CN" altLang="zh-CN" dirty="0"/>
              <a:t>。最终用体验和功率检验通信效果，用残差与运行开销检验求解质量和可扩展性。</a:t>
            </a:r>
            <a:endParaRPr lang="zh-CN" altLang="en-US" dirty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网络拓扑与协同架构</a:t>
            </a:r>
          </a:p>
        </p:txBody>
      </p:sp>
      <p:pic>
        <p:nvPicPr>
          <p:cNvPr id="3" name="Picture 2" descr="topology_full.png"/>
          <p:cNvPicPr>
            <a:picLocks noChangeAspect="1"/>
          </p:cNvPicPr>
          <p:nvPr/>
        </p:nvPicPr>
        <p:blipFill>
          <a:blip r:embed="rId3"/>
          <a:srcRect l="21400"/>
          <a:stretch>
            <a:fillRect/>
          </a:stretch>
        </p:blipFill>
        <p:spPr>
          <a:xfrm>
            <a:off x="417308" y="1280160"/>
            <a:ext cx="6119515" cy="5144147"/>
          </a:xfrm>
          <a:prstGeom prst="rect">
            <a:avLst/>
          </a:prstGeom>
        </p:spPr>
      </p:pic>
      <p:pic>
        <p:nvPicPr>
          <p:cNvPr id="6" name="Picture 5" descr="topology_zoom.png"/>
          <p:cNvPicPr>
            <a:picLocks noChangeAspect="1"/>
          </p:cNvPicPr>
          <p:nvPr/>
        </p:nvPicPr>
        <p:blipFill>
          <a:blip r:embed="rId4"/>
          <a:srcRect l="21261"/>
          <a:stretch>
            <a:fillRect/>
          </a:stretch>
        </p:blipFill>
        <p:spPr>
          <a:xfrm>
            <a:off x="7461503" y="1687854"/>
            <a:ext cx="3624845" cy="31950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1261872"/>
            <a:ext cx="64008" cy="283464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87768" y="1161288"/>
            <a:ext cx="4343400" cy="484632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Microsoft YaHei"/>
              </a:rPr>
              <a:t>共址扇区 · 用户中心服务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3216" y="4895690"/>
            <a:ext cx="4224528" cy="532197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39" b="0" dirty="0">
                <a:solidFill>
                  <a:srgbClr val="000000"/>
                </a:solidFill>
                <a:latin typeface="Microsoft YaHei"/>
              </a:rPr>
              <a:t>① 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三个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 TRP 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共用一个站址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zh-CN" altLang="en-US" sz="1639" b="0" dirty="0">
                <a:solidFill>
                  <a:srgbClr val="000000"/>
                </a:solidFill>
                <a:latin typeface="Microsoft YaHei"/>
              </a:rPr>
              <a:t>一共七个站址，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箭头表示扇区主方向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3216" y="5407754"/>
            <a:ext cx="4224528" cy="532197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39" b="0" dirty="0">
                <a:solidFill>
                  <a:srgbClr val="000000"/>
                </a:solidFill>
                <a:latin typeface="Microsoft YaHei"/>
              </a:rPr>
              <a:t>② UE 由</a:t>
            </a:r>
            <a:r>
              <a:rPr lang="zh-CN" altLang="zh-CN" sz="1600" dirty="0"/>
              <a:t>归属 TRP + 距离最近的其他活动 TRP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服务；CPU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集中计算预编码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1504" y="5939951"/>
            <a:ext cx="4206240" cy="33832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40" b="1" dirty="0" err="1">
                <a:solidFill>
                  <a:srgbClr val="000000"/>
                </a:solidFill>
                <a:latin typeface="Microsoft YaHei"/>
              </a:rPr>
              <a:t>彩色小点＝实际</a:t>
            </a:r>
            <a:r>
              <a:rPr sz="1540" b="1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540" b="1" dirty="0" err="1">
                <a:solidFill>
                  <a:srgbClr val="000000"/>
                </a:solidFill>
                <a:latin typeface="Microsoft YaHei"/>
              </a:rPr>
              <a:t>UE；颜色＝初始归属站址</a:t>
            </a:r>
            <a:r>
              <a:rPr sz="1540" b="1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362097"/>
            <a:ext cx="3877985" cy="590931"/>
          </a:xfrm>
        </p:spPr>
        <p:txBody>
          <a:bodyPr wrap="none"/>
          <a:lstStyle/>
          <a:p>
            <a:r>
              <a:rPr lang="zh-CN" altLang="zh-CN" dirty="0"/>
              <a:t>代码调用与数据流</a:t>
            </a:r>
            <a:endParaRPr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12648" y="1847088"/>
            <a:ext cx="1993392" cy="402336"/>
          </a:xfrm>
          <a:prstGeom prst="roundRect">
            <a:avLst/>
          </a:prstGeom>
          <a:solidFill>
            <a:srgbClr val="092B56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869948"/>
            <a:ext cx="18470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① 场景/业务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13432"/>
            <a:ext cx="1755648" cy="98755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 dirty="0" err="1">
                <a:solidFill>
                  <a:srgbClr val="000000"/>
                </a:solidFill>
                <a:latin typeface="Microsoft YaHei"/>
              </a:rPr>
              <a:t>站址、扇区、UE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370" b="0" dirty="0" err="1">
                <a:solidFill>
                  <a:srgbClr val="000000"/>
                </a:solidFill>
                <a:latin typeface="Microsoft YaHei"/>
              </a:rPr>
              <a:t>位置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  <a:p>
            <a:pPr algn="l"/>
            <a:r>
              <a:rPr sz="1370" b="0" dirty="0" err="1">
                <a:solidFill>
                  <a:srgbClr val="000000"/>
                </a:solidFill>
                <a:latin typeface="Microsoft YaHei"/>
              </a:rPr>
              <a:t>生成服务集与业务到达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880360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880360" y="1847088"/>
            <a:ext cx="199339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53512" y="1869948"/>
            <a:ext cx="18470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② 真信道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2397448"/>
            <a:ext cx="1755648" cy="66941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400" dirty="0"/>
              <a:t>几何增益＋接收相关性＋复高斯</a:t>
            </a:r>
            <a:endParaRPr lang="en-US" altLang="zh-CN" sz="1400" dirty="0"/>
          </a:p>
          <a:p>
            <a:r>
              <a:rPr sz="1370" b="0" dirty="0" err="1">
                <a:solidFill>
                  <a:srgbClr val="000000"/>
                </a:solidFill>
                <a:latin typeface="Microsoft YaHei"/>
              </a:rPr>
              <a:t>Hᵗʳ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ᵘᵉ：4×64 / </a:t>
            </a:r>
            <a:r>
              <a:rPr sz="1370" b="0" dirty="0" err="1">
                <a:solidFill>
                  <a:srgbClr val="000000"/>
                </a:solidFill>
                <a:latin typeface="Microsoft YaHei"/>
              </a:rPr>
              <a:t>链路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148072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148072" y="1847088"/>
            <a:ext cx="1993392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52644" y="1921109"/>
            <a:ext cx="1847088" cy="2646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 dirty="0">
                <a:solidFill>
                  <a:srgbClr val="FFFFFF"/>
                </a:solidFill>
                <a:latin typeface="Microsoft YaHei"/>
              </a:rPr>
              <a:t>③ </a:t>
            </a:r>
            <a:r>
              <a:rPr lang="zh-CN" altLang="en-US" sz="1540" b="1" dirty="0">
                <a:solidFill>
                  <a:srgbClr val="FFFFFF"/>
                </a:solidFill>
                <a:latin typeface="Microsoft YaHei"/>
              </a:rPr>
              <a:t>模拟测量与</a:t>
            </a:r>
            <a:r>
              <a:rPr lang="en-US" altLang="zh-CN" sz="1540" b="1" dirty="0">
                <a:solidFill>
                  <a:srgbClr val="FFFFFF"/>
                </a:solidFill>
                <a:latin typeface="Microsoft YaHei"/>
              </a:rPr>
              <a:t>Ĥ</a:t>
            </a:r>
            <a:endParaRPr sz="154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266943" y="2364779"/>
            <a:ext cx="1892807" cy="88485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400" dirty="0"/>
              <a:t>由参考信号观测与先验统计得到信道估计及剩余误差统计</a:t>
            </a:r>
            <a:endParaRPr lang="en-US" altLang="zh-CN" sz="1400" dirty="0"/>
          </a:p>
          <a:p>
            <a:r>
              <a:rPr lang="en-US" altLang="zh-CN" sz="1370" dirty="0" err="1">
                <a:solidFill>
                  <a:srgbClr val="000000"/>
                </a:solidFill>
                <a:latin typeface="Microsoft YaHei"/>
              </a:rPr>
              <a:t>Hᵗʳ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ᵘᵉ 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→观测 →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(Ĥ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C)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415783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15783" y="1847088"/>
            <a:ext cx="1993392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88936" y="1911340"/>
            <a:ext cx="1847088" cy="2646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 dirty="0">
                <a:solidFill>
                  <a:srgbClr val="FFFFFF"/>
                </a:solidFill>
                <a:latin typeface="Microsoft YaHei"/>
              </a:rPr>
              <a:t>④</a:t>
            </a:r>
            <a:r>
              <a:rPr lang="zh-CN" altLang="en-US" sz="1540" b="1" dirty="0">
                <a:solidFill>
                  <a:srgbClr val="FFFFFF"/>
                </a:solidFill>
                <a:latin typeface="Microsoft YaHei"/>
              </a:rPr>
              <a:t>固定资源配置</a:t>
            </a:r>
            <a:endParaRPr sz="154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534655" y="2406226"/>
            <a:ext cx="1755648" cy="44935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给定调度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b、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关联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370" b="0" dirty="0" err="1">
                <a:solidFill>
                  <a:srgbClr val="000000"/>
                </a:solidFill>
                <a:latin typeface="Microsoft YaHei"/>
              </a:rPr>
              <a:t>χ、流数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370" b="0" dirty="0" err="1">
                <a:solidFill>
                  <a:srgbClr val="000000"/>
                </a:solidFill>
                <a:latin typeface="Microsoft YaHei"/>
              </a:rPr>
              <a:t>r及资源权重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 ν 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83497" y="1847088"/>
            <a:ext cx="2317160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683496" y="1847088"/>
            <a:ext cx="2317160" cy="402336"/>
          </a:xfrm>
          <a:prstGeom prst="roundRect">
            <a:avLst/>
          </a:prstGeom>
          <a:solidFill>
            <a:srgbClr val="B12A30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56648" y="1905132"/>
            <a:ext cx="2244008" cy="27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⑤ 优化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9435" y="2308422"/>
            <a:ext cx="2291221" cy="88485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400" dirty="0"/>
              <a:t>WMMSE 更新接收器与权重</a:t>
            </a:r>
            <a:endParaRPr lang="en-US" altLang="zh-CN" sz="1400" dirty="0"/>
          </a:p>
          <a:p>
            <a:r>
              <a:rPr lang="zh-CN" altLang="zh-CN" sz="1400" dirty="0"/>
              <a:t>ADMM 求解受功率约束的预编码子问题</a:t>
            </a:r>
            <a:endParaRPr lang="en-US" altLang="zh-CN" sz="1400" dirty="0"/>
          </a:p>
          <a:p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(Ĥ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C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b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l-GR" altLang="zh-CN" sz="1370" dirty="0">
                <a:solidFill>
                  <a:srgbClr val="000000"/>
                </a:solidFill>
                <a:latin typeface="Microsoft YaHei"/>
              </a:rPr>
              <a:t> χ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r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l-GR" altLang="zh-CN" sz="1370" dirty="0">
                <a:solidFill>
                  <a:srgbClr val="000000"/>
                </a:solidFill>
                <a:latin typeface="Microsoft YaHei"/>
              </a:rPr>
              <a:t> ν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)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→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w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2624328" y="2596896"/>
            <a:ext cx="219456" cy="0"/>
          </a:xfrm>
          <a:prstGeom prst="line">
            <a:avLst/>
          </a:prstGeom>
          <a:ln w="30480">
            <a:solidFill>
              <a:srgbClr val="092B5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92040" y="2596896"/>
            <a:ext cx="21945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59752" y="2596896"/>
            <a:ext cx="21945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27464" y="2596896"/>
            <a:ext cx="219456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953768" y="4489705"/>
            <a:ext cx="8284464" cy="996696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91512" y="4558928"/>
            <a:ext cx="7808975" cy="81253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700" b="1" dirty="0">
                <a:solidFill>
                  <a:srgbClr val="092B56"/>
                </a:solidFill>
                <a:latin typeface="Microsoft YaHei"/>
              </a:rPr>
              <a:t>⑥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用真实信道检验传输效果（</a:t>
            </a:r>
            <a:r>
              <a:rPr sz="1700" b="1" dirty="0" err="1">
                <a:solidFill>
                  <a:srgbClr val="092B56"/>
                </a:solidFill>
                <a:latin typeface="Microsoft YaHei"/>
              </a:rPr>
              <a:t>用同一预编码</a:t>
            </a:r>
            <a:r>
              <a:rPr sz="1700" b="1" dirty="0">
                <a:solidFill>
                  <a:srgbClr val="092B56"/>
                </a:solidFill>
                <a:latin typeface="Microsoft YaHei"/>
              </a:rPr>
              <a:t> w 在 </a:t>
            </a:r>
            <a:r>
              <a:rPr sz="1700" b="1" dirty="0" err="1">
                <a:solidFill>
                  <a:srgbClr val="092B56"/>
                </a:solidFill>
                <a:latin typeface="Microsoft YaHei"/>
              </a:rPr>
              <a:t>Hᵗʳ</a:t>
            </a:r>
            <a:r>
              <a:rPr sz="1700" b="1" dirty="0">
                <a:solidFill>
                  <a:srgbClr val="092B56"/>
                </a:solidFill>
                <a:latin typeface="Microsoft YaHei"/>
              </a:rPr>
              <a:t>ᵘᵉ </a:t>
            </a:r>
            <a:r>
              <a:rPr sz="1700" b="1" dirty="0" err="1">
                <a:solidFill>
                  <a:srgbClr val="092B56"/>
                </a:solidFill>
                <a:latin typeface="Microsoft YaHei"/>
              </a:rPr>
              <a:t>上重算下行速率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）</a:t>
            </a:r>
            <a:r>
              <a:rPr sz="1700" b="1" dirty="0">
                <a:solidFill>
                  <a:srgbClr val="092B56"/>
                </a:solidFill>
                <a:latin typeface="Microsoft YaHei"/>
              </a:rPr>
              <a:t> → 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结合</a:t>
            </a:r>
            <a:r>
              <a:rPr sz="1700" b="1" dirty="0" err="1">
                <a:solidFill>
                  <a:srgbClr val="092B56"/>
                </a:solidFill>
                <a:latin typeface="Microsoft YaHei"/>
              </a:rPr>
              <a:t>业务交付量、体验分位与功率</a:t>
            </a:r>
            <a:endParaRPr lang="en-US" sz="1700" b="1" dirty="0">
              <a:solidFill>
                <a:srgbClr val="092B56"/>
              </a:solidFill>
              <a:latin typeface="Microsoft YaHei"/>
            </a:endParaRPr>
          </a:p>
          <a:p>
            <a:pPr algn="ctr"/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（</a:t>
            </a:r>
            <a:r>
              <a:rPr lang="en-US" sz="1700" b="1" dirty="0" err="1">
                <a:solidFill>
                  <a:srgbClr val="092B56"/>
                </a:solidFill>
                <a:latin typeface="Microsoft YaHei"/>
              </a:rPr>
              <a:t>Hᵗʳ</a:t>
            </a:r>
            <a:r>
              <a:rPr lang="en-US" sz="1700" b="1" dirty="0">
                <a:solidFill>
                  <a:srgbClr val="092B56"/>
                </a:solidFill>
                <a:latin typeface="Microsoft YaHei"/>
              </a:rPr>
              <a:t>ᵘᵉ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，</a:t>
            </a:r>
            <a:r>
              <a:rPr lang="en-US" altLang="zh-CN" sz="1700" b="1" dirty="0">
                <a:solidFill>
                  <a:srgbClr val="092B56"/>
                </a:solidFill>
                <a:latin typeface="Microsoft YaHei"/>
              </a:rPr>
              <a:t>w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，业务信息）→速率、体验、功率</a:t>
            </a:r>
            <a:endParaRPr sz="17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F57DC20-A356-43F1-F4B5-E21EC339DC05}"/>
              </a:ext>
            </a:extLst>
          </p:cNvPr>
          <p:cNvSpPr txBox="1"/>
          <p:nvPr/>
        </p:nvSpPr>
        <p:spPr>
          <a:xfrm>
            <a:off x="2734056" y="3724015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600" dirty="0"/>
              <a:t>评价用信道</a:t>
            </a:r>
            <a:endParaRPr lang="zh-CN" altLang="en-US" sz="1600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7328763-02E4-60B9-29BA-B62F519CF672}"/>
              </a:ext>
            </a:extLst>
          </p:cNvPr>
          <p:cNvSpPr txBox="1"/>
          <p:nvPr/>
        </p:nvSpPr>
        <p:spPr>
          <a:xfrm>
            <a:off x="911424" y="6093296"/>
            <a:ext cx="10161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zh-CN" dirty="0"/>
              <a:t>仿真器利用真实信道生成观测并评价性能；非理想 CSI 分支依据估计信道与误差统计设计预编码。</a:t>
            </a:r>
            <a:endParaRPr lang="zh-CN" altLang="en-US" dirty="0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5242135E-CAF4-7E95-DE2E-C8E72515A3E1}"/>
              </a:ext>
            </a:extLst>
          </p:cNvPr>
          <p:cNvCxnSpPr>
            <a:stCxn id="8" idx="2"/>
          </p:cNvCxnSpPr>
          <p:nvPr/>
        </p:nvCxnSpPr>
        <p:spPr>
          <a:xfrm flipH="1">
            <a:off x="3863752" y="3337560"/>
            <a:ext cx="13304" cy="1152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连接符: 肘形 63">
            <a:extLst>
              <a:ext uri="{FF2B5EF4-FFF2-40B4-BE49-F238E27FC236}">
                <a16:creationId xmlns:a16="http://schemas.microsoft.com/office/drawing/2014/main" id="{0C50DA10-FFFF-34A7-257C-4D4EACE7E4DB}"/>
              </a:ext>
            </a:extLst>
          </p:cNvPr>
          <p:cNvCxnSpPr>
            <a:stCxn id="4" idx="2"/>
            <a:endCxn id="28" idx="1"/>
          </p:cNvCxnSpPr>
          <p:nvPr/>
        </p:nvCxnSpPr>
        <p:spPr>
          <a:xfrm rot="16200000" flipH="1">
            <a:off x="956310" y="3990594"/>
            <a:ext cx="1650493" cy="3444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CCF74FC1-8A23-51A4-A919-9BECEB246B05}"/>
              </a:ext>
            </a:extLst>
          </p:cNvPr>
          <p:cNvSpPr txBox="1"/>
          <p:nvPr/>
        </p:nvSpPr>
        <p:spPr>
          <a:xfrm>
            <a:off x="263353" y="3907878"/>
            <a:ext cx="119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600" dirty="0"/>
              <a:t>业务到达与活跃信息</a:t>
            </a:r>
            <a:endParaRPr lang="zh-CN" altLang="en-US" sz="160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362097"/>
            <a:ext cx="5262979" cy="590931"/>
          </a:xfrm>
        </p:spPr>
        <p:txBody>
          <a:bodyPr wrap="none"/>
          <a:lstStyle/>
          <a:p>
            <a:r>
              <a:rPr lang="zh-CN" altLang="en-US" b="1" dirty="0">
                <a:solidFill>
                  <a:srgbClr val="092B56"/>
                </a:solidFill>
                <a:latin typeface="Microsoft YaHei"/>
              </a:rPr>
              <a:t>参考信号观测与信道估计</a:t>
            </a:r>
            <a:endParaRPr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3218688" cy="4498848"/>
          </a:xfrm>
          <a:prstGeom prst="roundRect">
            <a:avLst/>
          </a:prstGeom>
          <a:solidFill>
            <a:srgbClr val="F7FAFC"/>
          </a:solidFill>
          <a:ln w="10160">
            <a:solidFill>
              <a:srgbClr val="E0E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94360" y="1298448"/>
            <a:ext cx="3218688" cy="457200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6656" y="1344168"/>
            <a:ext cx="305409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Microsoft YaHei"/>
              </a:rPr>
              <a:t>真实信道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56232"/>
            <a:ext cx="2962656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传播映射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95928" y="1298448"/>
            <a:ext cx="3429000" cy="4498848"/>
          </a:xfrm>
          <a:prstGeom prst="roundRect">
            <a:avLst/>
          </a:prstGeom>
          <a:solidFill>
            <a:srgbClr val="F7FAFC"/>
          </a:solidFill>
          <a:ln w="10160">
            <a:solidFill>
              <a:srgbClr val="E0E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995928" y="1298448"/>
            <a:ext cx="3429000" cy="457200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78224" y="1344168"/>
            <a:ext cx="326440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参考信号观测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3944" y="1856232"/>
            <a:ext cx="3172968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物理方向与测量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98664" y="1298448"/>
            <a:ext cx="4041648" cy="4498848"/>
          </a:xfrm>
          <a:prstGeom prst="roundRect">
            <a:avLst/>
          </a:prstGeom>
          <a:solidFill>
            <a:srgbClr val="F7FAFC"/>
          </a:solidFill>
          <a:ln w="10160">
            <a:solidFill>
              <a:srgbClr val="E0E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8664" y="1298448"/>
            <a:ext cx="4041648" cy="457200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770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后验输出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856232"/>
            <a:ext cx="3785615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估计与不确定性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" y="2322576"/>
            <a:ext cx="2724912" cy="10515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3816" y="2322576"/>
            <a:ext cx="272491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6968" y="2385289"/>
            <a:ext cx="2578608" cy="26776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 dirty="0">
                <a:solidFill>
                  <a:srgbClr val="FFFFFF"/>
                </a:solidFill>
                <a:latin typeface="Microsoft YaHei"/>
              </a:rPr>
              <a:t>① 真信道</a:t>
            </a:r>
            <a:endParaRPr sz="156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32688" y="2761488"/>
            <a:ext cx="2487168" cy="5212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Hᵗʳᵘᵉₖₗg ∈ ℂ⁴×⁶⁴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57015" y="2724912"/>
            <a:ext cx="61264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87952" y="2322576"/>
            <a:ext cx="2980944" cy="10515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187952" y="2322576"/>
            <a:ext cx="298094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345436"/>
            <a:ext cx="2834639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② 参考信号观测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6824" y="2761488"/>
            <a:ext cx="2743200" cy="5212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icrosoft YaHei"/>
              </a:rPr>
              <a:t>UE 发 SRS → TRP 接收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Microsoft YaHei"/>
              </a:rPr>
              <a:t>TRP 发 CSI-RS → UE 观测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96328" y="2724912"/>
            <a:ext cx="576072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836408" y="2322576"/>
            <a:ext cx="3520440" cy="10515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836408" y="2322576"/>
            <a:ext cx="352044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09560" y="2345436"/>
            <a:ext cx="337413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③ 后验估计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2761488"/>
            <a:ext cx="3282696" cy="5212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Ĥₖₗg ∈ ℂ⁴×⁶⁴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Cₖₗg ∈ ℂ⁴×⁴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36408" y="3483864"/>
            <a:ext cx="3520440" cy="83210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836408" y="3483864"/>
            <a:ext cx="352044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09560" y="3506724"/>
            <a:ext cx="337413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SRS 等效观测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950208"/>
            <a:ext cx="3282696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Yₛ = S Hᵗʳᵘᵉ + Nₛ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87952" y="3483864"/>
            <a:ext cx="2980944" cy="83210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4187952" y="3483864"/>
            <a:ext cx="298094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61104" y="3506724"/>
            <a:ext cx="2834639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CSI-RS 等效观测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6824" y="3950208"/>
            <a:ext cx="2743200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Y꜀ = Hᵗʳᵘᵉ + N꜀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3816" y="3483864"/>
            <a:ext cx="2724912" cy="83210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13816" y="3483864"/>
            <a:ext cx="272491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6968" y="3506724"/>
            <a:ext cx="257860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当前等效观测模型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" y="3950208"/>
            <a:ext cx="2487168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先验：P₀ = βRᵣₓ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8096" y="4700016"/>
            <a:ext cx="10497312" cy="713232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832" y="4764024"/>
            <a:ext cx="10168128" cy="56692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1">
                <a:solidFill>
                  <a:srgbClr val="000000"/>
                </a:solidFill>
                <a:latin typeface="Microsoft YaHei"/>
              </a:rPr>
              <a:t>信道估计描述传播映射，误差协方差描述估计的不确定性。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资源变量与方法分工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12648" y="1453895"/>
            <a:ext cx="5212080" cy="3986784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600200"/>
            <a:ext cx="4718304" cy="41148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900" b="1">
                <a:solidFill>
                  <a:srgbClr val="092B56"/>
                </a:solidFill>
                <a:latin typeface="Microsoft YaHei"/>
              </a:rPr>
              <a:t>历史慢层搜索：独立评价链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85415"/>
            <a:ext cx="4645152" cy="108813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10" b="0">
                <a:solidFill>
                  <a:srgbClr val="000000"/>
                </a:solidFill>
                <a:latin typeface="Microsoft YaHei"/>
              </a:rPr>
              <a:t>候选编码：PF 指数、连接数、调度阈值、rank 门限及修复参数等；不是正式场景的直接联合决策变量。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401568"/>
            <a:ext cx="4599432" cy="11338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10" b="0" dirty="0">
                <a:solidFill>
                  <a:srgbClr val="000000"/>
                </a:solidFill>
                <a:latin typeface="Microsoft YaHei"/>
              </a:rPr>
              <a:t>GA </a:t>
            </a:r>
            <a:r>
              <a:rPr sz="1610" b="0" dirty="0" err="1">
                <a:solidFill>
                  <a:srgbClr val="000000"/>
                </a:solidFill>
                <a:latin typeface="Microsoft YaHei"/>
              </a:rPr>
              <a:t>用选择、交叉、变异产生候选；PSO</a:t>
            </a:r>
            <a:r>
              <a:rPr sz="161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610" b="0" dirty="0" err="1">
                <a:solidFill>
                  <a:srgbClr val="000000"/>
                </a:solidFill>
                <a:latin typeface="Microsoft YaHei"/>
              </a:rPr>
              <a:t>用位置和速度更新候选；历史评价器计算目标并筛选</a:t>
            </a:r>
            <a:r>
              <a:rPr sz="1610" b="0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2512" y="1453895"/>
            <a:ext cx="5175504" cy="398678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01968" y="1600200"/>
            <a:ext cx="4718304" cy="41148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900" b="1">
                <a:solidFill>
                  <a:srgbClr val="092B56"/>
                </a:solidFill>
                <a:latin typeface="Microsoft YaHei"/>
              </a:rPr>
              <a:t>当前正式快层：集中式求解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425186"/>
            <a:ext cx="4949952" cy="52629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20" b="0" dirty="0" err="1">
                <a:solidFill>
                  <a:srgbClr val="000000"/>
                </a:solidFill>
                <a:latin typeface="Microsoft YaHei"/>
              </a:rPr>
              <a:t>规则固定</a:t>
            </a:r>
            <a:r>
              <a:rPr sz="1620" b="0" dirty="0">
                <a:solidFill>
                  <a:srgbClr val="000000"/>
                </a:solidFill>
                <a:latin typeface="Microsoft YaHei"/>
              </a:rPr>
              <a:t>：</a:t>
            </a:r>
            <a:r>
              <a:rPr lang="zh-CN" altLang="en-US" sz="1620" b="0" dirty="0">
                <a:solidFill>
                  <a:srgbClr val="000000"/>
                </a:solidFill>
                <a:latin typeface="Microsoft YaHei"/>
              </a:rPr>
              <a:t>调度</a:t>
            </a:r>
            <a:r>
              <a:rPr sz="1620" b="0" dirty="0">
                <a:solidFill>
                  <a:srgbClr val="000000"/>
                </a:solidFill>
                <a:latin typeface="Microsoft YaHei"/>
              </a:rPr>
              <a:t> b、</a:t>
            </a:r>
            <a:r>
              <a:rPr lang="zh-CN" altLang="en-US" sz="1620" dirty="0">
                <a:solidFill>
                  <a:srgbClr val="000000"/>
                </a:solidFill>
                <a:latin typeface="Microsoft YaHei"/>
              </a:rPr>
              <a:t>关联</a:t>
            </a:r>
            <a:r>
              <a:rPr sz="162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620" b="0" dirty="0" err="1">
                <a:solidFill>
                  <a:srgbClr val="000000"/>
                </a:solidFill>
                <a:latin typeface="Microsoft YaHei"/>
              </a:rPr>
              <a:t>χ、流数</a:t>
            </a:r>
            <a:r>
              <a:rPr sz="162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620" b="0" dirty="0" err="1">
                <a:solidFill>
                  <a:srgbClr val="000000"/>
                </a:solidFill>
                <a:latin typeface="Microsoft YaHei"/>
              </a:rPr>
              <a:t>r、资源权重</a:t>
            </a:r>
            <a:r>
              <a:rPr sz="162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620" b="0" dirty="0" err="1">
                <a:solidFill>
                  <a:srgbClr val="000000"/>
                </a:solidFill>
                <a:latin typeface="Microsoft YaHei"/>
              </a:rPr>
              <a:t>ν；输入</a:t>
            </a:r>
            <a:r>
              <a:rPr sz="1620" b="0" dirty="0">
                <a:solidFill>
                  <a:srgbClr val="000000"/>
                </a:solidFill>
                <a:latin typeface="Microsoft YaHei"/>
              </a:rPr>
              <a:t> Ĥ 与 C。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328415"/>
            <a:ext cx="4617720" cy="10789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20" b="0">
                <a:solidFill>
                  <a:srgbClr val="000000"/>
                </a:solidFill>
                <a:latin typeface="Microsoft YaHei"/>
              </a:rPr>
              <a:t>优化：含发射幅度的预编码 w；跨资源组共享每 TRP 功率预算 Pₗ。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24728" y="3346704"/>
            <a:ext cx="502920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983480" y="3557015"/>
            <a:ext cx="2020824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20" b="1">
                <a:solidFill>
                  <a:srgbClr val="DF7B27"/>
                </a:solidFill>
                <a:latin typeface="Microsoft YaHei"/>
              </a:rPr>
              <a:t>拟研究接口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5632703"/>
            <a:ext cx="10762488" cy="539496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678424"/>
            <a:ext cx="10469880" cy="42062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80" b="1">
                <a:solidFill>
                  <a:srgbClr val="000000"/>
                </a:solidFill>
                <a:latin typeface="Microsoft YaHei"/>
              </a:rPr>
              <a:t>拟研究慢层候选编码与统一评价接口，再由快层求解；用边缘体验、功率和计算量检验。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下行通信与评价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9224" y="1408176"/>
            <a:ext cx="1847088" cy="1078992"/>
          </a:xfrm>
          <a:prstGeom prst="roundRect">
            <a:avLst/>
          </a:prstGeom>
          <a:solidFill>
            <a:srgbClr val="092B56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1554480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发射与传播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" y="2834640"/>
            <a:ext cx="1847088" cy="1078992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980944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UE 接收与速率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4261104"/>
            <a:ext cx="1847088" cy="1078992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4407408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业务与评价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0632" y="143560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70632" y="1435608"/>
            <a:ext cx="242316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43784" y="1499090"/>
            <a:ext cx="2276856" cy="266227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en-US" sz="1550" b="1" dirty="0" err="1">
                <a:solidFill>
                  <a:srgbClr val="FFFFFF"/>
                </a:solidFill>
                <a:latin typeface="Microsoft YaHei"/>
              </a:rPr>
              <a:t>w</a:t>
            </a:r>
            <a:r>
              <a:rPr lang="en-US" altLang="zh-CN" sz="1550" b="1" dirty="0" err="1">
                <a:solidFill>
                  <a:srgbClr val="FFFFFF"/>
                </a:solidFill>
                <a:latin typeface="Microsoft YaHei"/>
              </a:rPr>
              <a:t>l</a:t>
            </a:r>
            <a:r>
              <a:rPr sz="1550" b="1" dirty="0" err="1">
                <a:solidFill>
                  <a:srgbClr val="FFFFFF"/>
                </a:solidFill>
                <a:latin typeface="Microsoft YaHei"/>
              </a:rPr>
              <a:t>kg：预编码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89504" y="190195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TRP l 发送 UE k 的 r 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13832" y="143560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513832" y="1435608"/>
            <a:ext cx="242316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86984" y="145846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Hᵗʳᵘᵉ：真实信道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2704" y="190195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各服务 TRP 在 UE 相干叠加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435608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75320" y="1435608"/>
            <a:ext cx="3026664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8472" y="1458468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yₖg：接收信号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901952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有用信号 + 同资源干扰 + 噪声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202936" y="1938528"/>
            <a:ext cx="27432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946136" y="1938528"/>
            <a:ext cx="29260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770632" y="285292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770632" y="2852928"/>
            <a:ext cx="2423160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43784" y="287578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每 TTI 可传比特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9504" y="331927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RB 带宽 × SE × 有效时长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13832" y="285292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13832" y="2852928"/>
            <a:ext cx="2423160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86984" y="287578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速率 / 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2704" y="331927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真实信道下 log-det 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2852928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275320" y="2852928"/>
            <a:ext cx="302666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48472" y="2875788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组成分析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3319272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分出有用信号、干扰与噪声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84080" y="2478024"/>
            <a:ext cx="0" cy="32004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973568" y="3355848"/>
            <a:ext cx="26517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230368" y="3355848"/>
            <a:ext cx="246888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2770632" y="4279392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770632" y="4279392"/>
            <a:ext cx="242316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843784" y="4302252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业务交付量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9504" y="4745736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受流量到达和队列限制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13832" y="4279392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513832" y="4279392"/>
            <a:ext cx="242316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586984" y="4302252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用户体验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2704" y="4745736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有效时窗内交付量 / 时间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75320" y="4279392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275320" y="4279392"/>
            <a:ext cx="3026664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348472" y="4302252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最终报告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4745736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体验分位、功率、停止状态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77639" y="3895344"/>
            <a:ext cx="0" cy="347472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202936" y="4782312"/>
            <a:ext cx="274320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946136" y="4782312"/>
            <a:ext cx="29260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58952" y="5641848"/>
            <a:ext cx="10607040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39" b="1">
                <a:solidFill>
                  <a:srgbClr val="092B56"/>
                </a:solidFill>
                <a:latin typeface="Microsoft YaHei"/>
              </a:rPr>
              <a:t>同一个 w 用于仿真真实信道评价；非理想优化分支的求解输入仍是 Ĥ、C。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WMMSE–ADMM 嵌套求解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12648" y="1307592"/>
            <a:ext cx="10972800" cy="1847088"/>
          </a:xfrm>
          <a:prstGeom prst="roundRect">
            <a:avLst/>
          </a:prstGeom>
          <a:solidFill>
            <a:srgbClr val="EDF4FB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7824" y="1444752"/>
            <a:ext cx="5559552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WMMSE 外轮：更新接收与权重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1984248"/>
            <a:ext cx="2240280" cy="93268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86384" y="1984248"/>
            <a:ext cx="224028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2007108"/>
            <a:ext cx="209397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可行 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450592"/>
            <a:ext cx="2002536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初始化 / 上轮输出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984248"/>
            <a:ext cx="2240280" cy="93268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19272" y="1984248"/>
            <a:ext cx="224028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92424" y="2007108"/>
            <a:ext cx="209397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F 与 Rʸʸ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144" y="2450592"/>
            <a:ext cx="2002536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Ĥw；误差项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59" y="1984248"/>
            <a:ext cx="2240280" cy="93268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852159" y="1984248"/>
            <a:ext cx="224028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25312" y="2007108"/>
            <a:ext cx="209397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A、E、Ω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71031" y="2450592"/>
            <a:ext cx="2002536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MMSE 接收；逆 MSE 加权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5048" y="1984248"/>
            <a:ext cx="2240280" cy="93268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85048" y="1984248"/>
            <a:ext cx="224028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58200" y="2007108"/>
            <a:ext cx="209397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二次子问题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450592"/>
            <a:ext cx="2002536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固定 A、Ω、η，求 w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54096" y="2450592"/>
            <a:ext cx="22860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586984" y="2450592"/>
            <a:ext cx="228599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119872" y="2450592"/>
            <a:ext cx="22860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12648" y="3557016"/>
            <a:ext cx="10972800" cy="1819656"/>
          </a:xfrm>
          <a:prstGeom prst="roundRect">
            <a:avLst/>
          </a:prstGeom>
          <a:solidFill>
            <a:srgbClr val="FFF5E9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5528" y="3621024"/>
            <a:ext cx="3337560" cy="35661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ADMM 内轮：固定 A、Ω、η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" y="4133087"/>
            <a:ext cx="2276856" cy="92354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13816" y="4133087"/>
            <a:ext cx="2276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6968" y="4155948"/>
            <a:ext cx="2130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FFFFFF"/>
                </a:solidFill>
                <a:latin typeface="Microsoft YaHei"/>
              </a:rPr>
              <a:t>x：原变量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599431"/>
            <a:ext cx="2039112" cy="420623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80" b="0">
                <a:solidFill>
                  <a:srgbClr val="000000"/>
                </a:solidFill>
                <a:latin typeface="Microsoft YaHei"/>
              </a:rPr>
              <a:t>CG 解线性系统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3008" y="4133087"/>
            <a:ext cx="2276856" cy="92354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93008" y="4133087"/>
            <a:ext cx="2276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566160" y="4155948"/>
            <a:ext cx="2130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FFFFFF"/>
                </a:solidFill>
                <a:latin typeface="Microsoft YaHei"/>
              </a:rPr>
              <a:t>z：可行副本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4599431"/>
            <a:ext cx="2039112" cy="420623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80" b="0">
                <a:solidFill>
                  <a:srgbClr val="000000"/>
                </a:solidFill>
                <a:latin typeface="Microsoft YaHei"/>
              </a:rPr>
              <a:t>跨组功率投影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133087"/>
            <a:ext cx="2276856" cy="92354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72200" y="4133087"/>
            <a:ext cx="2276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45352" y="4155948"/>
            <a:ext cx="2130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FFFFFF"/>
                </a:solidFill>
                <a:latin typeface="Microsoft YaHei"/>
              </a:rPr>
              <a:t>y：缩放对偶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4599431"/>
            <a:ext cx="2039112" cy="420623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80" b="0">
                <a:solidFill>
                  <a:srgbClr val="000000"/>
                </a:solidFill>
                <a:latin typeface="Microsoft YaHei"/>
              </a:rPr>
              <a:t>y ← y+x−z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51392" y="4133087"/>
            <a:ext cx="2276856" cy="92354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8851392" y="4133087"/>
            <a:ext cx="2276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24544" y="4155948"/>
            <a:ext cx="2130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FFFFFF"/>
                </a:solidFill>
                <a:latin typeface="Microsoft YaHei"/>
              </a:rPr>
              <a:t>残差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0264" y="4599431"/>
            <a:ext cx="2039112" cy="420623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80" b="0">
                <a:solidFill>
                  <a:srgbClr val="000000"/>
                </a:solidFill>
                <a:latin typeface="Microsoft YaHei"/>
              </a:rPr>
              <a:t>原始 / 对偶 / CG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118104" y="4590288"/>
            <a:ext cx="33832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797296" y="4590288"/>
            <a:ext cx="33832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476488" y="4590288"/>
            <a:ext cx="33832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994392" y="5093208"/>
            <a:ext cx="0" cy="246888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911095" y="5340096"/>
            <a:ext cx="8083297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11095" y="5093208"/>
            <a:ext cx="0" cy="246888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690872" y="5102352"/>
            <a:ext cx="2834640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50" b="1">
                <a:solidFill>
                  <a:srgbClr val="DF7B27"/>
                </a:solidFill>
                <a:latin typeface="Microsoft YaHei"/>
              </a:rPr>
              <a:t>内层未停止 → 再更新 x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4088" y="5724144"/>
            <a:ext cx="10753344" cy="566928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96112" y="5788152"/>
            <a:ext cx="10341864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60" b="1">
                <a:solidFill>
                  <a:srgbClr val="000000"/>
                </a:solidFill>
                <a:latin typeface="Microsoft YaHei"/>
              </a:rPr>
              <a:t>返回可行 z → 重算外层目标 → 接受 / 回溯 / 停止；未停止则返回 F、Rʸʸ。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625328" y="2944368"/>
            <a:ext cx="0" cy="557784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637776" y="5385816"/>
            <a:ext cx="0" cy="292608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576072" y="5916168"/>
            <a:ext cx="192024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76072" y="2505456"/>
            <a:ext cx="0" cy="3410712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76072" y="2505456"/>
            <a:ext cx="17373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ADMM 功率约束与停止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444751"/>
            <a:ext cx="10698480" cy="43891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20" b="1">
                <a:solidFill>
                  <a:srgbClr val="092B56"/>
                </a:solidFill>
                <a:latin typeface="Microsoft YaHei"/>
              </a:rPr>
              <a:t>内轮将二次预编码问题拆为原变量 x 与功率可行副本 z，y 记录一致性误差。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" y="2167128"/>
            <a:ext cx="3419856" cy="12344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76656" y="2167128"/>
            <a:ext cx="3419856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189988"/>
            <a:ext cx="3273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80" b="1">
                <a:solidFill>
                  <a:srgbClr val="FFFFFF"/>
                </a:solidFill>
                <a:latin typeface="Microsoft YaHei"/>
              </a:rPr>
              <a:t>① CG 更新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633472"/>
            <a:ext cx="3182112" cy="7315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按 νg Qg 与 ρ/2 构成线性系统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167128"/>
            <a:ext cx="3419856" cy="12344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70832" y="2167128"/>
            <a:ext cx="3419856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43984" y="2189988"/>
            <a:ext cx="3273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80" b="1">
                <a:solidFill>
                  <a:srgbClr val="FFFFFF"/>
                </a:solidFill>
                <a:latin typeface="Microsoft YaHei"/>
              </a:rPr>
              <a:t>② 联合投影 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2633472"/>
            <a:ext cx="3182112" cy="7315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Σg νg Σj ‖wₗjg‖² ≤ Pₗ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2167128"/>
            <a:ext cx="3419856" cy="12344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65008" y="2167128"/>
            <a:ext cx="3419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2189988"/>
            <a:ext cx="3273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80" b="1">
                <a:solidFill>
                  <a:srgbClr val="FFFFFF"/>
                </a:solidFill>
                <a:latin typeface="Microsoft YaHei"/>
              </a:rPr>
              <a:t>③ 对偶与残差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33472"/>
            <a:ext cx="3182112" cy="7315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y←y+x−z；检查残差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23944" y="2779776"/>
            <a:ext cx="20116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18120" y="2779776"/>
            <a:ext cx="201168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04088" y="3849624"/>
            <a:ext cx="10753344" cy="1069848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" y="3931920"/>
            <a:ext cx="10332720" cy="8869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20" b="1">
                <a:solidFill>
                  <a:srgbClr val="000000"/>
                </a:solidFill>
                <a:latin typeface="Microsoft YaHei"/>
              </a:rPr>
              <a:t>为什么跨组投影？一个 TRP 在所有资源组共用同一预算 Pₗ；逐组独立限制会改变原问题。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" y="5276088"/>
            <a:ext cx="10753344" cy="585216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" y="5321808"/>
            <a:ext cx="10332720" cy="46634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Microsoft YaHei"/>
              </a:rPr>
              <a:t>功率可行 ≠ 数值对拍通过 ≠ ADMM 收敛 ≠ WMMSE 外层停止。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现有统计误差机制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7512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67512" y="1783080"/>
            <a:ext cx="245059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0664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测量质量与年龄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50" b="0">
                <a:solidFill>
                  <a:srgbClr val="000000"/>
                </a:solidFill>
                <a:latin typeface="Microsoft YaHei"/>
              </a:rPr>
              <a:t>SINR、CSI 年龄、SRS 行选择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8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47288" y="1783080"/>
            <a:ext cx="2450592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20440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条件协方差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50" b="0">
                <a:solidFill>
                  <a:srgbClr val="000000"/>
                </a:solidFill>
                <a:latin typeface="Microsoft YaHei"/>
              </a:rPr>
              <a:t>每链路、资源组的 4×4 统计误差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27064" y="1783080"/>
            <a:ext cx="2450592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0216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接收统计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50" b="0">
                <a:solidFill>
                  <a:srgbClr val="000000"/>
                </a:solidFill>
                <a:latin typeface="Microsoft YaHei"/>
              </a:rPr>
              <a:t>Rʸʸ 增加 Σₗ pₗg Cₖₗg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006840" y="1783080"/>
            <a:ext cx="2450592" cy="402336"/>
          </a:xfrm>
          <a:prstGeom prst="roundRect">
            <a:avLst/>
          </a:prstGeom>
          <a:solidFill>
            <a:srgbClr val="B12A30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79992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预编码与评价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t>二次算子 𝒬(C) → w → 真信道体验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45536" y="2478024"/>
            <a:ext cx="26517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25312" y="2478024"/>
            <a:ext cx="26517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05088" y="2478024"/>
            <a:ext cx="265176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94944" y="3630168"/>
            <a:ext cx="5129784" cy="119786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6968" y="3721608"/>
            <a:ext cx="4727448" cy="9875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20" b="0">
                <a:solidFill>
                  <a:srgbClr val="000000"/>
                </a:solidFill>
                <a:latin typeface="Microsoft YaHei"/>
              </a:rPr>
              <a:t>当前统计模型：先验、CSI-RS 与 SRS 观测的精度相加；未测 SRS 的组只用其余观测。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0216" y="3630168"/>
            <a:ext cx="5157216" cy="1197864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10528" y="3721608"/>
            <a:ext cx="4718304" cy="9875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t>拟研究：用条件协方差 C 校准链路尺度与方向性椭球，再构造最坏情形内层。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21808"/>
            <a:ext cx="10515600" cy="4754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t>拟按名义、统一和非均匀误差做同条件对照，分析边缘体验、空口功率与求解残差。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核心变量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3312"/>
            <a:ext cx="1645920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1362456"/>
            <a:ext cx="1554480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2304288" y="1353312"/>
            <a:ext cx="4718304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350008" y="1362456"/>
            <a:ext cx="4626864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标准符号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7022592" y="1353312"/>
            <a:ext cx="2980944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68312" y="1362456"/>
            <a:ext cx="2889503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中文含义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3536" y="1353312"/>
            <a:ext cx="1490472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49256" y="1362456"/>
            <a:ext cx="1399032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维度 / 单位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865376"/>
            <a:ext cx="10835640" cy="630936"/>
          </a:xfrm>
          <a:prstGeom prst="rect">
            <a:avLst/>
          </a:prstGeom>
          <a:solidFill>
            <a:srgbClr val="E0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" y="19019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索引与规模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8296" y="19019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l, k, j, g; Nₜ, Nᵣ, 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9019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TRP、UE、资源组；端口、接收天线、流数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67544" y="19019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索引；64、4、≤2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25237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58368" y="2551176"/>
            <a:ext cx="10835640" cy="630936"/>
          </a:xfrm>
          <a:prstGeom prst="rect">
            <a:avLst/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2376" y="25877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信道与测量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8296" y="25877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Hᵗʳᵘᵉ, Ĥ,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5877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真信道、估计信道、条件误差协方差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67544" y="25877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4×64；4×64；4×4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32095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58368" y="3236976"/>
            <a:ext cx="10835640" cy="630936"/>
          </a:xfrm>
          <a:prstGeom prst="rect">
            <a:avLst/>
          </a:prstGeom>
          <a:solidFill>
            <a:srgbClr val="E0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2376" y="32735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资源变量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8296" y="32735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b, χ, ν; w, p, Pₗ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2735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调度、服务、RB 权重；预编码、功率、预算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67544" y="32735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0/1；64×r；W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38953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58368" y="3922776"/>
            <a:ext cx="10835640" cy="630936"/>
          </a:xfrm>
          <a:prstGeom prst="rect">
            <a:avLst/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22376" y="39593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WMMSE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8296" y="39593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F, Rʸʸ, A, E, Ω, 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39593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有效信道、接收协方差、接收器、MSE、权重、效用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67544" y="39593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4×r；4×4；r×r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8368" y="45811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8368" y="4608576"/>
            <a:ext cx="10835640" cy="630936"/>
          </a:xfrm>
          <a:prstGeom prst="rect">
            <a:avLst/>
          </a:prstGeom>
          <a:solidFill>
            <a:srgbClr val="E0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2376" y="46451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ADMM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68296" y="46451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x, z, y, 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6600" y="46451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原变量、可行副本、缩放对偶、罚参数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67544" y="46451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同 w；标量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58368" y="52669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58368" y="5294376"/>
            <a:ext cx="10835640" cy="630936"/>
          </a:xfrm>
          <a:prstGeom prst="rect">
            <a:avLst/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2376" y="53309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评价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68296" y="53309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Rˢᴱ, Rᵉˣᵖ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53309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频谱效率、按协议统计的体验率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67544" y="53309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bit/s/Hz；协议口径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438271"/>
            <a:ext cx="8520281" cy="438582"/>
          </a:xfrm>
        </p:spPr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新版方案：测量可靠性驱动协同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98448"/>
            <a:ext cx="1092708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10" b="1">
                <a:solidFill>
                  <a:srgbClr val="092B56"/>
                </a:solidFill>
                <a:latin typeface="Microsoft YaHei"/>
              </a:rPr>
              <a:t>SRS 测量误差 → CSI 偏差 → 协同波束与干扰预测失准 → 边缘体验风险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20"/>
            <a:ext cx="5230368" cy="122529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9741"/>
            <a:ext cx="4828032" cy="30162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80" b="1" dirty="0" err="1">
                <a:solidFill>
                  <a:srgbClr val="092B56"/>
                </a:solidFill>
                <a:latin typeface="Microsoft YaHei"/>
              </a:rPr>
              <a:t>第一层：不同</a:t>
            </a:r>
            <a:r>
              <a:rPr sz="1780" b="1" dirty="0">
                <a:solidFill>
                  <a:srgbClr val="092B56"/>
                </a:solidFill>
                <a:latin typeface="Microsoft YaHei"/>
              </a:rPr>
              <a:t> UE–TRP </a:t>
            </a:r>
            <a:r>
              <a:rPr sz="1780" b="1" dirty="0" err="1">
                <a:solidFill>
                  <a:srgbClr val="092B56"/>
                </a:solidFill>
                <a:latin typeface="Microsoft YaHei"/>
              </a:rPr>
              <a:t>链路的</a:t>
            </a:r>
            <a:r>
              <a:rPr lang="zh-CN" altLang="en-US" sz="1780" b="1" dirty="0">
                <a:solidFill>
                  <a:srgbClr val="092B56"/>
                </a:solidFill>
                <a:latin typeface="Microsoft YaHei"/>
              </a:rPr>
              <a:t>误差大小不同</a:t>
            </a:r>
            <a:endParaRPr sz="178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2546803"/>
            <a:ext cx="4773168" cy="27392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dirty="0"/>
              <a:t>测量质量、观测年龄等不同，剩余不确定性不同。</a:t>
            </a:r>
            <a:endParaRPr sz="154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300216" y="1874520"/>
            <a:ext cx="5239512" cy="122529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73952" y="1979741"/>
            <a:ext cx="4828032" cy="30162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80" b="1" dirty="0" err="1">
                <a:solidFill>
                  <a:srgbClr val="092B56"/>
                </a:solidFill>
                <a:latin typeface="Microsoft YaHei"/>
              </a:rPr>
              <a:t>第二层</a:t>
            </a:r>
            <a:r>
              <a:rPr sz="1780" b="1" dirty="0">
                <a:solidFill>
                  <a:srgbClr val="092B56"/>
                </a:solidFill>
                <a:latin typeface="Microsoft YaHei"/>
              </a:rPr>
              <a:t>：</a:t>
            </a:r>
            <a:r>
              <a:rPr lang="zh-CN" altLang="en-US" sz="1780" b="1" dirty="0">
                <a:solidFill>
                  <a:srgbClr val="092B56"/>
                </a:solidFill>
                <a:latin typeface="Microsoft YaHei"/>
              </a:rPr>
              <a:t>同一条链路内部，不同方向的误差不同</a:t>
            </a:r>
            <a:endParaRPr sz="178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73952" y="2377440"/>
            <a:ext cx="4818888" cy="6217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40" b="0" dirty="0">
                <a:solidFill>
                  <a:srgbClr val="000000"/>
                </a:solidFill>
                <a:latin typeface="Microsoft YaHei"/>
              </a:rPr>
              <a:t>Q </a:t>
            </a:r>
            <a:r>
              <a:rPr sz="1540" b="0" dirty="0" err="1">
                <a:solidFill>
                  <a:srgbClr val="000000"/>
                </a:solidFill>
                <a:latin typeface="Microsoft YaHei"/>
              </a:rPr>
              <a:t>的特征值描述各方向误差；对角形式只在选定坐标基中成立</a:t>
            </a:r>
            <a:r>
              <a:rPr sz="1540" b="0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43016" y="2496312"/>
            <a:ext cx="420624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3504" y="3374136"/>
            <a:ext cx="10927080" cy="144475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6" y="3467225"/>
            <a:ext cx="3886200" cy="28931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00" b="1" dirty="0" err="1">
                <a:solidFill>
                  <a:srgbClr val="092B56"/>
                </a:solidFill>
                <a:latin typeface="Microsoft YaHei"/>
              </a:rPr>
              <a:t>单接收向量椭球</a:t>
            </a:r>
            <a:endParaRPr sz="1700" b="1" dirty="0">
              <a:solidFill>
                <a:srgbClr val="092B56"/>
              </a:solidFill>
              <a:latin typeface="Microsoft YaHei"/>
            </a:endParaRPr>
          </a:p>
        </p:txBody>
      </p:sp>
      <p:pic>
        <p:nvPicPr>
          <p:cNvPr id="13" name="Picture 12" descr="original_ellipso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725" y="3758184"/>
            <a:ext cx="2633988" cy="4846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4352544"/>
            <a:ext cx="10314432" cy="35661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0" dirty="0" err="1">
                <a:solidFill>
                  <a:srgbClr val="000000"/>
                </a:solidFill>
                <a:latin typeface="Microsoft YaHei"/>
              </a:rPr>
              <a:t>Δh∈ℂ</a:t>
            </a:r>
            <a:r>
              <a:rPr sz="1550" b="0" dirty="0">
                <a:solidFill>
                  <a:srgbClr val="000000"/>
                </a:solidFill>
                <a:latin typeface="Microsoft YaHei"/>
              </a:rPr>
              <a:t>⁶⁴；Q∈ℂ⁶⁴×⁶⁴。若 Q </a:t>
            </a:r>
            <a:r>
              <a:rPr sz="1550" b="0" dirty="0" err="1">
                <a:solidFill>
                  <a:srgbClr val="000000"/>
                </a:solidFill>
                <a:latin typeface="Microsoft YaHei"/>
              </a:rPr>
              <a:t>是统计协方差，置信边界还需要尺度</a:t>
            </a:r>
            <a:r>
              <a:rPr sz="155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550" b="0" dirty="0" err="1">
                <a:solidFill>
                  <a:srgbClr val="000000"/>
                </a:solidFill>
                <a:latin typeface="Microsoft YaHei"/>
              </a:rPr>
              <a:t>τ；原文固定为</a:t>
            </a:r>
            <a:r>
              <a:rPr sz="1550" b="0" dirty="0">
                <a:solidFill>
                  <a:srgbClr val="000000"/>
                </a:solidFill>
                <a:latin typeface="Microsoft YaHei"/>
              </a:rPr>
              <a:t> 1。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4965192"/>
            <a:ext cx="10890504" cy="731520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3816" y="5029200"/>
            <a:ext cx="10479024" cy="5943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10" b="1">
                <a:solidFill>
                  <a:srgbClr val="000000"/>
                </a:solidFill>
                <a:latin typeface="Microsoft YaHei"/>
              </a:rPr>
              <a:t>基于现有 H∈ℂ⁴×⁶⁴、Cᵣₓ∈ℂ⁴×⁴，研究矩阵信道误差的结构化表征与非均匀椭球。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新版方案的优化变量与约束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280160"/>
            <a:ext cx="10899648" cy="38404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完整波束 w 同时决定发射方向与幅度；功率 p 由波束范数导出。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73936"/>
            <a:ext cx="11000232" cy="749808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roposal_objec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3868" y="1837943"/>
            <a:ext cx="4001719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2578608"/>
            <a:ext cx="10716768" cy="3017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20" b="0">
                <a:solidFill>
                  <a:srgbClr val="000000"/>
                </a:solidFill>
                <a:latin typeface="Microsoft YaHei"/>
              </a:rPr>
              <a:t>公平效用 − 链路组稀疏 − TRP 激活代价；分开两种惩罚系数是解释修正。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" y="3054096"/>
            <a:ext cx="3401568" cy="152704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3154680"/>
            <a:ext cx="3044952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波束与功率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611880"/>
            <a:ext cx="3026664" cy="8229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70" b="0">
                <a:solidFill>
                  <a:srgbClr val="000000"/>
                </a:solidFill>
                <a:latin typeface="Microsoft YaHei"/>
              </a:rPr>
              <a:t>wₗₖg∈ℂ⁶⁴×ʳ；pₗ 是所有资源组的加权发射功率。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3054096"/>
            <a:ext cx="3410712" cy="152704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43983" y="3154680"/>
            <a:ext cx="3072384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链路组 vs 整 TRP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3611880"/>
            <a:ext cx="3044952" cy="85953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0">
                <a:solidFill>
                  <a:srgbClr val="000000"/>
                </a:solidFill>
                <a:latin typeface="Microsoft YaHei"/>
              </a:rPr>
              <a:t>‖wₗₖ,:‖ 归零只删一条服务链；sₗ=0 才约束整台 TRP 不发射。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3054096"/>
            <a:ext cx="3520440" cy="152704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3154680"/>
            <a:ext cx="3145536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限制与后处理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611880"/>
            <a:ext cx="3127248" cy="85953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0">
                <a:solidFill>
                  <a:srgbClr val="000000"/>
                </a:solidFill>
                <a:latin typeface="Microsoft YaHei"/>
              </a:rPr>
              <a:t>边缘最低速率、关联可行性；sₗ 松弛判阈后须重优化并复查。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" y="4828032"/>
            <a:ext cx="10835640" cy="71323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hared_po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378" y="4974336"/>
            <a:ext cx="2522162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1520" y="5632704"/>
            <a:ext cx="10607040" cy="38404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Microsoft YaHei"/>
              </a:rPr>
              <a:t>拟以边缘体验、&lt;10% 体验损失和 &gt;30% 空口功率目标为参照，开展同条件误差对照。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新版求解流程与实现边界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316736"/>
            <a:ext cx="7626096" cy="1188720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86384" y="1399032"/>
            <a:ext cx="7260336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10" b="1">
                <a:solidFill>
                  <a:srgbClr val="092B56"/>
                </a:solidFill>
                <a:latin typeface="Microsoft YaHei"/>
              </a:rPr>
              <a:t>WMMSE 外轮：当前 w → A 接收器 → E、Ω 权重 → 固定量求 w</a:t>
            </a:r>
          </a:p>
        </p:txBody>
      </p:sp>
      <p:pic>
        <p:nvPicPr>
          <p:cNvPr id="5" name="Picture 4" descr="minmax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7771" y="1828800"/>
            <a:ext cx="2441448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2249424"/>
            <a:ext cx="7232904" cy="2194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60" b="0">
                <a:solidFill>
                  <a:srgbClr val="000000"/>
                </a:solidFill>
                <a:latin typeface="Microsoft YaHei"/>
              </a:rPr>
              <a:t>拟以当前统计 C 为基础，研究误差集合校准与最坏情形内层，并与统计平均设计比较。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70832" y="2523744"/>
            <a:ext cx="0" cy="246888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94360" y="2788920"/>
            <a:ext cx="7626096" cy="1901952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6384" y="2889504"/>
            <a:ext cx="7296912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00" b="1">
                <a:solidFill>
                  <a:srgbClr val="092B56"/>
                </a:solidFill>
                <a:latin typeface="Microsoft YaHei"/>
              </a:rPr>
              <a:t>ADMM 内轮：固定 A、Ω；每轮更新 x → z → y → 双残差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" y="3465576"/>
            <a:ext cx="1463040" cy="26517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x：波束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785615"/>
            <a:ext cx="146304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研究链路组稀疏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15768" y="3465576"/>
            <a:ext cx="1463040" cy="26517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拟议消息门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3785615"/>
            <a:ext cx="146304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消息变化与缓存比较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1416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53712" y="3465576"/>
            <a:ext cx="1463040" cy="26517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z：副本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785615"/>
            <a:ext cx="146304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联合功率投影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91655" y="3465576"/>
            <a:ext cx="1463040" cy="26517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y：对偶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3785615"/>
            <a:ext cx="146304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按 x−z 更新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441448" y="3840480"/>
            <a:ext cx="164592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79392" y="3840480"/>
            <a:ext cx="164591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17336" y="3840480"/>
            <a:ext cx="164591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86384" y="4297680"/>
            <a:ext cx="7324344" cy="2926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40" b="1">
                <a:solidFill>
                  <a:srgbClr val="000000"/>
                </a:solidFill>
                <a:latin typeface="Microsoft YaHei"/>
              </a:rPr>
              <a:t>原始残差 ‖x−z‖；对偶残差 ρ‖z⁺−z‖；触发变化 ‖m−缓存‖：三者不同。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22376" y="4754880"/>
            <a:ext cx="0" cy="301752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5074920"/>
            <a:ext cx="7626096" cy="69494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6384" y="5138928"/>
            <a:ext cx="7269480" cy="5303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40" b="1">
                <a:solidFill>
                  <a:srgbClr val="000000"/>
                </a:solidFill>
                <a:latin typeface="Microsoft YaHei"/>
              </a:rPr>
              <a:t>返回可行 z → 检查外层停止；s 阈值判决后重优化并复查速率与功率。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0" y="5404104"/>
            <a:ext cx="128016" cy="0"/>
          </a:xfrm>
          <a:prstGeom prst="line">
            <a:avLst/>
          </a:prstGeom>
          <a:ln w="27940">
            <a:solidFill>
              <a:srgbClr val="124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357616" y="1911095"/>
            <a:ext cx="0" cy="3493009"/>
          </a:xfrm>
          <a:prstGeom prst="line">
            <a:avLst/>
          </a:prstGeom>
          <a:ln w="27940">
            <a:solidFill>
              <a:srgbClr val="124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8238744" y="1911095"/>
            <a:ext cx="118872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40496" y="1325880"/>
            <a:ext cx="2990088" cy="444398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95944" y="1408176"/>
            <a:ext cx="2679192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739" b="1">
                <a:solidFill>
                  <a:srgbClr val="092B56"/>
                </a:solidFill>
                <a:latin typeface="Microsoft YaHei"/>
              </a:rPr>
              <a:t>当前实现状态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05088" y="1874519"/>
            <a:ext cx="2651760" cy="274320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787384" y="1865376"/>
            <a:ext cx="2478024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已实现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41664" y="2167128"/>
            <a:ext cx="2587752" cy="5577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矩阵 WMMSE、统计 C、集中式 ADMM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05088" y="2788920"/>
            <a:ext cx="2651760" cy="274320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787384" y="2779776"/>
            <a:ext cx="2478024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部分证据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41664" y="3081528"/>
            <a:ext cx="2587752" cy="5577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同输入对拍与功率可行；正式规模未收敛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05088" y="3703320"/>
            <a:ext cx="2651760" cy="274320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787384" y="3694176"/>
            <a:ext cx="2478024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未实现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41664" y="3995928"/>
            <a:ext cx="2587752" cy="5577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椭球最坏情况、稀疏/休眠、本地 TRP、触发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05088" y="4617720"/>
            <a:ext cx="2651760" cy="274320"/>
          </a:xfrm>
          <a:prstGeom prst="roundRect">
            <a:avLst/>
          </a:prstGeom>
          <a:solidFill>
            <a:srgbClr val="B12A30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787384" y="4608576"/>
            <a:ext cx="2478024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10" b="1" dirty="0" err="1">
                <a:solidFill>
                  <a:srgbClr val="FFFFFF"/>
                </a:solidFill>
                <a:latin typeface="Microsoft YaHei"/>
              </a:rPr>
              <a:t>未接通</a:t>
            </a:r>
            <a:endParaRPr sz="141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741664" y="4910328"/>
            <a:ext cx="2587752" cy="5577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90" b="0" dirty="0" err="1">
                <a:solidFill>
                  <a:srgbClr val="000000"/>
                </a:solidFill>
                <a:latin typeface="Microsoft YaHei"/>
              </a:rPr>
              <a:t>历史</a:t>
            </a:r>
            <a:r>
              <a:rPr sz="1290" b="0" dirty="0">
                <a:solidFill>
                  <a:srgbClr val="000000"/>
                </a:solidFill>
                <a:latin typeface="Microsoft YaHei"/>
              </a:rPr>
              <a:t> GA/PSO </a:t>
            </a:r>
            <a:r>
              <a:rPr sz="1290" b="0" dirty="0" err="1">
                <a:solidFill>
                  <a:srgbClr val="000000"/>
                </a:solidFill>
                <a:latin typeface="Microsoft YaHei"/>
              </a:rPr>
              <a:t>搜索</a:t>
            </a:r>
            <a:r>
              <a:rPr sz="1290" b="0" dirty="0">
                <a:solidFill>
                  <a:srgbClr val="000000"/>
                </a:solidFill>
                <a:latin typeface="Microsoft YaHei"/>
              </a:rPr>
              <a:t> → </a:t>
            </a:r>
            <a:r>
              <a:rPr sz="1290" b="0" dirty="0" err="1">
                <a:solidFill>
                  <a:srgbClr val="000000"/>
                </a:solidFill>
                <a:latin typeface="Microsoft YaHei"/>
              </a:rPr>
              <a:t>新求解器</a:t>
            </a:r>
            <a:endParaRPr sz="129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13232" y="5925312"/>
            <a:ext cx="10616184" cy="43891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30" b="1">
                <a:solidFill>
                  <a:srgbClr val="092B56"/>
                </a:solidFill>
                <a:latin typeface="Microsoft YaHei"/>
              </a:rPr>
              <a:t>拟研究 TRP 本地变量划分、共识交换与消息缓存；以计算量、消息量和收敛残差检验。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WJmYmVhMGQ2YWQwOTc0ZDFkYmVkZTE0NzFkNThlYz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heme/theme1.xml><?xml version="1.0" encoding="utf-8"?>
<a:theme xmlns:a="http://schemas.openxmlformats.org/drawingml/2006/main" name="Office 主题​​">
  <a:themeElements>
    <a:clrScheme name="自定义 3">
      <a:dk1>
        <a:sysClr val="windowText" lastClr="000000"/>
      </a:dk1>
      <a:lt1>
        <a:sysClr val="window" lastClr="FFFFFF"/>
      </a:lt1>
      <a:dk2>
        <a:srgbClr val="003399"/>
      </a:dk2>
      <a:lt2>
        <a:srgbClr val="FFFFFF"/>
      </a:lt2>
      <a:accent1>
        <a:srgbClr val="00339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3">
      <a:dk1>
        <a:sysClr val="windowText" lastClr="000000"/>
      </a:dk1>
      <a:lt1>
        <a:sysClr val="window" lastClr="FFFFFF"/>
      </a:lt1>
      <a:dk2>
        <a:srgbClr val="003399"/>
      </a:dk2>
      <a:lt2>
        <a:srgbClr val="FFFFFF"/>
      </a:lt2>
      <a:accent1>
        <a:srgbClr val="00339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1298</TotalTime>
  <Words>3775</Words>
  <Application>Microsoft Office PowerPoint</Application>
  <PresentationFormat>宽屏</PresentationFormat>
  <Paragraphs>259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Microsoft YaHei</vt:lpstr>
      <vt:lpstr>Microsoft YaHei</vt:lpstr>
      <vt:lpstr>微软雅黑 Light</vt:lpstr>
      <vt:lpstr>Arial</vt:lpstr>
      <vt:lpstr>Calibri</vt:lpstr>
      <vt:lpstr>Century Gothic</vt:lpstr>
      <vt:lpstr>Office 主题​​</vt:lpstr>
      <vt:lpstr>1_Office 主题​​</vt:lpstr>
      <vt:lpstr>PowerPoint 演示文稿</vt:lpstr>
      <vt:lpstr>主要内容</vt:lpstr>
      <vt:lpstr>研究问题、方法与目标</vt:lpstr>
      <vt:lpstr>网络拓扑与协同架构</vt:lpstr>
      <vt:lpstr>代码调用与数据流</vt:lpstr>
      <vt:lpstr>参考信号观测与信道估计</vt:lpstr>
      <vt:lpstr>资源变量与方法分工</vt:lpstr>
      <vt:lpstr>下行通信与评价</vt:lpstr>
      <vt:lpstr>WMMSE–ADMM 嵌套求解</vt:lpstr>
      <vt:lpstr>ADMM 功率约束与停止</vt:lpstr>
      <vt:lpstr>现有统计误差机制</vt:lpstr>
      <vt:lpstr>核心变量</vt:lpstr>
      <vt:lpstr>新版方案：测量可靠性驱动协同</vt:lpstr>
      <vt:lpstr>新版方案的优化变量与约束</vt:lpstr>
      <vt:lpstr>新版求解流程与实现边界</vt:lpstr>
    </vt:vector>
  </TitlesOfParts>
  <Company>Guilddesign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Template</dc:title>
  <dc:creator>Sung Ha, Park</dc:creator>
  <cp:lastModifiedBy>亚萍 宋</cp:lastModifiedBy>
  <cp:revision>7</cp:revision>
  <cp:lastPrinted>2025-12-14T09:05:23Z</cp:lastPrinted>
  <dcterms:created xsi:type="dcterms:W3CDTF">2025-12-14T09:05:23Z</dcterms:created>
  <dcterms:modified xsi:type="dcterms:W3CDTF">2026-10-21T06:55:01Z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5F83327A812F4435B25E525EBED23916_13</vt:lpwstr>
  </property>
  <property fmtid="{D5CDD505-2E9C-101B-9397-08002B2CF9AE}" pid="3" name="KSOProductBuildVer">
    <vt:lpwstr>2052-12.9.0.24013</vt:lpwstr>
  </property>
</Properties>
</file>