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9" r:id="rId2"/>
  </p:sldMasterIdLst>
  <p:notesMasterIdLst>
    <p:notesMasterId r:id="rId17"/>
  </p:notesMasterIdLst>
  <p:handoutMasterIdLst>
    <p:handoutMasterId r:id="rId18"/>
  </p:handoutMasterIdLst>
  <p:sldIdLst>
    <p:sldId id="2531" r:id="rId3"/>
    <p:sldId id="5977" r:id="rId4"/>
    <p:sldId id="5978" r:id="rId5"/>
    <p:sldId id="5979" r:id="rId6"/>
    <p:sldId id="5980" r:id="rId7"/>
    <p:sldId id="5981" r:id="rId8"/>
    <p:sldId id="5982" r:id="rId9"/>
    <p:sldId id="5983" r:id="rId10"/>
    <p:sldId id="5984" r:id="rId11"/>
    <p:sldId id="5985" r:id="rId12"/>
    <p:sldId id="5986" r:id="rId13"/>
    <p:sldId id="5987" r:id="rId14"/>
    <p:sldId id="5989" r:id="rId15"/>
    <p:sldId id="5990" r:id="rId16"/>
  </p:sldIdLst>
  <p:sldSz cx="12192000" cy="6858000"/>
  <p:notesSz cx="7099300" cy="10234613"/>
  <p:custDataLst>
    <p:tags r:id="rId1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2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orient="horz" pos="3998" userDrawn="1">
          <p15:clr>
            <a:srgbClr val="A4A3A4"/>
          </p15:clr>
        </p15:guide>
        <p15:guide id="5" orient="horz" pos="38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452">
          <p15:clr>
            <a:srgbClr val="A4A3A4"/>
          </p15:clr>
        </p15:guide>
        <p15:guide id="2" pos="2183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4" clrIdx="0"/>
  <p:cmAuthor id="2" name="lj" initials="l" lastIdx="1" clrIdx="1"/>
  <p:cmAuthor id="3" name="Jason Zhang" initials="JZ" lastIdx="12" clrIdx="2"/>
  <p:cmAuthor id="4" name="可爱的小马驹ヾ" initials="可" lastIdx="1" clrIdx="3"/>
  <p:cmAuthor id="5" name="Tyselina Zheng" initials="TZ" lastIdx="2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F528F"/>
    <a:srgbClr val="CBCDDE"/>
    <a:srgbClr val="002B84"/>
    <a:srgbClr val="95D1E2"/>
    <a:srgbClr val="E7E8EF"/>
    <a:srgbClr val="E6E6E6"/>
    <a:srgbClr val="003399"/>
    <a:srgbClr val="C00000"/>
    <a:srgbClr val="DCF0F5"/>
    <a:srgbClr val="FBD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82" autoAdjust="0"/>
    <p:restoredTop sz="90663" autoAdjust="0"/>
  </p:normalViewPr>
  <p:slideViewPr>
    <p:cSldViewPr showGuides="1">
      <p:cViewPr varScale="1">
        <p:scale>
          <a:sx n="75" d="100"/>
          <a:sy n="75" d="100"/>
        </p:scale>
        <p:origin x="1032" y="43"/>
      </p:cViewPr>
      <p:guideLst>
        <p:guide pos="392"/>
        <p:guide pos="7256"/>
        <p:guide orient="horz" pos="576"/>
        <p:guide orient="horz" pos="3998"/>
        <p:guide orient="horz" pos="380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1186"/>
    </p:cViewPr>
  </p:sorterViewPr>
  <p:notesViewPr>
    <p:cSldViewPr>
      <p:cViewPr varScale="1">
        <p:scale>
          <a:sx n="30" d="100"/>
          <a:sy n="30" d="100"/>
        </p:scale>
        <p:origin x="-2261" y="-67"/>
      </p:cViewPr>
      <p:guideLst>
        <p:guide orient="horz" pos="3452"/>
        <p:guide pos="2183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tags" Target="tags/tag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9" y="1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9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FEB6453C-91E2-453A-8CFB-E8A5E658B759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575" cy="511175"/>
          </a:xfrm>
          <a:prstGeom prst="rect">
            <a:avLst/>
          </a:prstGeom>
        </p:spPr>
        <p:txBody>
          <a:bodyPr vert="horz" lIns="94263" tIns="47133" rIns="94263" bIns="47133" rtlCol="0"/>
          <a:lstStyle>
            <a:lvl1pPr algn="l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9" y="1"/>
            <a:ext cx="3076575" cy="511175"/>
          </a:xfrm>
          <a:prstGeom prst="rect">
            <a:avLst/>
          </a:prstGeom>
        </p:spPr>
        <p:txBody>
          <a:bodyPr vert="horz" lIns="94263" tIns="47133" rIns="94263" bIns="47133" rtlCol="0"/>
          <a:lstStyle>
            <a:lvl1pPr algn="r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F6709892-4A62-41CA-BB2D-19E92E32BA1A}" type="datetimeFigureOut">
              <a:rPr lang="zh-CN" altLang="en-US"/>
              <a:t>2026/10/20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63" tIns="47133" rIns="94263" bIns="47133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859338"/>
            <a:ext cx="5680075" cy="4606925"/>
          </a:xfrm>
          <a:prstGeom prst="rect">
            <a:avLst/>
          </a:prstGeom>
        </p:spPr>
        <p:txBody>
          <a:bodyPr vert="horz" lIns="94263" tIns="47133" rIns="94263" bIns="47133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4263" tIns="47133" rIns="94263" bIns="47133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9" y="9721850"/>
            <a:ext cx="3076575" cy="511175"/>
          </a:xfrm>
          <a:prstGeom prst="rect">
            <a:avLst/>
          </a:prstGeom>
        </p:spPr>
        <p:txBody>
          <a:bodyPr vert="horz" wrap="square" lIns="94263" tIns="47133" rIns="94263" bIns="47133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20B90B85-D45D-43B0-886B-48C061D8B8B2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73038" y="796925"/>
            <a:ext cx="7069137" cy="39766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研究对象：茶思任务中的非理想SRS/CSI与用户中心多TRP协同。本材料对应已提交代码 db9d7e3；当前另一个会话的工作区更改不包含在本材料。研究结果尚不能等同正式验收。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给出四段讲述顺序。第一部分界定困难、目标与物理网络；第二部分沿通信变量讲建模与当前求解；第三部分说明非均匀误差和现有证据；第四部分单列202610版系统方案。每段均区分原始任务、当前实现、已验证结果与研究设想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研究困难、目标、现有求解和拟研究创新分别是什么。左侧两条链路为机制示意，不是实际拓扑或测量值。原始材料难题1.png、典型验收场景.png、用户速率协议定义.png要求关注边缘体验、功率和规模。用户中心服务与可扩展性背景见[1][2]。当前资源由规则固定、预编码由集中式 WMMSE–ADMM 求解；最坏情况鲁棒优化未接入。下一页给出真实场景坐标。[1] Demir, Björnson, Sanguinetti, Foundations of User-Centric Cell-Free Massive MIMO, 2021, DOI:10.1561/2000000109. [2] Ammar et al., Distributed Resource Allocation Optimization for User-Centric Cell-Free MIMO Networks, IEEE TWC 2022, DOI:10.1109/TWC.2021.3118303。追问：是否满足验收体验？现有记录尚不足以证明。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回答：七站三扇区、UE 空间分布、服务关系和 CPU 分工。左图是 MATLAB 输出的真实坐标；全部210个 UE 均为独立散点，未重复画点。MATLAB lines(7)颜色按 home 所在站 S1–S7：S1蓝、S2橙、S3黄、S4紫、S5绿、S6青、S7洋红/暗红。颜色不是调度或完整服务集合。右图 UE7 的 home=T01，服务集合 T01/T02；两TRP共址，服务连线可能重合。CPU 为逻辑协调节点，不是实际部署坐标。原材料规定每小区10–20 UE、小区内均匀分布；当前10 UE/小区，总210。chasi_geometry_from_samples.m 以中心(450,450)m、外围6站距中心300m生成；每站三个 TRP 共址；UE 在每扇区25–150m环扇区，以 θ=φ_l+(v−1/2)2π/3 与 r=sqrt(rmin²+u(rmax²−rmin²))采样，因此面积均匀。25–150m边界是项目假设。home 为生成扇区，服务集合为 home 加最近活动 TRP，当前上限2。扇形不是无干扰硬覆盖。下一页沿变量看执行链。追问：紫色点是什么？是初始归属 S4 的真实 UE。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当前正式入口如何从场景产生预编码并评价。沿五个蓝色大箭头讲输入→处理→输出。Htrue∈C^{4×64}用于合成观测和真实评价；Hhat、C进入集中式求解；b、χ、r、ν由规则配置，w是当前主优化变量。求解器不调用历史GA/PSO/SRACOS链。源码 chasi_run.m、chasi_generate_scene.m、chasi_matrix_wmmse.m、评价函数。下一页展开场景与测量。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回答：第六页公式是否错误、UE怎样采样。chasi_geometry_from_samples.m：七站 s_c=(450,450)m，外围 s_m=s_c+300[cos(mπ/3),sin(mπ/3)]，m=0,…,5。21TRP由repelem(site,3,1)共址生成。home=repelem((1:21),10)；θ=mod(l−1,3)2π/3+(v−1/2)2π/3，v∼U(0,1)；当前 ueSpatialSampling=area_uniform_annular_sector，r=sqrt(rmin²+u(rmax²−rmin²))，rmin25m、rmax150m。源码确实按面积均匀采样，旧linear-with-sqrt分支不是当前配置。验收图仅要求每小区10–20UE且小区内均匀分布，未指定当前环形边界或中心坐标。chasi_generate_scene.m：rxCorrelation=0.35.^abs(i−j)，rxChol=chol(rxCorrelation,lower)，truth=sqrt(gain)*rxChol*complex_normal(4,64)，后者每元素(randn+i randn)/sqrt(2)。因此 Htrue=√β Lrx Ξ、Lrx Lrxᴴ=Rrx、Ξ(a,m)∼CN(0,1)，维度4×64；原版乘法方向和维度正确，没有发现实际公式错误，本版补足缺少的定义。没有发射相关或 CDL 模型。下一页区分固定资源和优化变量。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哪些是资源规则，哪些是当前优化量。b调度、χ服务集合、r流数、ν资源组RB权重由固定规则生成；当前集中式矩阵WMMSE–ADMM优化w。PF代理与业务协议体验率不是同一个目标。功率约束∑gνg∑j||w_ljg||²≤P_l，跨资源组联合投影。历史搜索的候选编码/评价器与正式矩阵求解链未接通，不能画成实际两时间尺度闭环。依据 chasi_run.m、chasi_matrix_wmmse.m 与公式合集。下一页讲速率链。追问：GA/PSO是否优化正式w？没有当前调用证据。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回答：预编码怎样变成可评价的速率。TRP l 的 w_ljg 与 H_klg相乘，按用户中心服务掩码跨TRP相干叠加为 F_kjg∈C^{4×r_jg}；目标用户有用项 F_kkg，其他j产生干扰。Ryy含噪声、全部用户信号和统计误差∑l p_lg C_klg，维度4×4。由干扰加噪声协方差计算RSE，之后结合RB与业务交付得到体验统计，不能将SE直接当最终体验率。公式和符号来自当前源码及FORMULA_TRACE。下一页说明WMMSE更新。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WMMSE外层的输入、固定量、更新量。以当前w和Hhat/C形成F、Ryy；A=(Ryy)^{-1}F_kkg，A∈C^{4×r}；E∈C^{r×r}来自接收误差公式；Ω=E^{-1}∈C^{r×r}。η是由当前PF目标对应的用户效用权重。固定A、Ω、η后构造预编码二次项Q和B，进入ADMM；返回w再重算速率/目标和停止指标。WMMSE理论源于[4] Shi et al., IEEE TSP 2011, DOI:10.1109/TSP.2011.2147784；当前实现按项目目标调整，并非直接复制论文代码。联合问题仍非凸。下一页展开ADMM。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回答：ADMM实际解什么。固定WMMSE接收器和权重后，形成组g二次项Q_g与B_g，原变量线性系统为(ν_gQ_g+ρ/2 I)x_g=ν_gB_g+ρ/2(z_g−y_g)，当前用隐式算子和CG。z=Π_C(x+y)是满足∀l:∑gν_g∑j||w_ljg||²≤P_l的联合投影，因此不能对每组独立投影；y←y+x−z。检查原始和对偶残差以及迭代上限，返回可行z。代码为单MATLAB进程集中式实现，使用ADMM并不意味着TRP分布式。正式规模运行有触及迭代上限的记录；功率可行、数值对拍、内层残差收敛、外层停止是不同事实。[5] Boyd et al., Distributed Optimization and Statistical Learning via ADMM, 2011, Stanford作者页：https://stanford.edu/~boyd/papers/admm_distr_stats.html。下一页看误差如何改变Q。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回答：为何非均匀误差会进入预编码，而非只在报告里改口径。chasi_generate_scene.m依据SRS SINR、CSI年龄、先验β和观测选择结构计算后验条件误差协方差C_klg（4×4）。各链路C不同。chasi_matrix_wmmse.m把∑l p_lg C_klg放入Ryy，故A、E、Ω随之变；固定A/Ω后的预编码二次算子Q亦含误差贡献，因此w可能改变。当前C是条件协方差，不是已校准的确定性误差椭球，当前无最坏情况内层。公平对照需同拓扑/业务/功率预算/初始化，仅切换误差假设；现有记录尚未证明非均匀模式提升。非理想CSI背景见[2] Ammar et al. 2022；椭球鲁棒性的未来理论来源[6] Zheng et al. 2008 DOI:10.1155/2008/609028。下一页汇总核心符号。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跨图使用的核心符号各表示什么，哪些有物理单位。维度r随用户与资源组变化，表中符号省略下标。Htrue/Hhat∈C^{4×64}，C、Ryy∈C^{4×4}，w∈C^{64×r}，A/F∈C^{4×r}，E/Ω∈C^{r×r}；x/z/y与w同维。ν为RB计数/权重，p和P_l按当前归一化功率制说明；SE=bit/s/Hz，Rexp依业务协议和采样规则定义。完整符号见现有FORMULA_TRACE与SYMBOLS.md。辅助索引、维度及假设可口头解释。下一页只介绍独立新版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202610-系统方案v2.pdf提出了什么，当前到哪一步。椭球、功率与公平效用、组稀疏、事件触发是拟研究组合，未接入当前集中式统计误差WMMSE–ADMM。当前条件协方差C不可直接称已标定椭球；最坏情况子问题、组稀疏优化、本地TRP共识与事件触发通信未实现。椭球参考[6] Zheng et al. 2008 DOI:10.1155/2008/609028；组稀疏参考[7] Shi et al., Group Sparse Beamforming for Green Cloud-RAN, IEEE TWC 2014, DOI:10.1109/TWC.2014.040214.131770。关闭部分TRP–UE链路不等于整TRP休眠。下一页说明机制成立还要解决的数学和系统问题。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新版方案要从想法走到可运行需要哪些论证。公式是目标结构示意，精确效用U、罚项系数和误差集合尚待定义。WMMSE联合问题通常非凸；固定部分变量后的子问题凸性需逐项证明。一般耦合二次项加组稀疏不能声称整个子问题一次软阈值完成。TRP本地更新与事件触发还需定义通信缓存、共识更新时序及收敛条件。更大CSI误差不必然形成更宽波束；关闭一条服务链路不等于TRP休眠。功率或消息节省比例是待实测目标。依据202610-系统方案v2.pdf以及当前代码未实现边界。[7] Shi et al. 2014用于组稀疏方法背景，不证明当前代码效果。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27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6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2.xml"/><Relationship Id="rId3" Type="http://schemas.openxmlformats.org/officeDocument/2006/relationships/image" Target="../media/image6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eg"/><Relationship Id="rId3" Type="http://schemas.openxmlformats.org/officeDocument/2006/relationships/image" Target="../media/image8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eg"/><Relationship Id="rId3" Type="http://schemas.openxmlformats.org/officeDocument/2006/relationships/image" Target="../media/image8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14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27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6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jpeg"/><Relationship Id="rId3" Type="http://schemas.openxmlformats.org/officeDocument/2006/relationships/image" Target="../media/image4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screen"/>
          <a:srcRect r="25963"/>
          <a:stretch>
            <a:fillRect/>
          </a:stretch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49208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49208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3549208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549208" y="1484311"/>
            <a:ext cx="7287114" cy="2386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输入大标题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118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600575" y="133072"/>
            <a:ext cx="6791691" cy="6535793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6315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1216315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16315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16315" y="1484311"/>
            <a:ext cx="7287114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667561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925830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888242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98320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1" name="文本框 40"/>
          <p:cNvSpPr txBox="1"/>
          <p:nvPr userDrawn="1"/>
        </p:nvSpPr>
        <p:spPr>
          <a:xfrm rot="16200000">
            <a:off x="-1443469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52633" y="548450"/>
            <a:ext cx="2295327" cy="50469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66749" y="1329225"/>
            <a:ext cx="0" cy="471473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9258300" y="1280160"/>
            <a:ext cx="0" cy="483516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8" name="任意多边形: 形状 39"/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39"/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39"/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74"/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标题 47"/>
          <p:cNvSpPr>
            <a:spLocks noGrp="1"/>
          </p:cNvSpPr>
          <p:nvPr>
            <p:ph type="title" hasCustomPrompt="1"/>
          </p:nvPr>
        </p:nvSpPr>
        <p:spPr>
          <a:xfrm>
            <a:off x="630418" y="2616692"/>
            <a:ext cx="705595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13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654709" y="2352090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14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655638" y="430418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1899117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◀ BIT</a:t>
            </a:r>
            <a:r>
              <a:rPr lang="en-US" altLang="zh-CN" sz="2400" b="1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▶</a:t>
            </a:r>
            <a:endParaRPr lang="zh-CN" altLang="en-US" sz="2400" b="1" i="0" spc="100" dirty="0">
              <a:solidFill>
                <a:schemeClr val="accent3"/>
              </a:solidFill>
              <a:latin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4" name="组合 23"/>
          <p:cNvGrpSpPr/>
          <p:nvPr userDrawn="1"/>
        </p:nvGrpSpPr>
        <p:grpSpPr>
          <a:xfrm>
            <a:off x="671368" y="6083135"/>
            <a:ext cx="2542613" cy="276499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25" name="组合 2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3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4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4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6" name="组合 2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27" name="组合 2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3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3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/>
          <p:cNvSpPr/>
          <p:nvPr userDrawn="1">
            <p:custDataLst>
              <p:tags r:id="rId1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1" name="任意多边形: 形状 30"/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13420" y="2558484"/>
            <a:ext cx="6236023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" name="任意多边形: 形状 118"/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6" name="任意多边形: 形状 105"/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8" name="任意多边形: 形状 117"/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9" name="任意多边形: 形状 83"/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50" name="任意多边形: 形状 83"/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102" name="任意多边形: 形状 101"/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4" name="任意多边形: 形状 83"/>
          <p:cNvSpPr/>
          <p:nvPr userDrawn="1"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48" name="标题 47"/>
          <p:cNvSpPr>
            <a:spLocks noGrp="1"/>
          </p:cNvSpPr>
          <p:nvPr userDrawn="1">
            <p:ph type="title" hasCustomPrompt="1"/>
          </p:nvPr>
        </p:nvSpPr>
        <p:spPr>
          <a:xfrm>
            <a:off x="515939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</a:p>
        </p:txBody>
      </p:sp>
      <p:sp>
        <p:nvSpPr>
          <p:cNvPr id="38" name="文本占位符 53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063320" y="554073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10083479" y="631518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53" name="组合 5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4" name="组合 5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55" name="组合 5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6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/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-1" fmla="*/ 0 w 3162300"/>
              <a:gd name="connsiteY0-2" fmla="*/ 2147409 h 2238849"/>
              <a:gd name="connsiteX1-3" fmla="*/ 0 w 3162300"/>
              <a:gd name="connsiteY1-4" fmla="*/ 1565265 h 2238849"/>
              <a:gd name="connsiteX2-5" fmla="*/ 0 w 3162300"/>
              <a:gd name="connsiteY2-6" fmla="*/ 1544697 h 2238849"/>
              <a:gd name="connsiteX3-7" fmla="*/ 0 w 3162300"/>
              <a:gd name="connsiteY3-8" fmla="*/ 0 h 2238849"/>
              <a:gd name="connsiteX4-9" fmla="*/ 1585774 w 3162300"/>
              <a:gd name="connsiteY4-10" fmla="*/ 1112898 h 2238849"/>
              <a:gd name="connsiteX5-11" fmla="*/ 3162300 w 3162300"/>
              <a:gd name="connsiteY5-12" fmla="*/ 0 h 2238849"/>
              <a:gd name="connsiteX6-13" fmla="*/ 3162300 w 3162300"/>
              <a:gd name="connsiteY6-14" fmla="*/ 1544697 h 2238849"/>
              <a:gd name="connsiteX7-15" fmla="*/ 3162300 w 3162300"/>
              <a:gd name="connsiteY7-16" fmla="*/ 1565265 h 2238849"/>
              <a:gd name="connsiteX8-17" fmla="*/ 3162300 w 3162300"/>
              <a:gd name="connsiteY8-18" fmla="*/ 2147409 h 2238849"/>
              <a:gd name="connsiteX9" fmla="*/ 91440 w 3162300"/>
              <a:gd name="connsiteY9" fmla="*/ 2238849 h 2238849"/>
              <a:gd name="connsiteX0-19" fmla="*/ 0 w 3162300"/>
              <a:gd name="connsiteY0-20" fmla="*/ 2147409 h 2147409"/>
              <a:gd name="connsiteX1-21" fmla="*/ 0 w 3162300"/>
              <a:gd name="connsiteY1-22" fmla="*/ 1565265 h 2147409"/>
              <a:gd name="connsiteX2-23" fmla="*/ 0 w 3162300"/>
              <a:gd name="connsiteY2-24" fmla="*/ 1544697 h 2147409"/>
              <a:gd name="connsiteX3-25" fmla="*/ 0 w 3162300"/>
              <a:gd name="connsiteY3-26" fmla="*/ 0 h 2147409"/>
              <a:gd name="connsiteX4-27" fmla="*/ 1585774 w 3162300"/>
              <a:gd name="connsiteY4-28" fmla="*/ 1112898 h 2147409"/>
              <a:gd name="connsiteX5-29" fmla="*/ 3162300 w 3162300"/>
              <a:gd name="connsiteY5-30" fmla="*/ 0 h 2147409"/>
              <a:gd name="connsiteX6-31" fmla="*/ 3162300 w 3162300"/>
              <a:gd name="connsiteY6-32" fmla="*/ 1544697 h 2147409"/>
              <a:gd name="connsiteX7-33" fmla="*/ 3162300 w 3162300"/>
              <a:gd name="connsiteY7-34" fmla="*/ 1565265 h 2147409"/>
              <a:gd name="connsiteX8-35" fmla="*/ 3162300 w 3162300"/>
              <a:gd name="connsiteY8-36" fmla="*/ 2147409 h 21474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-1" fmla="*/ 0 w 3162300"/>
              <a:gd name="connsiteY0-2" fmla="*/ 1871961 h 1963401"/>
              <a:gd name="connsiteX1-3" fmla="*/ 0 w 3162300"/>
              <a:gd name="connsiteY1-4" fmla="*/ 0 h 1963401"/>
              <a:gd name="connsiteX2-5" fmla="*/ 3162300 w 3162300"/>
              <a:gd name="connsiteY2-6" fmla="*/ 0 h 1963401"/>
              <a:gd name="connsiteX3-7" fmla="*/ 3162300 w 3162300"/>
              <a:gd name="connsiteY3-8" fmla="*/ 1871961 h 1963401"/>
              <a:gd name="connsiteX4-9" fmla="*/ 91440 w 3162300"/>
              <a:gd name="connsiteY4-10" fmla="*/ 1963401 h 1963401"/>
              <a:gd name="connsiteX0-11" fmla="*/ 0 w 3162300"/>
              <a:gd name="connsiteY0-12" fmla="*/ 1871961 h 1871961"/>
              <a:gd name="connsiteX1-13" fmla="*/ 0 w 3162300"/>
              <a:gd name="connsiteY1-14" fmla="*/ 0 h 1871961"/>
              <a:gd name="connsiteX2-15" fmla="*/ 3162300 w 3162300"/>
              <a:gd name="connsiteY2-16" fmla="*/ 0 h 1871961"/>
              <a:gd name="connsiteX3-17" fmla="*/ 3162300 w 3162300"/>
              <a:gd name="connsiteY3-18" fmla="*/ 1871961 h 18719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28" r="23340"/>
          <a:stretch>
            <a:fillRect/>
          </a:stretch>
        </p:blipFill>
        <p:spPr>
          <a:xfrm>
            <a:off x="4303956" y="0"/>
            <a:ext cx="7888043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5573" r="198"/>
          <a:stretch>
            <a:fillRect/>
          </a:stretch>
        </p:blipFill>
        <p:spPr>
          <a:xfrm>
            <a:off x="0" y="0"/>
            <a:ext cx="8678174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9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4768810" y="7452"/>
            <a:ext cx="7423189" cy="6850548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-10414" y="0"/>
            <a:ext cx="8336943" cy="686004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0414" y="0"/>
            <a:ext cx="1220241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6352" y="0"/>
            <a:ext cx="12198351" cy="5024521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6351" y="0"/>
            <a:ext cx="1219834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0"/>
                </a:schemeClr>
              </a:gs>
              <a:gs pos="66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550546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223405" y="2402693"/>
            <a:ext cx="4785100" cy="47749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>
            <a:off x="14873" y="5340546"/>
            <a:ext cx="6018099" cy="15183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 flipH="1">
            <a:off x="6154789" y="5340546"/>
            <a:ext cx="6018099" cy="15183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5018002" y="2568943"/>
            <a:ext cx="2143294" cy="59991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59024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6261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V="1">
            <a:off x="14873" y="-15231"/>
            <a:ext cx="6018099" cy="151836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H="1" flipV="1">
            <a:off x="6154789" y="-15231"/>
            <a:ext cx="6018099" cy="15183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018002" y="2577573"/>
            <a:ext cx="2143294" cy="599913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3040886" y="5719548"/>
            <a:ext cx="6136451" cy="681262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</p:grpSpPr>
        <p:grpSp>
          <p:nvGrpSpPr>
            <p:cNvPr id="18" name="组合 17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" name="组合 18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20" name="组合 19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3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24"/>
            <a:ext cx="12193057" cy="3633531"/>
          </a:xfrm>
          <a:prstGeom prst="rect">
            <a:avLst/>
          </a:prstGeom>
        </p:spPr>
      </p:pic>
      <p:sp>
        <p:nvSpPr>
          <p:cNvPr id="37" name="任意形状 36"/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0" y="0"/>
            <a:ext cx="12192000" cy="1632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502191" y="3048198"/>
            <a:ext cx="1193467" cy="1192626"/>
          </a:xfrm>
          <a:prstGeom prst="rect">
            <a:avLst/>
          </a:prstGeom>
        </p:spPr>
      </p:pic>
      <p:sp>
        <p:nvSpPr>
          <p:cNvPr id="43" name="文本框 42"/>
          <p:cNvSpPr txBox="1"/>
          <p:nvPr userDrawn="1"/>
        </p:nvSpPr>
        <p:spPr>
          <a:xfrm>
            <a:off x="150844" y="617414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44" name="组合 43"/>
          <p:cNvGrpSpPr/>
          <p:nvPr userDrawn="1"/>
        </p:nvGrpSpPr>
        <p:grpSpPr>
          <a:xfrm>
            <a:off x="10083479" y="640064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45" name="组合 4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5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61" name="组合 6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6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2" name="组合 6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6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47" name="组合 4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5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5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5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7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222990" y="1401505"/>
            <a:ext cx="3746000" cy="104851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7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453730" y="4619682"/>
            <a:ext cx="3284503" cy="72219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b="7394"/>
          <a:stretch>
            <a:fillRect/>
          </a:stretch>
        </p:blipFill>
        <p:spPr>
          <a:xfrm>
            <a:off x="-3165" y="0"/>
            <a:ext cx="1219198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10" y="1"/>
            <a:ext cx="12191980" cy="6857994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  <a:lumMod val="85000"/>
                </a:schemeClr>
              </a:gs>
              <a:gs pos="50000">
                <a:schemeClr val="accent1">
                  <a:alpha val="90000"/>
                  <a:lumMod val="85000"/>
                </a:schemeClr>
              </a:gs>
              <a:gs pos="100000">
                <a:schemeClr val="accent1">
                  <a:alpha val="90000"/>
                  <a:lumMod val="8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  <a:buFontTx/>
              <a:buNone/>
            </a:pPr>
            <a:endParaRPr lang="zh-CN" altLang="en-US"/>
          </a:p>
        </p:txBody>
      </p:sp>
      <p:sp>
        <p:nvSpPr>
          <p:cNvPr id="6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72100" y="3028371"/>
            <a:ext cx="9041450" cy="911074"/>
          </a:xfrm>
        </p:spPr>
        <p:txBody>
          <a:bodyPr/>
          <a:lstStyle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北京理工大学毕业答辩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767417" y="1018488"/>
            <a:ext cx="4650816" cy="1301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81566"/>
            <a:ext cx="12192000" cy="3244934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3317875"/>
            <a:ext cx="12192000" cy="354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6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 bwMode="auto">
          <a:xfrm>
            <a:off x="9790632" y="109143"/>
            <a:ext cx="2286546" cy="297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24285" y="-494144"/>
            <a:ext cx="3165893" cy="41243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5089582"/>
            <a:chOff x="0" y="0"/>
            <a:chExt cx="12192000" cy="5089582"/>
          </a:xfrm>
          <a:solidFill>
            <a:schemeClr val="accent1"/>
          </a:solidFill>
        </p:grpSpPr>
        <p:sp>
          <p:nvSpPr>
            <p:cNvPr id="3" name="等腰三角形 2"/>
            <p:cNvSpPr/>
            <p:nvPr/>
          </p:nvSpPr>
          <p:spPr>
            <a:xfrm flipV="1">
              <a:off x="0" y="4123423"/>
              <a:ext cx="12192000" cy="966159"/>
            </a:xfrm>
            <a:prstGeom prst="triangle">
              <a:avLst/>
            </a:prstGeom>
            <a:grpFill/>
            <a:ln>
              <a:noFill/>
            </a:ln>
            <a:effectLst>
              <a:outerShdw blurRad="76200" dist="127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0"/>
              <a:ext cx="12192000" cy="41234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1866428" y="1872369"/>
            <a:ext cx="8481919" cy="863927"/>
            <a:chOff x="1797415" y="1328902"/>
            <a:chExt cx="8481919" cy="863927"/>
          </a:xfrm>
        </p:grpSpPr>
        <p:grpSp>
          <p:nvGrpSpPr>
            <p:cNvPr id="6" name="组合 5"/>
            <p:cNvGrpSpPr/>
            <p:nvPr/>
          </p:nvGrpSpPr>
          <p:grpSpPr>
            <a:xfrm>
              <a:off x="6886532" y="1337094"/>
              <a:ext cx="3392802" cy="846135"/>
              <a:chOff x="10340336" y="2247899"/>
              <a:chExt cx="2724438" cy="679451"/>
            </a:xfrm>
          </p:grpSpPr>
          <p:sp>
            <p:nvSpPr>
              <p:cNvPr id="2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solidFill>
                <a:schemeClr val="bg1"/>
              </a:solidFill>
            </p:grpSpPr>
            <p:sp>
              <p:nvSpPr>
                <p:cNvPr id="2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solidFill>
                <a:schemeClr val="bg1"/>
              </a:solidFill>
            </p:grpSpPr>
            <p:sp>
              <p:nvSpPr>
                <p:cNvPr id="2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>
              <a:off x="1797415" y="1328902"/>
              <a:ext cx="3445163" cy="863927"/>
              <a:chOff x="6738929" y="2270918"/>
              <a:chExt cx="2766486" cy="693738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solidFill>
                <a:schemeClr val="bg1"/>
              </a:solidFill>
            </p:grpSpPr>
            <p:sp>
              <p:nvSpPr>
                <p:cNvPr id="1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solidFill>
                <a:schemeClr val="bg1"/>
              </a:solidFill>
            </p:grpSpPr>
            <p:sp>
              <p:nvSpPr>
                <p:cNvPr id="1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solidFill>
                <a:schemeClr val="bg1"/>
              </a:solidFill>
            </p:grpSpPr>
            <p:sp>
              <p:nvSpPr>
                <p:cNvPr id="1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/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15558" b="38705"/>
          <a:stretch>
            <a:fillRect/>
          </a:stretch>
        </p:blipFill>
        <p:spPr>
          <a:xfrm>
            <a:off x="1" y="0"/>
            <a:ext cx="12192000" cy="2290219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-81481" y="2289050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723340" y="1294827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723340" y="5613415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 cstate="screen"/>
          <a:srcRect l="49471"/>
          <a:stretch>
            <a:fillRect/>
          </a:stretch>
        </p:blipFill>
        <p:spPr>
          <a:xfrm>
            <a:off x="-34506" y="163259"/>
            <a:ext cx="3298317" cy="65314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screen"/>
          <a:srcRect r="49912"/>
          <a:stretch>
            <a:fillRect/>
          </a:stretch>
        </p:blipFill>
        <p:spPr>
          <a:xfrm>
            <a:off x="8928190" y="163258"/>
            <a:ext cx="3269562" cy="65314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 rot="16200000">
            <a:off x="-1538864" y="2653429"/>
            <a:ext cx="52296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spc="5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Contents</a:t>
            </a:r>
            <a:r>
              <a:rPr lang="en-US" altLang="zh-CN" sz="4400" b="1" spc="50" dirty="0">
                <a:solidFill>
                  <a:schemeClr val="accent4"/>
                </a:solidFill>
                <a:latin typeface="+mj-lt"/>
              </a:rPr>
              <a:t>■</a:t>
            </a:r>
            <a:endParaRPr lang="zh-CN" altLang="en-US" sz="4400" b="1" spc="5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116549" y="3752395"/>
            <a:ext cx="738664" cy="224676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600" b="1" spc="600" dirty="0">
                <a:solidFill>
                  <a:schemeClr val="accent1"/>
                </a:solidFill>
              </a:rPr>
              <a:t>结构大纲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519824" y="6600901"/>
            <a:ext cx="25234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000" spc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</a:t>
            </a:r>
            <a:r>
              <a:rPr lang="en-US" altLang="zh-CN" sz="1000" spc="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INSTITUTE OF TECHNOLOGY</a:t>
            </a:r>
            <a:endParaRPr lang="zh-CN" altLang="en-US" sz="1000" spc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041148" y="78493"/>
            <a:ext cx="2025400" cy="566914"/>
          </a:xfrm>
          <a:prstGeom prst="rect">
            <a:avLst/>
          </a:prstGeom>
        </p:spPr>
      </p:pic>
      <p:sp>
        <p:nvSpPr>
          <p:cNvPr id="82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84" name="矩形 83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86" name="组合 85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7" name="组合 86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88" name="组合 8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9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r="20215"/>
          <a:stretch>
            <a:fillRect/>
          </a:stretch>
        </p:blipFill>
        <p:spPr>
          <a:xfrm>
            <a:off x="6592525" y="0"/>
            <a:ext cx="5609371" cy="6765696"/>
          </a:xfrm>
          <a:prstGeom prst="rect">
            <a:avLst/>
          </a:prstGeom>
        </p:spPr>
      </p:pic>
      <p:sp>
        <p:nvSpPr>
          <p:cNvPr id="63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65" name="矩形 64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6" name="组合 6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1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3" name="组合 82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88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9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4" name="组合 83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85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7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8" name="组合 6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79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0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77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8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74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5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2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r="30571" b="46397"/>
          <a:stretch>
            <a:fillRect/>
          </a:stretch>
        </p:blipFill>
        <p:spPr>
          <a:xfrm>
            <a:off x="9019185" y="4400550"/>
            <a:ext cx="3194586" cy="24693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4398806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63500" dir="540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-71956" y="4398806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sp>
        <p:nvSpPr>
          <p:cNvPr id="18" name="矩形: 圆角 162"/>
          <p:cNvSpPr/>
          <p:nvPr userDrawn="1"/>
        </p:nvSpPr>
        <p:spPr>
          <a:xfrm>
            <a:off x="1664486" y="3107981"/>
            <a:ext cx="8945408" cy="3014890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8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: 圆角 163"/>
          <p:cNvSpPr/>
          <p:nvPr userDrawn="1"/>
        </p:nvSpPr>
        <p:spPr>
          <a:xfrm>
            <a:off x="1463942" y="3222979"/>
            <a:ext cx="9346497" cy="2899892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94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: 圆角 164"/>
          <p:cNvSpPr/>
          <p:nvPr userDrawn="1"/>
        </p:nvSpPr>
        <p:spPr>
          <a:xfrm>
            <a:off x="1200150" y="3365257"/>
            <a:ext cx="9791700" cy="2757614"/>
          </a:xfrm>
          <a:prstGeom prst="roundRect">
            <a:avLst>
              <a:gd name="adj" fmla="val 3205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rgbClr val="F8F8F8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sysClr val="window" lastClr="FFFFFF">
                <a:lumMod val="7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<a:noAutofit/>
          </a:bodyPr>
          <a:lstStyle/>
          <a:p>
            <a:pPr marL="0" marR="0" lvl="0" indent="45720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l="29063" r="32938"/>
          <a:stretch>
            <a:fillRect/>
          </a:stretch>
        </p:blipFill>
        <p:spPr>
          <a:xfrm>
            <a:off x="0" y="0"/>
            <a:ext cx="3914775" cy="6857999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1"/>
            <a:ext cx="3914775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0"/>
            <a:ext cx="3914774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396045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3961505" y="2797003"/>
            <a:ext cx="122686" cy="1263995"/>
            <a:chOff x="4630742" y="2258287"/>
            <a:chExt cx="122686" cy="1263995"/>
          </a:xfrm>
          <a:solidFill>
            <a:schemeClr val="accent4"/>
          </a:solidFill>
        </p:grpSpPr>
        <p:sp>
          <p:nvSpPr>
            <p:cNvPr id="22" name="等腰三角形 21"/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/>
          <p:cNvCxnSpPr/>
          <p:nvPr userDrawn="1"/>
        </p:nvCxnSpPr>
        <p:spPr>
          <a:xfrm>
            <a:off x="1053541" y="2793542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 userDrawn="1"/>
        </p:nvSpPr>
        <p:spPr>
          <a:xfrm>
            <a:off x="846867" y="2752385"/>
            <a:ext cx="2197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zh-CN" altLang="en-US" sz="5400" spc="600" dirty="0">
                <a:solidFill>
                  <a:schemeClr val="bg1"/>
                </a:solidFill>
                <a:latin typeface="+mn-ea"/>
                <a:ea typeface="+mn-ea"/>
              </a:rPr>
              <a:t>目录</a:t>
            </a:r>
          </a:p>
        </p:txBody>
      </p:sp>
      <p:sp>
        <p:nvSpPr>
          <p:cNvPr id="44" name="矩形 43"/>
          <p:cNvSpPr/>
          <p:nvPr userDrawn="1"/>
        </p:nvSpPr>
        <p:spPr>
          <a:xfrm>
            <a:off x="963806" y="3595872"/>
            <a:ext cx="1906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en-US" altLang="zh-CN" sz="2400" dirty="0">
                <a:solidFill>
                  <a:schemeClr val="bg1"/>
                </a:solidFill>
              </a:rPr>
              <a:t>CONTENTS</a:t>
            </a:r>
          </a:p>
        </p:txBody>
      </p:sp>
      <p:cxnSp>
        <p:nvCxnSpPr>
          <p:cNvPr id="45" name="直接连接符 44"/>
          <p:cNvCxnSpPr/>
          <p:nvPr userDrawn="1"/>
        </p:nvCxnSpPr>
        <p:spPr>
          <a:xfrm>
            <a:off x="1053541" y="4060998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64854" y="2218510"/>
            <a:ext cx="1715719" cy="4802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 cstate="screen"/>
          <a:srcRect r="15912" b="16285"/>
          <a:stretch>
            <a:fillRect/>
          </a:stretch>
        </p:blipFill>
        <p:spPr>
          <a:xfrm>
            <a:off x="7258050" y="1942165"/>
            <a:ext cx="4949784" cy="493364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2">
    <p:bg>
      <p:bgPr>
        <a:gradFill>
          <a:gsLst>
            <a:gs pos="25000">
              <a:schemeClr val="accent1">
                <a:alpha val="0"/>
              </a:schemeClr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493231"/>
            <a:ext cx="5251028" cy="5254131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6943725" y="0"/>
            <a:ext cx="5248273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 userDrawn="1"/>
        </p:nvSpPr>
        <p:spPr>
          <a:xfrm>
            <a:off x="660400" y="6054314"/>
            <a:ext cx="2014538" cy="1438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第几部分 ▶</a:t>
            </a:r>
          </a:p>
        </p:txBody>
      </p:sp>
      <p:sp>
        <p:nvSpPr>
          <p:cNvPr id="122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420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</a:p>
        </p:txBody>
      </p:sp>
      <p:sp>
        <p:nvSpPr>
          <p:cNvPr id="123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</a:p>
          <a:p>
            <a:pPr lvl="0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167300"/>
            <a:ext cx="12192000" cy="690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grpSp>
        <p:nvGrpSpPr>
          <p:cNvPr id="115" name="组合 114"/>
          <p:cNvGrpSpPr/>
          <p:nvPr userDrawn="1"/>
        </p:nvGrpSpPr>
        <p:grpSpPr>
          <a:xfrm>
            <a:off x="684666" y="6423435"/>
            <a:ext cx="1915659" cy="208321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117" name="组合 11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34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36" name="组合 135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4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" name="组合 136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38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9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0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8" name="组合 11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9" name="组合 11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13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1" name="组合 1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3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4" name="组合 123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2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25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143" name="图片 14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203766" y="6386257"/>
            <a:ext cx="1257421" cy="27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2041996" y="3927615"/>
            <a:ext cx="8108006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473992" y="3927615"/>
            <a:ext cx="9244014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l="1" t="13078" r="-1" b="115"/>
          <a:stretch>
            <a:fillRect/>
          </a:stretch>
        </p:blipFill>
        <p:spPr>
          <a:xfrm>
            <a:off x="0" y="-1"/>
            <a:ext cx="12191999" cy="4362681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4346687"/>
            <a:ext cx="12192001" cy="251131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4346687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936" y="4346687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828800" y="2524126"/>
            <a:ext cx="8494006" cy="356807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69" name="图片 68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861200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7423183" y="0"/>
            <a:ext cx="4768815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5" name="文本框 44"/>
          <p:cNvSpPr txBox="1"/>
          <p:nvPr userDrawn="1"/>
        </p:nvSpPr>
        <p:spPr>
          <a:xfrm>
            <a:off x="-2647787" y="-2281727"/>
            <a:ext cx="603192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0" dirty="0">
                <a:solidFill>
                  <a:schemeClr val="bg1">
                    <a:alpha val="40000"/>
                  </a:schemeClr>
                </a:solidFill>
              </a:rPr>
              <a:t>0</a:t>
            </a:r>
            <a:endParaRPr lang="zh-CN" altLang="en-US" sz="72000" dirty="0">
              <a:solidFill>
                <a:schemeClr val="bg1">
                  <a:alpha val="40000"/>
                </a:schemeClr>
              </a:solidFill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870981" y="0"/>
            <a:ext cx="5321017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  <p:grpSp>
        <p:nvGrpSpPr>
          <p:cNvPr id="9" name="Group 6"/>
          <p:cNvGrpSpPr/>
          <p:nvPr userDrawn="1"/>
        </p:nvGrpSpPr>
        <p:grpSpPr bwMode="auto">
          <a:xfrm>
            <a:off x="778934" y="687917"/>
            <a:ext cx="3299884" cy="5425016"/>
            <a:chOff x="0" y="0"/>
            <a:chExt cx="2476153" cy="4069266"/>
          </a:xfrm>
          <a:solidFill>
            <a:schemeClr val="bg1">
              <a:alpha val="25000"/>
            </a:schemeClr>
          </a:solidFill>
        </p:grpSpPr>
        <p:sp>
          <p:nvSpPr>
            <p:cNvPr id="10" name="矩形 3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" name="矩形 4"/>
            <p:cNvSpPr>
              <a:spLocks noChangeArrowheads="1"/>
            </p:cNvSpPr>
            <p:nvPr/>
          </p:nvSpPr>
          <p:spPr bwMode="auto">
            <a:xfrm>
              <a:off x="437624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4" name="矩形 5"/>
            <p:cNvSpPr>
              <a:spLocks noChangeArrowheads="1"/>
            </p:cNvSpPr>
            <p:nvPr/>
          </p:nvSpPr>
          <p:spPr bwMode="auto">
            <a:xfrm>
              <a:off x="875248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1312872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矩形 7"/>
            <p:cNvSpPr>
              <a:spLocks noChangeArrowheads="1"/>
            </p:cNvSpPr>
            <p:nvPr/>
          </p:nvSpPr>
          <p:spPr bwMode="auto">
            <a:xfrm>
              <a:off x="1750496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矩形 8"/>
            <p:cNvSpPr>
              <a:spLocks noChangeArrowheads="1"/>
            </p:cNvSpPr>
            <p:nvPr/>
          </p:nvSpPr>
          <p:spPr bwMode="auto">
            <a:xfrm>
              <a:off x="2188121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矩形 59"/>
            <p:cNvSpPr>
              <a:spLocks noChangeArrowheads="1"/>
            </p:cNvSpPr>
            <p:nvPr/>
          </p:nvSpPr>
          <p:spPr bwMode="auto">
            <a:xfrm>
              <a:off x="0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矩形 60"/>
            <p:cNvSpPr>
              <a:spLocks noChangeArrowheads="1"/>
            </p:cNvSpPr>
            <p:nvPr/>
          </p:nvSpPr>
          <p:spPr bwMode="auto">
            <a:xfrm>
              <a:off x="437624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矩形 61"/>
            <p:cNvSpPr>
              <a:spLocks noChangeArrowheads="1"/>
            </p:cNvSpPr>
            <p:nvPr/>
          </p:nvSpPr>
          <p:spPr bwMode="auto">
            <a:xfrm>
              <a:off x="875248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矩形 62"/>
            <p:cNvSpPr>
              <a:spLocks noChangeArrowheads="1"/>
            </p:cNvSpPr>
            <p:nvPr/>
          </p:nvSpPr>
          <p:spPr bwMode="auto">
            <a:xfrm>
              <a:off x="1312872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矩形 63"/>
            <p:cNvSpPr>
              <a:spLocks noChangeArrowheads="1"/>
            </p:cNvSpPr>
            <p:nvPr/>
          </p:nvSpPr>
          <p:spPr bwMode="auto">
            <a:xfrm>
              <a:off x="1750496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矩形 64"/>
            <p:cNvSpPr>
              <a:spLocks noChangeArrowheads="1"/>
            </p:cNvSpPr>
            <p:nvPr/>
          </p:nvSpPr>
          <p:spPr bwMode="auto">
            <a:xfrm>
              <a:off x="2188121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矩形 66"/>
            <p:cNvSpPr>
              <a:spLocks noChangeArrowheads="1"/>
            </p:cNvSpPr>
            <p:nvPr/>
          </p:nvSpPr>
          <p:spPr bwMode="auto">
            <a:xfrm>
              <a:off x="0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矩形 67"/>
            <p:cNvSpPr>
              <a:spLocks noChangeArrowheads="1"/>
            </p:cNvSpPr>
            <p:nvPr/>
          </p:nvSpPr>
          <p:spPr bwMode="auto">
            <a:xfrm>
              <a:off x="437624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矩形 68"/>
            <p:cNvSpPr>
              <a:spLocks noChangeArrowheads="1"/>
            </p:cNvSpPr>
            <p:nvPr/>
          </p:nvSpPr>
          <p:spPr bwMode="auto">
            <a:xfrm>
              <a:off x="875248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矩形 69"/>
            <p:cNvSpPr>
              <a:spLocks noChangeArrowheads="1"/>
            </p:cNvSpPr>
            <p:nvPr/>
          </p:nvSpPr>
          <p:spPr bwMode="auto">
            <a:xfrm>
              <a:off x="1312872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矩形 70"/>
            <p:cNvSpPr>
              <a:spLocks noChangeArrowheads="1"/>
            </p:cNvSpPr>
            <p:nvPr/>
          </p:nvSpPr>
          <p:spPr bwMode="auto">
            <a:xfrm>
              <a:off x="1750496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矩形 71"/>
            <p:cNvSpPr>
              <a:spLocks noChangeArrowheads="1"/>
            </p:cNvSpPr>
            <p:nvPr/>
          </p:nvSpPr>
          <p:spPr bwMode="auto">
            <a:xfrm>
              <a:off x="2188121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矩形 73"/>
            <p:cNvSpPr>
              <a:spLocks noChangeArrowheads="1"/>
            </p:cNvSpPr>
            <p:nvPr/>
          </p:nvSpPr>
          <p:spPr bwMode="auto">
            <a:xfrm>
              <a:off x="0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矩形 74"/>
            <p:cNvSpPr>
              <a:spLocks noChangeArrowheads="1"/>
            </p:cNvSpPr>
            <p:nvPr/>
          </p:nvSpPr>
          <p:spPr bwMode="auto">
            <a:xfrm>
              <a:off x="437624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矩形 75"/>
            <p:cNvSpPr>
              <a:spLocks noChangeArrowheads="1"/>
            </p:cNvSpPr>
            <p:nvPr/>
          </p:nvSpPr>
          <p:spPr bwMode="auto">
            <a:xfrm>
              <a:off x="875248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矩形 76"/>
            <p:cNvSpPr>
              <a:spLocks noChangeArrowheads="1"/>
            </p:cNvSpPr>
            <p:nvPr/>
          </p:nvSpPr>
          <p:spPr bwMode="auto">
            <a:xfrm>
              <a:off x="1312872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矩形 77"/>
            <p:cNvSpPr>
              <a:spLocks noChangeArrowheads="1"/>
            </p:cNvSpPr>
            <p:nvPr/>
          </p:nvSpPr>
          <p:spPr bwMode="auto">
            <a:xfrm>
              <a:off x="1750496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矩形 78"/>
            <p:cNvSpPr>
              <a:spLocks noChangeArrowheads="1"/>
            </p:cNvSpPr>
            <p:nvPr/>
          </p:nvSpPr>
          <p:spPr bwMode="auto">
            <a:xfrm>
              <a:off x="2188121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矩形 80"/>
            <p:cNvSpPr>
              <a:spLocks noChangeArrowheads="1"/>
            </p:cNvSpPr>
            <p:nvPr/>
          </p:nvSpPr>
          <p:spPr bwMode="auto">
            <a:xfrm>
              <a:off x="0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矩形 81"/>
            <p:cNvSpPr>
              <a:spLocks noChangeArrowheads="1"/>
            </p:cNvSpPr>
            <p:nvPr/>
          </p:nvSpPr>
          <p:spPr bwMode="auto">
            <a:xfrm>
              <a:off x="437624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矩形 82"/>
            <p:cNvSpPr>
              <a:spLocks noChangeArrowheads="1"/>
            </p:cNvSpPr>
            <p:nvPr/>
          </p:nvSpPr>
          <p:spPr bwMode="auto">
            <a:xfrm>
              <a:off x="875248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矩形 83"/>
            <p:cNvSpPr>
              <a:spLocks noChangeArrowheads="1"/>
            </p:cNvSpPr>
            <p:nvPr/>
          </p:nvSpPr>
          <p:spPr bwMode="auto">
            <a:xfrm>
              <a:off x="1312872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矩形 84"/>
            <p:cNvSpPr>
              <a:spLocks noChangeArrowheads="1"/>
            </p:cNvSpPr>
            <p:nvPr/>
          </p:nvSpPr>
          <p:spPr bwMode="auto">
            <a:xfrm>
              <a:off x="1750496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矩形 85"/>
            <p:cNvSpPr>
              <a:spLocks noChangeArrowheads="1"/>
            </p:cNvSpPr>
            <p:nvPr/>
          </p:nvSpPr>
          <p:spPr bwMode="auto">
            <a:xfrm>
              <a:off x="2188121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矩形 87"/>
            <p:cNvSpPr>
              <a:spLocks noChangeArrowheads="1"/>
            </p:cNvSpPr>
            <p:nvPr/>
          </p:nvSpPr>
          <p:spPr bwMode="auto">
            <a:xfrm>
              <a:off x="0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" name="矩形 88"/>
            <p:cNvSpPr>
              <a:spLocks noChangeArrowheads="1"/>
            </p:cNvSpPr>
            <p:nvPr/>
          </p:nvSpPr>
          <p:spPr bwMode="auto">
            <a:xfrm>
              <a:off x="437624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矩形 89"/>
            <p:cNvSpPr>
              <a:spLocks noChangeArrowheads="1"/>
            </p:cNvSpPr>
            <p:nvPr/>
          </p:nvSpPr>
          <p:spPr bwMode="auto">
            <a:xfrm>
              <a:off x="875248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矩形 90"/>
            <p:cNvSpPr>
              <a:spLocks noChangeArrowheads="1"/>
            </p:cNvSpPr>
            <p:nvPr/>
          </p:nvSpPr>
          <p:spPr bwMode="auto">
            <a:xfrm>
              <a:off x="1312872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0" name="矩形 91"/>
            <p:cNvSpPr>
              <a:spLocks noChangeArrowheads="1"/>
            </p:cNvSpPr>
            <p:nvPr/>
          </p:nvSpPr>
          <p:spPr bwMode="auto">
            <a:xfrm>
              <a:off x="1750496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1" name="矩形 92"/>
            <p:cNvSpPr>
              <a:spLocks noChangeArrowheads="1"/>
            </p:cNvSpPr>
            <p:nvPr/>
          </p:nvSpPr>
          <p:spPr bwMode="auto">
            <a:xfrm>
              <a:off x="2188121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2" name="矩形 94"/>
            <p:cNvSpPr>
              <a:spLocks noChangeArrowheads="1"/>
            </p:cNvSpPr>
            <p:nvPr/>
          </p:nvSpPr>
          <p:spPr bwMode="auto">
            <a:xfrm>
              <a:off x="0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3" name="矩形 95"/>
            <p:cNvSpPr>
              <a:spLocks noChangeArrowheads="1"/>
            </p:cNvSpPr>
            <p:nvPr/>
          </p:nvSpPr>
          <p:spPr bwMode="auto">
            <a:xfrm>
              <a:off x="437624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矩形 96"/>
            <p:cNvSpPr>
              <a:spLocks noChangeArrowheads="1"/>
            </p:cNvSpPr>
            <p:nvPr/>
          </p:nvSpPr>
          <p:spPr bwMode="auto">
            <a:xfrm>
              <a:off x="875248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5" name="矩形 97"/>
            <p:cNvSpPr>
              <a:spLocks noChangeArrowheads="1"/>
            </p:cNvSpPr>
            <p:nvPr/>
          </p:nvSpPr>
          <p:spPr bwMode="auto">
            <a:xfrm>
              <a:off x="1312872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6" name="矩形 98"/>
            <p:cNvSpPr>
              <a:spLocks noChangeArrowheads="1"/>
            </p:cNvSpPr>
            <p:nvPr/>
          </p:nvSpPr>
          <p:spPr bwMode="auto">
            <a:xfrm>
              <a:off x="1750496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7" name="矩形 99"/>
            <p:cNvSpPr>
              <a:spLocks noChangeArrowheads="1"/>
            </p:cNvSpPr>
            <p:nvPr/>
          </p:nvSpPr>
          <p:spPr bwMode="auto">
            <a:xfrm>
              <a:off x="2188121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8" name="矩形 101"/>
            <p:cNvSpPr>
              <a:spLocks noChangeArrowheads="1"/>
            </p:cNvSpPr>
            <p:nvPr/>
          </p:nvSpPr>
          <p:spPr bwMode="auto">
            <a:xfrm>
              <a:off x="0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9" name="矩形 102"/>
            <p:cNvSpPr>
              <a:spLocks noChangeArrowheads="1"/>
            </p:cNvSpPr>
            <p:nvPr/>
          </p:nvSpPr>
          <p:spPr bwMode="auto">
            <a:xfrm>
              <a:off x="437624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0" name="矩形 103"/>
            <p:cNvSpPr>
              <a:spLocks noChangeArrowheads="1"/>
            </p:cNvSpPr>
            <p:nvPr/>
          </p:nvSpPr>
          <p:spPr bwMode="auto">
            <a:xfrm>
              <a:off x="875248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" name="矩形 104"/>
            <p:cNvSpPr>
              <a:spLocks noChangeArrowheads="1"/>
            </p:cNvSpPr>
            <p:nvPr/>
          </p:nvSpPr>
          <p:spPr bwMode="auto">
            <a:xfrm>
              <a:off x="1312872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矩形 105"/>
            <p:cNvSpPr>
              <a:spLocks noChangeArrowheads="1"/>
            </p:cNvSpPr>
            <p:nvPr/>
          </p:nvSpPr>
          <p:spPr bwMode="auto">
            <a:xfrm>
              <a:off x="1750496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矩形 106"/>
            <p:cNvSpPr>
              <a:spLocks noChangeArrowheads="1"/>
            </p:cNvSpPr>
            <p:nvPr/>
          </p:nvSpPr>
          <p:spPr bwMode="auto">
            <a:xfrm>
              <a:off x="2188121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矩形 108"/>
            <p:cNvSpPr>
              <a:spLocks noChangeArrowheads="1"/>
            </p:cNvSpPr>
            <p:nvPr/>
          </p:nvSpPr>
          <p:spPr bwMode="auto">
            <a:xfrm>
              <a:off x="0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矩形 109"/>
            <p:cNvSpPr>
              <a:spLocks noChangeArrowheads="1"/>
            </p:cNvSpPr>
            <p:nvPr/>
          </p:nvSpPr>
          <p:spPr bwMode="auto">
            <a:xfrm>
              <a:off x="437624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6" name="矩形 110"/>
            <p:cNvSpPr>
              <a:spLocks noChangeArrowheads="1"/>
            </p:cNvSpPr>
            <p:nvPr/>
          </p:nvSpPr>
          <p:spPr bwMode="auto">
            <a:xfrm>
              <a:off x="875248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7" name="矩形 111"/>
            <p:cNvSpPr>
              <a:spLocks noChangeArrowheads="1"/>
            </p:cNvSpPr>
            <p:nvPr/>
          </p:nvSpPr>
          <p:spPr bwMode="auto">
            <a:xfrm>
              <a:off x="1312872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8" name="矩形 112"/>
            <p:cNvSpPr>
              <a:spLocks noChangeArrowheads="1"/>
            </p:cNvSpPr>
            <p:nvPr/>
          </p:nvSpPr>
          <p:spPr bwMode="auto">
            <a:xfrm>
              <a:off x="1750496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9" name="矩形 113"/>
            <p:cNvSpPr>
              <a:spLocks noChangeArrowheads="1"/>
            </p:cNvSpPr>
            <p:nvPr/>
          </p:nvSpPr>
          <p:spPr bwMode="auto">
            <a:xfrm>
              <a:off x="2188121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0" name="矩形 115"/>
            <p:cNvSpPr>
              <a:spLocks noChangeArrowheads="1"/>
            </p:cNvSpPr>
            <p:nvPr/>
          </p:nvSpPr>
          <p:spPr bwMode="auto">
            <a:xfrm>
              <a:off x="0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" name="矩形 116"/>
            <p:cNvSpPr>
              <a:spLocks noChangeArrowheads="1"/>
            </p:cNvSpPr>
            <p:nvPr/>
          </p:nvSpPr>
          <p:spPr bwMode="auto">
            <a:xfrm>
              <a:off x="437624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2" name="矩形 117"/>
            <p:cNvSpPr>
              <a:spLocks noChangeArrowheads="1"/>
            </p:cNvSpPr>
            <p:nvPr/>
          </p:nvSpPr>
          <p:spPr bwMode="auto">
            <a:xfrm>
              <a:off x="875248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3" name="矩形 118"/>
            <p:cNvSpPr>
              <a:spLocks noChangeArrowheads="1"/>
            </p:cNvSpPr>
            <p:nvPr/>
          </p:nvSpPr>
          <p:spPr bwMode="auto">
            <a:xfrm>
              <a:off x="1312872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4" name="矩形 119"/>
            <p:cNvSpPr>
              <a:spLocks noChangeArrowheads="1"/>
            </p:cNvSpPr>
            <p:nvPr/>
          </p:nvSpPr>
          <p:spPr bwMode="auto">
            <a:xfrm>
              <a:off x="1750496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5" name="矩形 120"/>
            <p:cNvSpPr>
              <a:spLocks noChangeArrowheads="1"/>
            </p:cNvSpPr>
            <p:nvPr/>
          </p:nvSpPr>
          <p:spPr bwMode="auto">
            <a:xfrm>
              <a:off x="2188121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17309" y="362097"/>
            <a:ext cx="8643848" cy="5909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36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cxnSp>
        <p:nvCxnSpPr>
          <p:cNvPr id="87" name="直接连接符 86"/>
          <p:cNvCxnSpPr/>
          <p:nvPr userDrawn="1"/>
        </p:nvCxnSpPr>
        <p:spPr>
          <a:xfrm>
            <a:off x="442913" y="957831"/>
            <a:ext cx="1130617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77585" y="334397"/>
            <a:ext cx="1871503" cy="561768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447254" y="957831"/>
            <a:ext cx="7808986" cy="94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11792769" y="56260"/>
            <a:ext cx="3632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>
              <a:defRPr/>
            </a:pPr>
            <a:fld id="{ED856349-79DF-4269-BEE4-3014BAD1A95F}" type="slidenum">
              <a:rPr lang="en-US" altLang="zh-CN" sz="1400" b="1" smtClean="0">
                <a:solidFill>
                  <a:srgbClr val="404040"/>
                </a:solidFill>
              </a:rPr>
              <a:t>‹#›</a:t>
            </a:fld>
            <a:endParaRPr lang="zh-CN" altLang="en-US" sz="14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72" name="组合 71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73" name="组合 7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9" name="组合 8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4" name="组合 7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75" name="组合 7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6" name="组合 7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8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227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/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/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/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8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5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2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6" name="组合 15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6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4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1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9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4214818"/>
            <a:ext cx="8534400" cy="14239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11049000" y="6492876"/>
            <a:ext cx="1143000" cy="365125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prstClr val="black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91EDFD1-D3AB-4518-98BC-E386A1BB961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TextBox 11"/>
          <p:cNvSpPr txBox="1">
            <a:spLocks noChangeArrowheads="1"/>
          </p:cNvSpPr>
          <p:nvPr userDrawn="1"/>
        </p:nvSpPr>
        <p:spPr bwMode="auto">
          <a:xfrm>
            <a:off x="11620500" y="116632"/>
            <a:ext cx="3632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>
              <a:defRPr/>
            </a:pPr>
            <a:fld id="{ED856349-79DF-4269-BEE4-3014BAD1A95F}" type="slidenum">
              <a:rPr lang="en-US" altLang="zh-CN" sz="1400" b="1" smtClean="0">
                <a:solidFill>
                  <a:srgbClr val="404040"/>
                </a:solidFill>
              </a:rPr>
              <a:t>‹#›</a:t>
            </a:fld>
            <a:endParaRPr lang="zh-CN" altLang="en-US" sz="14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椭圆 88"/>
          <p:cNvSpPr/>
          <p:nvPr userDrawn="1"/>
        </p:nvSpPr>
        <p:spPr>
          <a:xfrm>
            <a:off x="-3625080" y="-1541834"/>
            <a:ext cx="8697505" cy="9941668"/>
          </a:xfrm>
          <a:prstGeom prst="ellipse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8" name="椭圆 87"/>
          <p:cNvSpPr/>
          <p:nvPr userDrawn="1"/>
        </p:nvSpPr>
        <p:spPr>
          <a:xfrm>
            <a:off x="-3999568" y="-1541834"/>
            <a:ext cx="8697505" cy="994166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87" name="图片 8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09587" y="1"/>
            <a:ext cx="5507524" cy="6857999"/>
          </a:xfrm>
          <a:custGeom>
            <a:avLst/>
            <a:gdLst>
              <a:gd name="connsiteX0" fmla="*/ 0 w 5919101"/>
              <a:gd name="connsiteY0" fmla="*/ 0 h 6858000"/>
              <a:gd name="connsiteX1" fmla="*/ 4714485 w 5919101"/>
              <a:gd name="connsiteY1" fmla="*/ 0 h 6858000"/>
              <a:gd name="connsiteX2" fmla="*/ 4786974 w 5919101"/>
              <a:gd name="connsiteY2" fmla="*/ 86723 h 6858000"/>
              <a:gd name="connsiteX3" fmla="*/ 5919101 w 5919101"/>
              <a:gd name="connsiteY3" fmla="*/ 3429000 h 6858000"/>
              <a:gd name="connsiteX4" fmla="*/ 4786974 w 5919101"/>
              <a:gd name="connsiteY4" fmla="*/ 6771277 h 6858000"/>
              <a:gd name="connsiteX5" fmla="*/ 4714485 w 5919101"/>
              <a:gd name="connsiteY5" fmla="*/ 6858000 h 6858000"/>
              <a:gd name="connsiteX6" fmla="*/ 0 w 59191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9101" h="6858000">
                <a:moveTo>
                  <a:pt x="0" y="0"/>
                </a:moveTo>
                <a:lnTo>
                  <a:pt x="4714485" y="0"/>
                </a:lnTo>
                <a:lnTo>
                  <a:pt x="4786974" y="86723"/>
                </a:lnTo>
                <a:cubicBezTo>
                  <a:pt x="5490384" y="969480"/>
                  <a:pt x="5919101" y="2142133"/>
                  <a:pt x="5919101" y="3429000"/>
                </a:cubicBezTo>
                <a:cubicBezTo>
                  <a:pt x="5919101" y="4715867"/>
                  <a:pt x="5490384" y="5888521"/>
                  <a:pt x="4786974" y="6771277"/>
                </a:cubicBezTo>
                <a:lnTo>
                  <a:pt x="47144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6" name="椭圆 85"/>
          <p:cNvSpPr/>
          <p:nvPr userDrawn="1"/>
        </p:nvSpPr>
        <p:spPr>
          <a:xfrm>
            <a:off x="-3913112" y="-1570588"/>
            <a:ext cx="8697505" cy="9941668"/>
          </a:xfrm>
          <a:prstGeom prst="ellipse">
            <a:avLst/>
          </a:prstGeom>
          <a:solidFill>
            <a:schemeClr val="accent1">
              <a:alpha val="88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056440" y="167430"/>
            <a:ext cx="1871503" cy="5617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screen"/>
          <a:srcRect r="25963"/>
          <a:stretch>
            <a:fillRect/>
          </a:stretch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49208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49208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3549208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549208" y="1484311"/>
            <a:ext cx="7287114" cy="2386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输入大标题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118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600575" y="133072"/>
            <a:ext cx="6791691" cy="6535793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6315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1216315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16315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16315" y="1484311"/>
            <a:ext cx="7287114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667561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925830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888242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98320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1" name="文本框 40"/>
          <p:cNvSpPr txBox="1"/>
          <p:nvPr userDrawn="1"/>
        </p:nvSpPr>
        <p:spPr>
          <a:xfrm rot="16200000">
            <a:off x="-1443469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52633" y="548450"/>
            <a:ext cx="2295327" cy="50469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66749" y="1329225"/>
            <a:ext cx="0" cy="471473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9258300" y="1280160"/>
            <a:ext cx="0" cy="483516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8" name="任意多边形: 形状 39"/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39"/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39"/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74"/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标题 47"/>
          <p:cNvSpPr>
            <a:spLocks noGrp="1"/>
          </p:cNvSpPr>
          <p:nvPr>
            <p:ph type="title" hasCustomPrompt="1"/>
          </p:nvPr>
        </p:nvSpPr>
        <p:spPr>
          <a:xfrm>
            <a:off x="630418" y="2616692"/>
            <a:ext cx="705595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13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654709" y="2352090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14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655638" y="430418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1899117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◀ BIT</a:t>
            </a:r>
            <a:r>
              <a:rPr lang="en-US" altLang="zh-CN" sz="2400" b="1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▶</a:t>
            </a:r>
            <a:endParaRPr lang="zh-CN" altLang="en-US" sz="2400" b="1" i="0" spc="100" dirty="0">
              <a:solidFill>
                <a:schemeClr val="accent3"/>
              </a:solidFill>
              <a:latin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4" name="组合 23"/>
          <p:cNvGrpSpPr/>
          <p:nvPr userDrawn="1"/>
        </p:nvGrpSpPr>
        <p:grpSpPr>
          <a:xfrm>
            <a:off x="671368" y="6083135"/>
            <a:ext cx="2542613" cy="276499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25" name="组合 2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3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4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4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6" name="组合 2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27" name="组合 2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3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3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/>
          <p:cNvSpPr/>
          <p:nvPr userDrawn="1">
            <p:custDataLst>
              <p:tags r:id="rId1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1" name="任意多边形: 形状 30"/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13420" y="2558484"/>
            <a:ext cx="6236023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" name="任意多边形: 形状 118"/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6" name="任意多边形: 形状 105"/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8" name="任意多边形: 形状 117"/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9" name="任意多边形: 形状 83"/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50" name="任意多边形: 形状 83"/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102" name="任意多边形: 形状 101"/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4" name="任意多边形: 形状 83"/>
          <p:cNvSpPr/>
          <p:nvPr userDrawn="1"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48" name="标题 47"/>
          <p:cNvSpPr>
            <a:spLocks noGrp="1"/>
          </p:cNvSpPr>
          <p:nvPr userDrawn="1">
            <p:ph type="title" hasCustomPrompt="1"/>
          </p:nvPr>
        </p:nvSpPr>
        <p:spPr>
          <a:xfrm>
            <a:off x="515939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</a:p>
        </p:txBody>
      </p:sp>
      <p:sp>
        <p:nvSpPr>
          <p:cNvPr id="38" name="文本占位符 53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063320" y="554073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10083479" y="631518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53" name="组合 5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4" name="组合 5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55" name="组合 5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6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/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-1" fmla="*/ 0 w 3162300"/>
              <a:gd name="connsiteY0-2" fmla="*/ 2147409 h 2238849"/>
              <a:gd name="connsiteX1-3" fmla="*/ 0 w 3162300"/>
              <a:gd name="connsiteY1-4" fmla="*/ 1565265 h 2238849"/>
              <a:gd name="connsiteX2-5" fmla="*/ 0 w 3162300"/>
              <a:gd name="connsiteY2-6" fmla="*/ 1544697 h 2238849"/>
              <a:gd name="connsiteX3-7" fmla="*/ 0 w 3162300"/>
              <a:gd name="connsiteY3-8" fmla="*/ 0 h 2238849"/>
              <a:gd name="connsiteX4-9" fmla="*/ 1585774 w 3162300"/>
              <a:gd name="connsiteY4-10" fmla="*/ 1112898 h 2238849"/>
              <a:gd name="connsiteX5-11" fmla="*/ 3162300 w 3162300"/>
              <a:gd name="connsiteY5-12" fmla="*/ 0 h 2238849"/>
              <a:gd name="connsiteX6-13" fmla="*/ 3162300 w 3162300"/>
              <a:gd name="connsiteY6-14" fmla="*/ 1544697 h 2238849"/>
              <a:gd name="connsiteX7-15" fmla="*/ 3162300 w 3162300"/>
              <a:gd name="connsiteY7-16" fmla="*/ 1565265 h 2238849"/>
              <a:gd name="connsiteX8-17" fmla="*/ 3162300 w 3162300"/>
              <a:gd name="connsiteY8-18" fmla="*/ 2147409 h 2238849"/>
              <a:gd name="connsiteX9" fmla="*/ 91440 w 3162300"/>
              <a:gd name="connsiteY9" fmla="*/ 2238849 h 2238849"/>
              <a:gd name="connsiteX0-19" fmla="*/ 0 w 3162300"/>
              <a:gd name="connsiteY0-20" fmla="*/ 2147409 h 2147409"/>
              <a:gd name="connsiteX1-21" fmla="*/ 0 w 3162300"/>
              <a:gd name="connsiteY1-22" fmla="*/ 1565265 h 2147409"/>
              <a:gd name="connsiteX2-23" fmla="*/ 0 w 3162300"/>
              <a:gd name="connsiteY2-24" fmla="*/ 1544697 h 2147409"/>
              <a:gd name="connsiteX3-25" fmla="*/ 0 w 3162300"/>
              <a:gd name="connsiteY3-26" fmla="*/ 0 h 2147409"/>
              <a:gd name="connsiteX4-27" fmla="*/ 1585774 w 3162300"/>
              <a:gd name="connsiteY4-28" fmla="*/ 1112898 h 2147409"/>
              <a:gd name="connsiteX5-29" fmla="*/ 3162300 w 3162300"/>
              <a:gd name="connsiteY5-30" fmla="*/ 0 h 2147409"/>
              <a:gd name="connsiteX6-31" fmla="*/ 3162300 w 3162300"/>
              <a:gd name="connsiteY6-32" fmla="*/ 1544697 h 2147409"/>
              <a:gd name="connsiteX7-33" fmla="*/ 3162300 w 3162300"/>
              <a:gd name="connsiteY7-34" fmla="*/ 1565265 h 2147409"/>
              <a:gd name="connsiteX8-35" fmla="*/ 3162300 w 3162300"/>
              <a:gd name="connsiteY8-36" fmla="*/ 2147409 h 21474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-1" fmla="*/ 0 w 3162300"/>
              <a:gd name="connsiteY0-2" fmla="*/ 1871961 h 1963401"/>
              <a:gd name="connsiteX1-3" fmla="*/ 0 w 3162300"/>
              <a:gd name="connsiteY1-4" fmla="*/ 0 h 1963401"/>
              <a:gd name="connsiteX2-5" fmla="*/ 3162300 w 3162300"/>
              <a:gd name="connsiteY2-6" fmla="*/ 0 h 1963401"/>
              <a:gd name="connsiteX3-7" fmla="*/ 3162300 w 3162300"/>
              <a:gd name="connsiteY3-8" fmla="*/ 1871961 h 1963401"/>
              <a:gd name="connsiteX4-9" fmla="*/ 91440 w 3162300"/>
              <a:gd name="connsiteY4-10" fmla="*/ 1963401 h 1963401"/>
              <a:gd name="connsiteX0-11" fmla="*/ 0 w 3162300"/>
              <a:gd name="connsiteY0-12" fmla="*/ 1871961 h 1871961"/>
              <a:gd name="connsiteX1-13" fmla="*/ 0 w 3162300"/>
              <a:gd name="connsiteY1-14" fmla="*/ 0 h 1871961"/>
              <a:gd name="connsiteX2-15" fmla="*/ 3162300 w 3162300"/>
              <a:gd name="connsiteY2-16" fmla="*/ 0 h 1871961"/>
              <a:gd name="connsiteX3-17" fmla="*/ 3162300 w 3162300"/>
              <a:gd name="connsiteY3-18" fmla="*/ 1871961 h 18719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28" r="23340"/>
          <a:stretch>
            <a:fillRect/>
          </a:stretch>
        </p:blipFill>
        <p:spPr>
          <a:xfrm>
            <a:off x="4303956" y="0"/>
            <a:ext cx="7888043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5573" r="198"/>
          <a:stretch>
            <a:fillRect/>
          </a:stretch>
        </p:blipFill>
        <p:spPr>
          <a:xfrm>
            <a:off x="0" y="0"/>
            <a:ext cx="8678174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9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4768810" y="7452"/>
            <a:ext cx="7423189" cy="6850548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-10414" y="0"/>
            <a:ext cx="8336943" cy="686004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0414" y="0"/>
            <a:ext cx="1220241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6352" y="0"/>
            <a:ext cx="12198351" cy="5024521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6351" y="0"/>
            <a:ext cx="1219834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0"/>
                </a:schemeClr>
              </a:gs>
              <a:gs pos="66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550546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223405" y="2402693"/>
            <a:ext cx="4785100" cy="47749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>
            <a:off x="14873" y="5340546"/>
            <a:ext cx="6018099" cy="15183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 flipH="1">
            <a:off x="6154789" y="5340546"/>
            <a:ext cx="6018099" cy="15183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5018002" y="2568943"/>
            <a:ext cx="2143294" cy="59991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59024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6261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V="1">
            <a:off x="14873" y="-15231"/>
            <a:ext cx="6018099" cy="151836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H="1" flipV="1">
            <a:off x="6154789" y="-15231"/>
            <a:ext cx="6018099" cy="15183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018002" y="2577573"/>
            <a:ext cx="2143294" cy="599913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3040886" y="5719548"/>
            <a:ext cx="6136451" cy="681262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</p:grpSpPr>
        <p:grpSp>
          <p:nvGrpSpPr>
            <p:cNvPr id="18" name="组合 17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" name="组合 18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20" name="组合 19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3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24"/>
            <a:ext cx="12193057" cy="3633531"/>
          </a:xfrm>
          <a:prstGeom prst="rect">
            <a:avLst/>
          </a:prstGeom>
        </p:spPr>
      </p:pic>
      <p:sp>
        <p:nvSpPr>
          <p:cNvPr id="37" name="任意形状 36"/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0" y="0"/>
            <a:ext cx="12192000" cy="1632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502191" y="3048198"/>
            <a:ext cx="1193467" cy="1192626"/>
          </a:xfrm>
          <a:prstGeom prst="rect">
            <a:avLst/>
          </a:prstGeom>
        </p:spPr>
      </p:pic>
      <p:sp>
        <p:nvSpPr>
          <p:cNvPr id="43" name="文本框 42"/>
          <p:cNvSpPr txBox="1"/>
          <p:nvPr userDrawn="1"/>
        </p:nvSpPr>
        <p:spPr>
          <a:xfrm>
            <a:off x="150844" y="617414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44" name="组合 43"/>
          <p:cNvGrpSpPr/>
          <p:nvPr userDrawn="1"/>
        </p:nvGrpSpPr>
        <p:grpSpPr>
          <a:xfrm>
            <a:off x="10083479" y="640064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45" name="组合 4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5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61" name="组合 6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6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2" name="组合 6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6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47" name="组合 4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5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5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5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7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222990" y="1401505"/>
            <a:ext cx="3746000" cy="104851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7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453730" y="4619682"/>
            <a:ext cx="3284503" cy="72219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b="7394"/>
          <a:stretch>
            <a:fillRect/>
          </a:stretch>
        </p:blipFill>
        <p:spPr>
          <a:xfrm>
            <a:off x="-3165" y="0"/>
            <a:ext cx="1219198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10" y="1"/>
            <a:ext cx="12191980" cy="6857994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  <a:lumMod val="85000"/>
                </a:schemeClr>
              </a:gs>
              <a:gs pos="50000">
                <a:schemeClr val="accent1">
                  <a:alpha val="90000"/>
                  <a:lumMod val="85000"/>
                </a:schemeClr>
              </a:gs>
              <a:gs pos="100000">
                <a:schemeClr val="accent1">
                  <a:alpha val="90000"/>
                  <a:lumMod val="8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  <a:buFontTx/>
              <a:buNone/>
            </a:pPr>
            <a:endParaRPr lang="zh-CN" altLang="en-US"/>
          </a:p>
        </p:txBody>
      </p:sp>
      <p:sp>
        <p:nvSpPr>
          <p:cNvPr id="6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72100" y="3028371"/>
            <a:ext cx="9041450" cy="911074"/>
          </a:xfrm>
        </p:spPr>
        <p:txBody>
          <a:bodyPr/>
          <a:lstStyle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北京理工大学毕业答辩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767417" y="1018488"/>
            <a:ext cx="4650816" cy="1301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81566"/>
            <a:ext cx="12192000" cy="3244934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3317875"/>
            <a:ext cx="12192000" cy="354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6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 bwMode="auto">
          <a:xfrm>
            <a:off x="9790632" y="109143"/>
            <a:ext cx="2286546" cy="297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24285" y="-494144"/>
            <a:ext cx="3165893" cy="41243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5089582"/>
            <a:chOff x="0" y="0"/>
            <a:chExt cx="12192000" cy="5089582"/>
          </a:xfrm>
          <a:solidFill>
            <a:schemeClr val="accent1"/>
          </a:solidFill>
        </p:grpSpPr>
        <p:sp>
          <p:nvSpPr>
            <p:cNvPr id="3" name="等腰三角形 2"/>
            <p:cNvSpPr/>
            <p:nvPr/>
          </p:nvSpPr>
          <p:spPr>
            <a:xfrm flipV="1">
              <a:off x="0" y="4123423"/>
              <a:ext cx="12192000" cy="966159"/>
            </a:xfrm>
            <a:prstGeom prst="triangle">
              <a:avLst/>
            </a:prstGeom>
            <a:grpFill/>
            <a:ln>
              <a:noFill/>
            </a:ln>
            <a:effectLst>
              <a:outerShdw blurRad="76200" dist="127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0"/>
              <a:ext cx="12192000" cy="41234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1866428" y="1872369"/>
            <a:ext cx="8481919" cy="863927"/>
            <a:chOff x="1797415" y="1328902"/>
            <a:chExt cx="8481919" cy="863927"/>
          </a:xfrm>
        </p:grpSpPr>
        <p:grpSp>
          <p:nvGrpSpPr>
            <p:cNvPr id="6" name="组合 5"/>
            <p:cNvGrpSpPr/>
            <p:nvPr/>
          </p:nvGrpSpPr>
          <p:grpSpPr>
            <a:xfrm>
              <a:off x="6886532" y="1337094"/>
              <a:ext cx="3392802" cy="846135"/>
              <a:chOff x="10340336" y="2247899"/>
              <a:chExt cx="2724438" cy="679451"/>
            </a:xfrm>
          </p:grpSpPr>
          <p:sp>
            <p:nvSpPr>
              <p:cNvPr id="2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solidFill>
                <a:schemeClr val="bg1"/>
              </a:solidFill>
            </p:grpSpPr>
            <p:sp>
              <p:nvSpPr>
                <p:cNvPr id="2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solidFill>
                <a:schemeClr val="bg1"/>
              </a:solidFill>
            </p:grpSpPr>
            <p:sp>
              <p:nvSpPr>
                <p:cNvPr id="2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>
              <a:off x="1797415" y="1328902"/>
              <a:ext cx="3445163" cy="863927"/>
              <a:chOff x="6738929" y="2270918"/>
              <a:chExt cx="2766486" cy="693738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solidFill>
                <a:schemeClr val="bg1"/>
              </a:solidFill>
            </p:grpSpPr>
            <p:sp>
              <p:nvSpPr>
                <p:cNvPr id="1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solidFill>
                <a:schemeClr val="bg1"/>
              </a:solidFill>
            </p:grpSpPr>
            <p:sp>
              <p:nvSpPr>
                <p:cNvPr id="1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solidFill>
                <a:schemeClr val="bg1"/>
              </a:solidFill>
            </p:grpSpPr>
            <p:sp>
              <p:nvSpPr>
                <p:cNvPr id="1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/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15558" b="38705"/>
          <a:stretch>
            <a:fillRect/>
          </a:stretch>
        </p:blipFill>
        <p:spPr>
          <a:xfrm>
            <a:off x="1" y="0"/>
            <a:ext cx="12192000" cy="2290219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-81481" y="2289050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723340" y="1294827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723340" y="5613415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 cstate="screen"/>
          <a:srcRect l="49471"/>
          <a:stretch>
            <a:fillRect/>
          </a:stretch>
        </p:blipFill>
        <p:spPr>
          <a:xfrm>
            <a:off x="-34506" y="163259"/>
            <a:ext cx="3298317" cy="65314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screen"/>
          <a:srcRect r="49912"/>
          <a:stretch>
            <a:fillRect/>
          </a:stretch>
        </p:blipFill>
        <p:spPr>
          <a:xfrm>
            <a:off x="8928190" y="163258"/>
            <a:ext cx="3269562" cy="65314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 rot="16200000">
            <a:off x="-1538864" y="2653429"/>
            <a:ext cx="52296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spc="5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Contents</a:t>
            </a:r>
            <a:r>
              <a:rPr lang="en-US" altLang="zh-CN" sz="4400" b="1" spc="50" dirty="0">
                <a:solidFill>
                  <a:schemeClr val="accent4"/>
                </a:solidFill>
                <a:latin typeface="+mj-lt"/>
              </a:rPr>
              <a:t>■</a:t>
            </a:r>
            <a:endParaRPr lang="zh-CN" altLang="en-US" sz="4400" b="1" spc="5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116549" y="3752395"/>
            <a:ext cx="738664" cy="224676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600" b="1" spc="600" dirty="0">
                <a:solidFill>
                  <a:schemeClr val="accent1"/>
                </a:solidFill>
              </a:rPr>
              <a:t>结构大纲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519824" y="6600901"/>
            <a:ext cx="25234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000" spc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</a:t>
            </a:r>
            <a:r>
              <a:rPr lang="en-US" altLang="zh-CN" sz="1000" spc="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INSTITUTE OF TECHNOLOGY</a:t>
            </a:r>
            <a:endParaRPr lang="zh-CN" altLang="en-US" sz="1000" spc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041148" y="78493"/>
            <a:ext cx="2025400" cy="566914"/>
          </a:xfrm>
          <a:prstGeom prst="rect">
            <a:avLst/>
          </a:prstGeom>
        </p:spPr>
      </p:pic>
      <p:sp>
        <p:nvSpPr>
          <p:cNvPr id="82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84" name="矩形 83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86" name="组合 85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7" name="组合 86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88" name="组合 8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9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r="20215"/>
          <a:stretch>
            <a:fillRect/>
          </a:stretch>
        </p:blipFill>
        <p:spPr>
          <a:xfrm>
            <a:off x="6592525" y="0"/>
            <a:ext cx="5609371" cy="6765696"/>
          </a:xfrm>
          <a:prstGeom prst="rect">
            <a:avLst/>
          </a:prstGeom>
        </p:spPr>
      </p:pic>
      <p:sp>
        <p:nvSpPr>
          <p:cNvPr id="63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65" name="矩形 64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6" name="组合 6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1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3" name="组合 82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88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9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4" name="组合 83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85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7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8" name="组合 6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79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0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77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8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74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5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2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r="30571" b="46397"/>
          <a:stretch>
            <a:fillRect/>
          </a:stretch>
        </p:blipFill>
        <p:spPr>
          <a:xfrm>
            <a:off x="9019185" y="4400550"/>
            <a:ext cx="3194586" cy="24693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4398806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63500" dir="540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-71956" y="4398806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sp>
        <p:nvSpPr>
          <p:cNvPr id="18" name="矩形: 圆角 162"/>
          <p:cNvSpPr/>
          <p:nvPr userDrawn="1"/>
        </p:nvSpPr>
        <p:spPr>
          <a:xfrm>
            <a:off x="1664486" y="3107981"/>
            <a:ext cx="8945408" cy="3014890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8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: 圆角 163"/>
          <p:cNvSpPr/>
          <p:nvPr userDrawn="1"/>
        </p:nvSpPr>
        <p:spPr>
          <a:xfrm>
            <a:off x="1463942" y="3222979"/>
            <a:ext cx="9346497" cy="2899892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94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: 圆角 164"/>
          <p:cNvSpPr/>
          <p:nvPr userDrawn="1"/>
        </p:nvSpPr>
        <p:spPr>
          <a:xfrm>
            <a:off x="1200150" y="3365257"/>
            <a:ext cx="9791700" cy="2757614"/>
          </a:xfrm>
          <a:prstGeom prst="roundRect">
            <a:avLst>
              <a:gd name="adj" fmla="val 3205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rgbClr val="F8F8F8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sysClr val="window" lastClr="FFFFFF">
                <a:lumMod val="7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<a:noAutofit/>
          </a:bodyPr>
          <a:lstStyle/>
          <a:p>
            <a:pPr marL="0" marR="0" lvl="0" indent="45720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l="29063" r="32938"/>
          <a:stretch>
            <a:fillRect/>
          </a:stretch>
        </p:blipFill>
        <p:spPr>
          <a:xfrm>
            <a:off x="0" y="0"/>
            <a:ext cx="3914775" cy="6857999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1"/>
            <a:ext cx="3914775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0"/>
            <a:ext cx="3914774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396045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3961505" y="2797003"/>
            <a:ext cx="122686" cy="1263995"/>
            <a:chOff x="4630742" y="2258287"/>
            <a:chExt cx="122686" cy="1263995"/>
          </a:xfrm>
          <a:solidFill>
            <a:schemeClr val="accent4"/>
          </a:solidFill>
        </p:grpSpPr>
        <p:sp>
          <p:nvSpPr>
            <p:cNvPr id="22" name="等腰三角形 21"/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/>
          <p:cNvCxnSpPr/>
          <p:nvPr userDrawn="1"/>
        </p:nvCxnSpPr>
        <p:spPr>
          <a:xfrm>
            <a:off x="1053541" y="2793542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 userDrawn="1"/>
        </p:nvSpPr>
        <p:spPr>
          <a:xfrm>
            <a:off x="846867" y="2752385"/>
            <a:ext cx="2197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zh-CN" altLang="en-US" sz="5400" spc="600" dirty="0">
                <a:solidFill>
                  <a:schemeClr val="bg1"/>
                </a:solidFill>
                <a:latin typeface="+mn-ea"/>
                <a:ea typeface="+mn-ea"/>
              </a:rPr>
              <a:t>目录</a:t>
            </a:r>
          </a:p>
        </p:txBody>
      </p:sp>
      <p:sp>
        <p:nvSpPr>
          <p:cNvPr id="44" name="矩形 43"/>
          <p:cNvSpPr/>
          <p:nvPr userDrawn="1"/>
        </p:nvSpPr>
        <p:spPr>
          <a:xfrm>
            <a:off x="963806" y="3595872"/>
            <a:ext cx="1906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en-US" altLang="zh-CN" sz="2400" dirty="0">
                <a:solidFill>
                  <a:schemeClr val="bg1"/>
                </a:solidFill>
              </a:rPr>
              <a:t>CONTENTS</a:t>
            </a:r>
          </a:p>
        </p:txBody>
      </p:sp>
      <p:cxnSp>
        <p:nvCxnSpPr>
          <p:cNvPr id="45" name="直接连接符 44"/>
          <p:cNvCxnSpPr/>
          <p:nvPr userDrawn="1"/>
        </p:nvCxnSpPr>
        <p:spPr>
          <a:xfrm>
            <a:off x="1053541" y="4060998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64854" y="2218510"/>
            <a:ext cx="1715719" cy="4802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 cstate="screen"/>
          <a:srcRect r="15912" b="16285"/>
          <a:stretch>
            <a:fillRect/>
          </a:stretch>
        </p:blipFill>
        <p:spPr>
          <a:xfrm>
            <a:off x="7258050" y="1942165"/>
            <a:ext cx="4949784" cy="493364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2">
    <p:bg>
      <p:bgPr>
        <a:gradFill>
          <a:gsLst>
            <a:gs pos="25000">
              <a:schemeClr val="accent1">
                <a:alpha val="0"/>
              </a:schemeClr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493231"/>
            <a:ext cx="5251028" cy="5254131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6943725" y="0"/>
            <a:ext cx="5248273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 userDrawn="1"/>
        </p:nvSpPr>
        <p:spPr>
          <a:xfrm>
            <a:off x="660400" y="6054314"/>
            <a:ext cx="2014538" cy="1438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第几部分 ▶</a:t>
            </a:r>
          </a:p>
        </p:txBody>
      </p:sp>
      <p:sp>
        <p:nvSpPr>
          <p:cNvPr id="122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420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</a:p>
        </p:txBody>
      </p:sp>
      <p:sp>
        <p:nvSpPr>
          <p:cNvPr id="123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</a:p>
          <a:p>
            <a:pPr lvl="0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167300"/>
            <a:ext cx="12192000" cy="690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grpSp>
        <p:nvGrpSpPr>
          <p:cNvPr id="115" name="组合 114"/>
          <p:cNvGrpSpPr/>
          <p:nvPr userDrawn="1"/>
        </p:nvGrpSpPr>
        <p:grpSpPr>
          <a:xfrm>
            <a:off x="684666" y="6423435"/>
            <a:ext cx="1915659" cy="208321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117" name="组合 11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34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36" name="组合 135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4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" name="组合 136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38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9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0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8" name="组合 11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9" name="组合 11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13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1" name="组合 1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3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4" name="组合 123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2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25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143" name="图片 14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203766" y="6386257"/>
            <a:ext cx="1257421" cy="27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2041996" y="3927615"/>
            <a:ext cx="8108006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473992" y="3927615"/>
            <a:ext cx="9244014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l="1" t="13078" r="-1" b="115"/>
          <a:stretch>
            <a:fillRect/>
          </a:stretch>
        </p:blipFill>
        <p:spPr>
          <a:xfrm>
            <a:off x="0" y="-1"/>
            <a:ext cx="12191999" cy="4362681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4346687"/>
            <a:ext cx="12192001" cy="251131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4346687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936" y="4346687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828800" y="2524126"/>
            <a:ext cx="8494006" cy="356807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69" name="图片 68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861200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7423183" y="0"/>
            <a:ext cx="4768815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5" name="文本框 44"/>
          <p:cNvSpPr txBox="1"/>
          <p:nvPr userDrawn="1"/>
        </p:nvSpPr>
        <p:spPr>
          <a:xfrm>
            <a:off x="-2647787" y="-2281727"/>
            <a:ext cx="603192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0" dirty="0">
                <a:solidFill>
                  <a:schemeClr val="bg1">
                    <a:alpha val="40000"/>
                  </a:schemeClr>
                </a:solidFill>
              </a:rPr>
              <a:t>0</a:t>
            </a:r>
            <a:endParaRPr lang="zh-CN" altLang="en-US" sz="72000" dirty="0">
              <a:solidFill>
                <a:schemeClr val="bg1">
                  <a:alpha val="40000"/>
                </a:schemeClr>
              </a:solidFill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870981" y="0"/>
            <a:ext cx="5321017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  <p:grpSp>
        <p:nvGrpSpPr>
          <p:cNvPr id="9" name="Group 6"/>
          <p:cNvGrpSpPr/>
          <p:nvPr userDrawn="1"/>
        </p:nvGrpSpPr>
        <p:grpSpPr bwMode="auto">
          <a:xfrm>
            <a:off x="778934" y="687917"/>
            <a:ext cx="3299884" cy="5425016"/>
            <a:chOff x="0" y="0"/>
            <a:chExt cx="2476153" cy="4069266"/>
          </a:xfrm>
          <a:solidFill>
            <a:schemeClr val="bg1">
              <a:alpha val="25000"/>
            </a:schemeClr>
          </a:solidFill>
        </p:grpSpPr>
        <p:sp>
          <p:nvSpPr>
            <p:cNvPr id="10" name="矩形 3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" name="矩形 4"/>
            <p:cNvSpPr>
              <a:spLocks noChangeArrowheads="1"/>
            </p:cNvSpPr>
            <p:nvPr/>
          </p:nvSpPr>
          <p:spPr bwMode="auto">
            <a:xfrm>
              <a:off x="437624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4" name="矩形 5"/>
            <p:cNvSpPr>
              <a:spLocks noChangeArrowheads="1"/>
            </p:cNvSpPr>
            <p:nvPr/>
          </p:nvSpPr>
          <p:spPr bwMode="auto">
            <a:xfrm>
              <a:off x="875248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1312872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矩形 7"/>
            <p:cNvSpPr>
              <a:spLocks noChangeArrowheads="1"/>
            </p:cNvSpPr>
            <p:nvPr/>
          </p:nvSpPr>
          <p:spPr bwMode="auto">
            <a:xfrm>
              <a:off x="1750496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矩形 8"/>
            <p:cNvSpPr>
              <a:spLocks noChangeArrowheads="1"/>
            </p:cNvSpPr>
            <p:nvPr/>
          </p:nvSpPr>
          <p:spPr bwMode="auto">
            <a:xfrm>
              <a:off x="2188121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矩形 59"/>
            <p:cNvSpPr>
              <a:spLocks noChangeArrowheads="1"/>
            </p:cNvSpPr>
            <p:nvPr/>
          </p:nvSpPr>
          <p:spPr bwMode="auto">
            <a:xfrm>
              <a:off x="0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矩形 60"/>
            <p:cNvSpPr>
              <a:spLocks noChangeArrowheads="1"/>
            </p:cNvSpPr>
            <p:nvPr/>
          </p:nvSpPr>
          <p:spPr bwMode="auto">
            <a:xfrm>
              <a:off x="437624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矩形 61"/>
            <p:cNvSpPr>
              <a:spLocks noChangeArrowheads="1"/>
            </p:cNvSpPr>
            <p:nvPr/>
          </p:nvSpPr>
          <p:spPr bwMode="auto">
            <a:xfrm>
              <a:off x="875248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矩形 62"/>
            <p:cNvSpPr>
              <a:spLocks noChangeArrowheads="1"/>
            </p:cNvSpPr>
            <p:nvPr/>
          </p:nvSpPr>
          <p:spPr bwMode="auto">
            <a:xfrm>
              <a:off x="1312872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矩形 63"/>
            <p:cNvSpPr>
              <a:spLocks noChangeArrowheads="1"/>
            </p:cNvSpPr>
            <p:nvPr/>
          </p:nvSpPr>
          <p:spPr bwMode="auto">
            <a:xfrm>
              <a:off x="1750496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矩形 64"/>
            <p:cNvSpPr>
              <a:spLocks noChangeArrowheads="1"/>
            </p:cNvSpPr>
            <p:nvPr/>
          </p:nvSpPr>
          <p:spPr bwMode="auto">
            <a:xfrm>
              <a:off x="2188121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矩形 66"/>
            <p:cNvSpPr>
              <a:spLocks noChangeArrowheads="1"/>
            </p:cNvSpPr>
            <p:nvPr/>
          </p:nvSpPr>
          <p:spPr bwMode="auto">
            <a:xfrm>
              <a:off x="0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矩形 67"/>
            <p:cNvSpPr>
              <a:spLocks noChangeArrowheads="1"/>
            </p:cNvSpPr>
            <p:nvPr/>
          </p:nvSpPr>
          <p:spPr bwMode="auto">
            <a:xfrm>
              <a:off x="437624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矩形 68"/>
            <p:cNvSpPr>
              <a:spLocks noChangeArrowheads="1"/>
            </p:cNvSpPr>
            <p:nvPr/>
          </p:nvSpPr>
          <p:spPr bwMode="auto">
            <a:xfrm>
              <a:off x="875248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矩形 69"/>
            <p:cNvSpPr>
              <a:spLocks noChangeArrowheads="1"/>
            </p:cNvSpPr>
            <p:nvPr/>
          </p:nvSpPr>
          <p:spPr bwMode="auto">
            <a:xfrm>
              <a:off x="1312872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矩形 70"/>
            <p:cNvSpPr>
              <a:spLocks noChangeArrowheads="1"/>
            </p:cNvSpPr>
            <p:nvPr/>
          </p:nvSpPr>
          <p:spPr bwMode="auto">
            <a:xfrm>
              <a:off x="1750496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矩形 71"/>
            <p:cNvSpPr>
              <a:spLocks noChangeArrowheads="1"/>
            </p:cNvSpPr>
            <p:nvPr/>
          </p:nvSpPr>
          <p:spPr bwMode="auto">
            <a:xfrm>
              <a:off x="2188121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矩形 73"/>
            <p:cNvSpPr>
              <a:spLocks noChangeArrowheads="1"/>
            </p:cNvSpPr>
            <p:nvPr/>
          </p:nvSpPr>
          <p:spPr bwMode="auto">
            <a:xfrm>
              <a:off x="0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矩形 74"/>
            <p:cNvSpPr>
              <a:spLocks noChangeArrowheads="1"/>
            </p:cNvSpPr>
            <p:nvPr/>
          </p:nvSpPr>
          <p:spPr bwMode="auto">
            <a:xfrm>
              <a:off x="437624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矩形 75"/>
            <p:cNvSpPr>
              <a:spLocks noChangeArrowheads="1"/>
            </p:cNvSpPr>
            <p:nvPr/>
          </p:nvSpPr>
          <p:spPr bwMode="auto">
            <a:xfrm>
              <a:off x="875248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矩形 76"/>
            <p:cNvSpPr>
              <a:spLocks noChangeArrowheads="1"/>
            </p:cNvSpPr>
            <p:nvPr/>
          </p:nvSpPr>
          <p:spPr bwMode="auto">
            <a:xfrm>
              <a:off x="1312872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矩形 77"/>
            <p:cNvSpPr>
              <a:spLocks noChangeArrowheads="1"/>
            </p:cNvSpPr>
            <p:nvPr/>
          </p:nvSpPr>
          <p:spPr bwMode="auto">
            <a:xfrm>
              <a:off x="1750496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矩形 78"/>
            <p:cNvSpPr>
              <a:spLocks noChangeArrowheads="1"/>
            </p:cNvSpPr>
            <p:nvPr/>
          </p:nvSpPr>
          <p:spPr bwMode="auto">
            <a:xfrm>
              <a:off x="2188121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矩形 80"/>
            <p:cNvSpPr>
              <a:spLocks noChangeArrowheads="1"/>
            </p:cNvSpPr>
            <p:nvPr/>
          </p:nvSpPr>
          <p:spPr bwMode="auto">
            <a:xfrm>
              <a:off x="0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矩形 81"/>
            <p:cNvSpPr>
              <a:spLocks noChangeArrowheads="1"/>
            </p:cNvSpPr>
            <p:nvPr/>
          </p:nvSpPr>
          <p:spPr bwMode="auto">
            <a:xfrm>
              <a:off x="437624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矩形 82"/>
            <p:cNvSpPr>
              <a:spLocks noChangeArrowheads="1"/>
            </p:cNvSpPr>
            <p:nvPr/>
          </p:nvSpPr>
          <p:spPr bwMode="auto">
            <a:xfrm>
              <a:off x="875248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矩形 83"/>
            <p:cNvSpPr>
              <a:spLocks noChangeArrowheads="1"/>
            </p:cNvSpPr>
            <p:nvPr/>
          </p:nvSpPr>
          <p:spPr bwMode="auto">
            <a:xfrm>
              <a:off x="1312872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矩形 84"/>
            <p:cNvSpPr>
              <a:spLocks noChangeArrowheads="1"/>
            </p:cNvSpPr>
            <p:nvPr/>
          </p:nvSpPr>
          <p:spPr bwMode="auto">
            <a:xfrm>
              <a:off x="1750496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矩形 85"/>
            <p:cNvSpPr>
              <a:spLocks noChangeArrowheads="1"/>
            </p:cNvSpPr>
            <p:nvPr/>
          </p:nvSpPr>
          <p:spPr bwMode="auto">
            <a:xfrm>
              <a:off x="2188121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矩形 87"/>
            <p:cNvSpPr>
              <a:spLocks noChangeArrowheads="1"/>
            </p:cNvSpPr>
            <p:nvPr/>
          </p:nvSpPr>
          <p:spPr bwMode="auto">
            <a:xfrm>
              <a:off x="0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" name="矩形 88"/>
            <p:cNvSpPr>
              <a:spLocks noChangeArrowheads="1"/>
            </p:cNvSpPr>
            <p:nvPr/>
          </p:nvSpPr>
          <p:spPr bwMode="auto">
            <a:xfrm>
              <a:off x="437624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矩形 89"/>
            <p:cNvSpPr>
              <a:spLocks noChangeArrowheads="1"/>
            </p:cNvSpPr>
            <p:nvPr/>
          </p:nvSpPr>
          <p:spPr bwMode="auto">
            <a:xfrm>
              <a:off x="875248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矩形 90"/>
            <p:cNvSpPr>
              <a:spLocks noChangeArrowheads="1"/>
            </p:cNvSpPr>
            <p:nvPr/>
          </p:nvSpPr>
          <p:spPr bwMode="auto">
            <a:xfrm>
              <a:off x="1312872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0" name="矩形 91"/>
            <p:cNvSpPr>
              <a:spLocks noChangeArrowheads="1"/>
            </p:cNvSpPr>
            <p:nvPr/>
          </p:nvSpPr>
          <p:spPr bwMode="auto">
            <a:xfrm>
              <a:off x="1750496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1" name="矩形 92"/>
            <p:cNvSpPr>
              <a:spLocks noChangeArrowheads="1"/>
            </p:cNvSpPr>
            <p:nvPr/>
          </p:nvSpPr>
          <p:spPr bwMode="auto">
            <a:xfrm>
              <a:off x="2188121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2" name="矩形 94"/>
            <p:cNvSpPr>
              <a:spLocks noChangeArrowheads="1"/>
            </p:cNvSpPr>
            <p:nvPr/>
          </p:nvSpPr>
          <p:spPr bwMode="auto">
            <a:xfrm>
              <a:off x="0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3" name="矩形 95"/>
            <p:cNvSpPr>
              <a:spLocks noChangeArrowheads="1"/>
            </p:cNvSpPr>
            <p:nvPr/>
          </p:nvSpPr>
          <p:spPr bwMode="auto">
            <a:xfrm>
              <a:off x="437624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矩形 96"/>
            <p:cNvSpPr>
              <a:spLocks noChangeArrowheads="1"/>
            </p:cNvSpPr>
            <p:nvPr/>
          </p:nvSpPr>
          <p:spPr bwMode="auto">
            <a:xfrm>
              <a:off x="875248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5" name="矩形 97"/>
            <p:cNvSpPr>
              <a:spLocks noChangeArrowheads="1"/>
            </p:cNvSpPr>
            <p:nvPr/>
          </p:nvSpPr>
          <p:spPr bwMode="auto">
            <a:xfrm>
              <a:off x="1312872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6" name="矩形 98"/>
            <p:cNvSpPr>
              <a:spLocks noChangeArrowheads="1"/>
            </p:cNvSpPr>
            <p:nvPr/>
          </p:nvSpPr>
          <p:spPr bwMode="auto">
            <a:xfrm>
              <a:off x="1750496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7" name="矩形 99"/>
            <p:cNvSpPr>
              <a:spLocks noChangeArrowheads="1"/>
            </p:cNvSpPr>
            <p:nvPr/>
          </p:nvSpPr>
          <p:spPr bwMode="auto">
            <a:xfrm>
              <a:off x="2188121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8" name="矩形 101"/>
            <p:cNvSpPr>
              <a:spLocks noChangeArrowheads="1"/>
            </p:cNvSpPr>
            <p:nvPr/>
          </p:nvSpPr>
          <p:spPr bwMode="auto">
            <a:xfrm>
              <a:off x="0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9" name="矩形 102"/>
            <p:cNvSpPr>
              <a:spLocks noChangeArrowheads="1"/>
            </p:cNvSpPr>
            <p:nvPr/>
          </p:nvSpPr>
          <p:spPr bwMode="auto">
            <a:xfrm>
              <a:off x="437624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0" name="矩形 103"/>
            <p:cNvSpPr>
              <a:spLocks noChangeArrowheads="1"/>
            </p:cNvSpPr>
            <p:nvPr/>
          </p:nvSpPr>
          <p:spPr bwMode="auto">
            <a:xfrm>
              <a:off x="875248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" name="矩形 104"/>
            <p:cNvSpPr>
              <a:spLocks noChangeArrowheads="1"/>
            </p:cNvSpPr>
            <p:nvPr/>
          </p:nvSpPr>
          <p:spPr bwMode="auto">
            <a:xfrm>
              <a:off x="1312872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矩形 105"/>
            <p:cNvSpPr>
              <a:spLocks noChangeArrowheads="1"/>
            </p:cNvSpPr>
            <p:nvPr/>
          </p:nvSpPr>
          <p:spPr bwMode="auto">
            <a:xfrm>
              <a:off x="1750496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矩形 106"/>
            <p:cNvSpPr>
              <a:spLocks noChangeArrowheads="1"/>
            </p:cNvSpPr>
            <p:nvPr/>
          </p:nvSpPr>
          <p:spPr bwMode="auto">
            <a:xfrm>
              <a:off x="2188121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矩形 108"/>
            <p:cNvSpPr>
              <a:spLocks noChangeArrowheads="1"/>
            </p:cNvSpPr>
            <p:nvPr/>
          </p:nvSpPr>
          <p:spPr bwMode="auto">
            <a:xfrm>
              <a:off x="0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矩形 109"/>
            <p:cNvSpPr>
              <a:spLocks noChangeArrowheads="1"/>
            </p:cNvSpPr>
            <p:nvPr/>
          </p:nvSpPr>
          <p:spPr bwMode="auto">
            <a:xfrm>
              <a:off x="437624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6" name="矩形 110"/>
            <p:cNvSpPr>
              <a:spLocks noChangeArrowheads="1"/>
            </p:cNvSpPr>
            <p:nvPr/>
          </p:nvSpPr>
          <p:spPr bwMode="auto">
            <a:xfrm>
              <a:off x="875248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7" name="矩形 111"/>
            <p:cNvSpPr>
              <a:spLocks noChangeArrowheads="1"/>
            </p:cNvSpPr>
            <p:nvPr/>
          </p:nvSpPr>
          <p:spPr bwMode="auto">
            <a:xfrm>
              <a:off x="1312872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8" name="矩形 112"/>
            <p:cNvSpPr>
              <a:spLocks noChangeArrowheads="1"/>
            </p:cNvSpPr>
            <p:nvPr/>
          </p:nvSpPr>
          <p:spPr bwMode="auto">
            <a:xfrm>
              <a:off x="1750496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9" name="矩形 113"/>
            <p:cNvSpPr>
              <a:spLocks noChangeArrowheads="1"/>
            </p:cNvSpPr>
            <p:nvPr/>
          </p:nvSpPr>
          <p:spPr bwMode="auto">
            <a:xfrm>
              <a:off x="2188121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0" name="矩形 115"/>
            <p:cNvSpPr>
              <a:spLocks noChangeArrowheads="1"/>
            </p:cNvSpPr>
            <p:nvPr/>
          </p:nvSpPr>
          <p:spPr bwMode="auto">
            <a:xfrm>
              <a:off x="0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" name="矩形 116"/>
            <p:cNvSpPr>
              <a:spLocks noChangeArrowheads="1"/>
            </p:cNvSpPr>
            <p:nvPr/>
          </p:nvSpPr>
          <p:spPr bwMode="auto">
            <a:xfrm>
              <a:off x="437624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2" name="矩形 117"/>
            <p:cNvSpPr>
              <a:spLocks noChangeArrowheads="1"/>
            </p:cNvSpPr>
            <p:nvPr/>
          </p:nvSpPr>
          <p:spPr bwMode="auto">
            <a:xfrm>
              <a:off x="875248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3" name="矩形 118"/>
            <p:cNvSpPr>
              <a:spLocks noChangeArrowheads="1"/>
            </p:cNvSpPr>
            <p:nvPr/>
          </p:nvSpPr>
          <p:spPr bwMode="auto">
            <a:xfrm>
              <a:off x="1312872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4" name="矩形 119"/>
            <p:cNvSpPr>
              <a:spLocks noChangeArrowheads="1"/>
            </p:cNvSpPr>
            <p:nvPr/>
          </p:nvSpPr>
          <p:spPr bwMode="auto">
            <a:xfrm>
              <a:off x="1750496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5" name="矩形 120"/>
            <p:cNvSpPr>
              <a:spLocks noChangeArrowheads="1"/>
            </p:cNvSpPr>
            <p:nvPr/>
          </p:nvSpPr>
          <p:spPr bwMode="auto">
            <a:xfrm>
              <a:off x="2188121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17309" y="362097"/>
            <a:ext cx="8643848" cy="5909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36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cxnSp>
        <p:nvCxnSpPr>
          <p:cNvPr id="87" name="直接连接符 86"/>
          <p:cNvCxnSpPr/>
          <p:nvPr userDrawn="1"/>
        </p:nvCxnSpPr>
        <p:spPr>
          <a:xfrm>
            <a:off x="442913" y="957831"/>
            <a:ext cx="1130617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77585" y="334397"/>
            <a:ext cx="1871503" cy="561768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447254" y="957831"/>
            <a:ext cx="7808986" cy="94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11792769" y="56260"/>
            <a:ext cx="3632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>
              <a:defRPr/>
            </a:pPr>
            <a:fld id="{ED856349-79DF-4269-BEE4-3014BAD1A95F}" type="slidenum">
              <a:rPr lang="en-US" altLang="zh-CN" sz="1400" b="1" smtClean="0">
                <a:solidFill>
                  <a:srgbClr val="404040"/>
                </a:solidFill>
              </a:rPr>
              <a:t>‹#›</a:t>
            </a:fld>
            <a:endParaRPr lang="zh-CN" altLang="en-US" sz="14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72" name="组合 71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73" name="组合 7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9" name="组合 8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4" name="组合 7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75" name="组合 7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6" name="组合 7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8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227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/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/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/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8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5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2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6" name="组合 15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6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4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1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9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ïşlíḓè"/>
          <p:cNvSpPr/>
          <p:nvPr userDrawn="1"/>
        </p:nvSpPr>
        <p:spPr>
          <a:xfrm>
            <a:off x="-3560" y="2387600"/>
            <a:ext cx="9581785" cy="44704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iśļïḓê"/>
          <p:cNvSpPr/>
          <p:nvPr userDrawn="1"/>
        </p:nvSpPr>
        <p:spPr bwMode="auto">
          <a:xfrm flipH="1">
            <a:off x="-1" y="-4989"/>
            <a:ext cx="9581785" cy="6865116"/>
          </a:xfrm>
          <a:custGeom>
            <a:avLst/>
            <a:gdLst>
              <a:gd name="connsiteX0" fmla="*/ 9581785 w 9581785"/>
              <a:gd name="connsiteY0" fmla="*/ 0 h 6865116"/>
              <a:gd name="connsiteX1" fmla="*/ 6463 w 9581785"/>
              <a:gd name="connsiteY1" fmla="*/ 0 h 6865116"/>
              <a:gd name="connsiteX2" fmla="*/ 0 w 9581785"/>
              <a:gd name="connsiteY2" fmla="*/ 6865116 h 6865116"/>
              <a:gd name="connsiteX3" fmla="*/ 9435691 w 9581785"/>
              <a:gd name="connsiteY3" fmla="*/ 3424381 h 6865116"/>
              <a:gd name="connsiteX4" fmla="*/ 9581785 w 9581785"/>
              <a:gd name="connsiteY4" fmla="*/ 3311401 h 6865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1785" h="6865116">
                <a:moveTo>
                  <a:pt x="9581785" y="0"/>
                </a:moveTo>
                <a:lnTo>
                  <a:pt x="6463" y="0"/>
                </a:lnTo>
                <a:lnTo>
                  <a:pt x="0" y="6865116"/>
                </a:lnTo>
                <a:cubicBezTo>
                  <a:pt x="5057128" y="5756514"/>
                  <a:pt x="7899338" y="4547950"/>
                  <a:pt x="9435691" y="3424381"/>
                </a:cubicBezTo>
                <a:lnTo>
                  <a:pt x="9581785" y="33114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34" name="ïSļîḑè"/>
          <p:cNvSpPr/>
          <p:nvPr userDrawn="1"/>
        </p:nvSpPr>
        <p:spPr bwMode="auto">
          <a:xfrm flipH="1">
            <a:off x="3558" y="44794"/>
            <a:ext cx="9578226" cy="6590321"/>
          </a:xfrm>
          <a:custGeom>
            <a:avLst/>
            <a:gdLst>
              <a:gd name="connsiteX0" fmla="*/ 9578226 w 9578226"/>
              <a:gd name="connsiteY0" fmla="*/ 0 h 6590321"/>
              <a:gd name="connsiteX1" fmla="*/ 6205 w 9578226"/>
              <a:gd name="connsiteY1" fmla="*/ 0 h 6590321"/>
              <a:gd name="connsiteX2" fmla="*/ 0 w 9578226"/>
              <a:gd name="connsiteY2" fmla="*/ 6590321 h 6590321"/>
              <a:gd name="connsiteX3" fmla="*/ 9493338 w 9578226"/>
              <a:gd name="connsiteY3" fmla="*/ 2984432 h 6590321"/>
              <a:gd name="connsiteX4" fmla="*/ 9578226 w 9578226"/>
              <a:gd name="connsiteY4" fmla="*/ 2908618 h 6590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8226" h="6590321">
                <a:moveTo>
                  <a:pt x="9578226" y="0"/>
                </a:moveTo>
                <a:lnTo>
                  <a:pt x="6205" y="0"/>
                </a:lnTo>
                <a:lnTo>
                  <a:pt x="0" y="6590321"/>
                </a:lnTo>
                <a:cubicBezTo>
                  <a:pt x="5310859" y="5426098"/>
                  <a:pt x="8101833" y="4148147"/>
                  <a:pt x="9493338" y="2984432"/>
                </a:cubicBezTo>
                <a:lnTo>
                  <a:pt x="9578226" y="2908618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8000">
                <a:schemeClr val="bg1"/>
              </a:gs>
            </a:gsLst>
            <a:lin ang="108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27" name="iṣľiḋé"/>
          <p:cNvSpPr/>
          <p:nvPr userDrawn="1"/>
        </p:nvSpPr>
        <p:spPr bwMode="auto">
          <a:xfrm flipH="1">
            <a:off x="-13714" y="-4989"/>
            <a:ext cx="9621936" cy="6367328"/>
          </a:xfrm>
          <a:custGeom>
            <a:avLst/>
            <a:gdLst>
              <a:gd name="connsiteX0" fmla="*/ 9580005 w 9580005"/>
              <a:gd name="connsiteY0" fmla="*/ 0 h 6339580"/>
              <a:gd name="connsiteX1" fmla="*/ 5969 w 9580005"/>
              <a:gd name="connsiteY1" fmla="*/ 0 h 6339580"/>
              <a:gd name="connsiteX2" fmla="*/ 0 w 9580005"/>
              <a:gd name="connsiteY2" fmla="*/ 6339580 h 6339580"/>
              <a:gd name="connsiteX3" fmla="*/ 9549201 w 9580005"/>
              <a:gd name="connsiteY3" fmla="*/ 2491289 h 6339580"/>
              <a:gd name="connsiteX4" fmla="*/ 9580005 w 9580005"/>
              <a:gd name="connsiteY4" fmla="*/ 2457799 h 633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0005" h="6339580">
                <a:moveTo>
                  <a:pt x="9580005" y="0"/>
                </a:moveTo>
                <a:lnTo>
                  <a:pt x="5969" y="0"/>
                </a:lnTo>
                <a:lnTo>
                  <a:pt x="0" y="6339580"/>
                </a:lnTo>
                <a:cubicBezTo>
                  <a:pt x="5692847" y="5091619"/>
                  <a:pt x="8380317" y="3708020"/>
                  <a:pt x="9549201" y="2491289"/>
                </a:cubicBezTo>
                <a:lnTo>
                  <a:pt x="9580005" y="24577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669925" y="1822450"/>
            <a:ext cx="10850564" cy="160655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669925" y="4017660"/>
            <a:ext cx="10850564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1" hasCustomPrompt="1"/>
          </p:nvPr>
        </p:nvSpPr>
        <p:spPr>
          <a:xfrm>
            <a:off x="669925" y="4329937"/>
            <a:ext cx="10850564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62403" y="502903"/>
            <a:ext cx="2658086" cy="71329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73.xml"/><Relationship Id="rId24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76.xml"/><Relationship Id="rId27" Type="http://schemas.openxmlformats.org/officeDocument/2006/relationships/slideLayout" Target="../slideLayouts/slideLayout77.xml"/><Relationship Id="rId28" Type="http://schemas.openxmlformats.org/officeDocument/2006/relationships/slideLayout" Target="../slideLayouts/slideLayout78.xml"/><Relationship Id="rId29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0.xml"/><Relationship Id="rId31" Type="http://schemas.openxmlformats.org/officeDocument/2006/relationships/slideLayout" Target="../slideLayouts/slideLayout81.xml"/><Relationship Id="rId32" Type="http://schemas.openxmlformats.org/officeDocument/2006/relationships/slideLayout" Target="../slideLayouts/slideLayout82.xml"/><Relationship Id="rId33" Type="http://schemas.openxmlformats.org/officeDocument/2006/relationships/slideLayout" Target="../slideLayouts/slideLayout83.xml"/><Relationship Id="rId34" Type="http://schemas.openxmlformats.org/officeDocument/2006/relationships/slideLayout" Target="../slideLayouts/slideLayout84.xml"/><Relationship Id="rId35" Type="http://schemas.openxmlformats.org/officeDocument/2006/relationships/slideLayout" Target="../slideLayouts/slideLayout85.xml"/><Relationship Id="rId36" Type="http://schemas.openxmlformats.org/officeDocument/2006/relationships/slideLayout" Target="../slideLayouts/slideLayout86.xml"/><Relationship Id="rId37" Type="http://schemas.openxmlformats.org/officeDocument/2006/relationships/slideLayout" Target="../slideLayouts/slideLayout87.xml"/><Relationship Id="rId38" Type="http://schemas.openxmlformats.org/officeDocument/2006/relationships/slideLayout" Target="../slideLayouts/slideLayout88.xml"/><Relationship Id="rId39" Type="http://schemas.openxmlformats.org/officeDocument/2006/relationships/slideLayout" Target="../slideLayouts/slideLayout89.xml"/><Relationship Id="rId40" Type="http://schemas.openxmlformats.org/officeDocument/2006/relationships/slideLayout" Target="../slideLayouts/slideLayout90.xml"/><Relationship Id="rId41" Type="http://schemas.openxmlformats.org/officeDocument/2006/relationships/slideLayout" Target="../slideLayouts/slideLayout91.xml"/><Relationship Id="rId42" Type="http://schemas.openxmlformats.org/officeDocument/2006/relationships/slideLayout" Target="../slideLayouts/slideLayout92.xml"/><Relationship Id="rId43" Type="http://schemas.openxmlformats.org/officeDocument/2006/relationships/slideLayout" Target="../slideLayouts/slideLayout93.xml"/><Relationship Id="rId44" Type="http://schemas.openxmlformats.org/officeDocument/2006/relationships/slideLayout" Target="../slideLayouts/slideLayout94.xml"/><Relationship Id="rId45" Type="http://schemas.openxmlformats.org/officeDocument/2006/relationships/slideLayout" Target="../slideLayouts/slideLayout95.xml"/><Relationship Id="rId46" Type="http://schemas.openxmlformats.org/officeDocument/2006/relationships/slideLayout" Target="../slideLayouts/slideLayout96.xml"/><Relationship Id="rId47" Type="http://schemas.openxmlformats.org/officeDocument/2006/relationships/slideLayout" Target="../slideLayouts/slideLayout97.xml"/><Relationship Id="rId48" Type="http://schemas.openxmlformats.org/officeDocument/2006/relationships/slideLayout" Target="../slideLayouts/slideLayout98.xml"/><Relationship Id="rId4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</p:sldLayoutIdLst>
  <p:transition spd="med"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  <p:sldLayoutId id="2147483741" r:id="rId42"/>
    <p:sldLayoutId id="2147483742" r:id="rId43"/>
    <p:sldLayoutId id="2147483743" r:id="rId44"/>
    <p:sldLayoutId id="2147483744" r:id="rId45"/>
    <p:sldLayoutId id="2147483745" r:id="rId46"/>
    <p:sldLayoutId id="2147483746" r:id="rId47"/>
    <p:sldLayoutId id="2147483747" r:id="rId48"/>
  </p:sldLayoutIdLst>
  <p:transition spd="med"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slideLayout" Target="../slideLayouts/slideLayout50.xml"/><Relationship Id="rId1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4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1340768"/>
            <a:ext cx="12192000" cy="20882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非理想测量下的用户中心多TRP协同优化研究</a:t>
            </a:r>
            <a:endParaRPr lang="en-US" altLang="zh-CN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336" y="155828"/>
            <a:ext cx="2042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研究汇报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3"/>
    </mc:Choice>
    <mc:Fallback xmlns="">
      <p:transition spd="slow" advTm="117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 idx="4294967295"/>
          </p:nvPr>
        </p:nvSpPr>
        <p:spPr>
          <a:xfrm>
            <a:off x="1279525" y="2528666"/>
            <a:ext cx="1806575" cy="675057"/>
          </a:xfrm>
        </p:spPr>
        <p:txBody>
          <a:bodyPr/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</a:rPr>
              <a:t>主要内容</a:t>
            </a:r>
          </a:p>
        </p:txBody>
      </p:sp>
      <p:grpSp>
        <p:nvGrpSpPr>
          <p:cNvPr id="30" name="组合 29"/>
          <p:cNvGrpSpPr/>
          <p:nvPr>
            <p:custDataLst>
              <p:tags r:id="rId1"/>
            </p:custDataLst>
          </p:nvPr>
        </p:nvGrpSpPr>
        <p:grpSpPr>
          <a:xfrm>
            <a:off x="5675907" y="569134"/>
            <a:ext cx="2882198" cy="1098506"/>
            <a:chOff x="5337036" y="1031947"/>
            <a:chExt cx="2882198" cy="1098506"/>
          </a:xfrm>
        </p:grpSpPr>
        <p:sp>
          <p:nvSpPr>
            <p:cNvPr id="46" name="文本框 45"/>
            <p:cNvSpPr txBox="1"/>
            <p:nvPr>
              <p:custDataLst>
                <p:tags r:id="rId11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1</a:t>
              </a:r>
              <a:endParaRPr kumimoji="0" lang="zh-CN" altLang="en-US" sz="5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2"/>
              </p:custDataLst>
            </p:nvPr>
          </p:nvSpPr>
          <p:spPr>
            <a:xfrm>
              <a:off x="6355262" y="1304201"/>
              <a:ext cx="1863972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17145">
                <a:spcBef>
                  <a:spcPts val="105"/>
                </a:spcBef>
              </a:pPr>
              <a:r>
                <a:rPr lang="zh-CN" altLang="en-US" sz="3600" b="1" dirty="0">
                  <a:solidFill>
                    <a:srgbClr val="C00000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</a:rPr>
                <a:t>研究问题与网络</a:t>
              </a:r>
            </a:p>
          </p:txBody>
        </p:sp>
      </p:grpSp>
      <p:grpSp>
        <p:nvGrpSpPr>
          <p:cNvPr id="59" name="组合 58"/>
          <p:cNvGrpSpPr/>
          <p:nvPr>
            <p:custDataLst>
              <p:tags r:id="rId2"/>
            </p:custDataLst>
          </p:nvPr>
        </p:nvGrpSpPr>
        <p:grpSpPr>
          <a:xfrm>
            <a:off x="5683198" y="2012029"/>
            <a:ext cx="4278628" cy="1481021"/>
            <a:chOff x="5337036" y="1031947"/>
            <a:chExt cx="4278628" cy="1481021"/>
          </a:xfrm>
        </p:grpSpPr>
        <p:sp>
          <p:nvSpPr>
            <p:cNvPr id="60" name="文本框 59"/>
            <p:cNvSpPr txBox="1"/>
            <p:nvPr>
              <p:custDataLst>
                <p:tags r:id="rId9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002B84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002B84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文本框 61"/>
            <p:cNvSpPr txBox="1"/>
            <p:nvPr>
              <p:custDataLst>
                <p:tags r:id="rId10"/>
              </p:custDataLst>
            </p:nvPr>
          </p:nvSpPr>
          <p:spPr>
            <a:xfrm>
              <a:off x="6384010" y="1248904"/>
              <a:ext cx="3231654" cy="126406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3600" b="1" dirty="0">
                  <a:solidFill>
                    <a:srgbClr val="002B84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</a:rPr>
                <a:t>系统模型与求解</a:t>
              </a:r>
            </a:p>
            <a:p>
              <a:pPr lvl="0">
                <a:lnSpc>
                  <a:spcPct val="120000"/>
                </a:lnSpc>
              </a:pPr>
              <a:endParaRPr lang="zh-CN" altLang="en-US" sz="3600" b="1" dirty="0">
                <a:solidFill>
                  <a:srgbClr val="002B84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>
            <p:custDataLst>
              <p:tags r:id="rId3"/>
            </p:custDataLst>
          </p:nvPr>
        </p:nvGrpSpPr>
        <p:grpSpPr>
          <a:xfrm>
            <a:off x="5675907" y="4918106"/>
            <a:ext cx="3804264" cy="1098506"/>
            <a:chOff x="5337036" y="1031947"/>
            <a:chExt cx="3804264" cy="1098506"/>
          </a:xfrm>
        </p:grpSpPr>
        <p:sp>
          <p:nvSpPr>
            <p:cNvPr id="67" name="文本框 66"/>
            <p:cNvSpPr txBox="1"/>
            <p:nvPr>
              <p:custDataLst>
                <p:tags r:id="rId7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002B84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4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002B84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9" name="文本框 68"/>
            <p:cNvSpPr txBox="1"/>
            <p:nvPr>
              <p:custDataLst>
                <p:tags r:id="rId8"/>
              </p:custDataLst>
            </p:nvPr>
          </p:nvSpPr>
          <p:spPr>
            <a:xfrm>
              <a:off x="6371311" y="1290123"/>
              <a:ext cx="2769989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3600" b="1" dirty="0">
                  <a:solidFill>
                    <a:srgbClr val="002B84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ea"/>
                </a:rPr>
                <a:t>新版研究方案</a:t>
              </a:r>
              <a:endParaRPr lang="zh-CN" altLang="en-US" sz="3600" b="1" dirty="0">
                <a:solidFill>
                  <a:srgbClr val="013A89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>
            <p:custDataLst>
              <p:tags r:id="rId4"/>
            </p:custDataLst>
          </p:nvPr>
        </p:nvGrpSpPr>
        <p:grpSpPr>
          <a:xfrm>
            <a:off x="5675658" y="3484713"/>
            <a:ext cx="5663622" cy="1098506"/>
            <a:chOff x="5337036" y="1031947"/>
            <a:chExt cx="5663622" cy="1098506"/>
          </a:xfrm>
        </p:grpSpPr>
        <p:sp>
          <p:nvSpPr>
            <p:cNvPr id="14" name="文本框 13"/>
            <p:cNvSpPr txBox="1"/>
            <p:nvPr>
              <p:custDataLst>
                <p:tags r:id="rId5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013A8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013A89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6"/>
              </p:custDataLst>
            </p:nvPr>
          </p:nvSpPr>
          <p:spPr>
            <a:xfrm>
              <a:off x="6384010" y="1248904"/>
              <a:ext cx="4616648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3600" b="1" dirty="0">
                  <a:solidFill>
                    <a:srgbClr val="002B84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ea"/>
                </a:rPr>
                <a:t>误差机制与验证</a:t>
              </a:r>
              <a:endParaRPr lang="zh-CN" altLang="en-GB" sz="3600" b="1" dirty="0">
                <a:solidFill>
                  <a:srgbClr val="002B84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</a:endParaRPr>
            </a:p>
          </p:txBody>
        </p:sp>
      </p:grp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研究问题与目标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1271016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170432"/>
            <a:ext cx="5193792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非理想测量使协同决策变难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636776"/>
            <a:ext cx="4937760" cy="57607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同一 UE 与不同 TRP 的 CSI 精度不同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" y="2459736"/>
            <a:ext cx="1280160" cy="512064"/>
          </a:xfrm>
          <a:prstGeom prst="roundRect">
            <a:avLst/>
          </a:prstGeom>
          <a:solidFill>
            <a:srgbClr val="12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459736"/>
            <a:ext cx="1280160" cy="51206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TRP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26664" y="2459736"/>
            <a:ext cx="1280160" cy="512064"/>
          </a:xfrm>
          <a:prstGeom prst="roundRect">
            <a:avLst/>
          </a:prstGeom>
          <a:solidFill>
            <a:srgbClr val="E87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26664" y="2459736"/>
            <a:ext cx="1280160" cy="51206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TRP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3703320"/>
            <a:ext cx="1124712" cy="530352"/>
          </a:xfrm>
          <a:prstGeom prst="roundRect">
            <a:avLst/>
          </a:prstGeom>
          <a:solidFill>
            <a:srgbClr val="E0ECF6"/>
          </a:solidFill>
          <a:ln w="1270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3703320"/>
            <a:ext cx="1124712" cy="53035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边缘 UE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91056" y="2971800"/>
            <a:ext cx="822960" cy="722376"/>
          </a:xfrm>
          <a:prstGeom prst="line">
            <a:avLst/>
          </a:prstGeom>
          <a:ln w="3048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898648" y="2971800"/>
            <a:ext cx="768096" cy="722376"/>
          </a:xfrm>
          <a:prstGeom prst="line">
            <a:avLst/>
          </a:prstGeom>
          <a:ln w="30480">
            <a:solidFill>
              <a:srgbClr val="E8792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2104" y="3145536"/>
            <a:ext cx="1252728" cy="39319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24A8F"/>
                </a:solidFill>
                <a:latin typeface="Microsoft YaHei"/>
              </a:rPr>
              <a:t>测得较准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3145536"/>
            <a:ext cx="1344168" cy="39319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E87929"/>
                </a:solidFill>
                <a:latin typeface="Microsoft YaHei"/>
              </a:rPr>
              <a:t>测得较差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773168"/>
            <a:ext cx="4910328" cy="72237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误差改变相干合成与干扰估计，边缘体验最容易受影响。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5605272"/>
            <a:ext cx="4773168" cy="36576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90" b="0">
                <a:solidFill>
                  <a:srgbClr val="000000"/>
                </a:solidFill>
                <a:latin typeface="Microsoft YaHei"/>
              </a:rPr>
              <a:t>用户中心协同研究背景 [1,2]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79592" y="1389888"/>
            <a:ext cx="0" cy="4526280"/>
          </a:xfrm>
          <a:prstGeom prst="line">
            <a:avLst/>
          </a:prstGeom>
          <a:ln w="1524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153912" y="1271016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170432"/>
            <a:ext cx="5266944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目标、方法与验证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1828800"/>
            <a:ext cx="438912" cy="438912"/>
          </a:xfrm>
          <a:prstGeom prst="round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1828800"/>
            <a:ext cx="438912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8856" y="1828800"/>
            <a:ext cx="1920240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研究目标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2267712"/>
            <a:ext cx="4599432" cy="62179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60" b="0">
                <a:solidFill>
                  <a:srgbClr val="000000"/>
                </a:solidFill>
                <a:latin typeface="Microsoft YaHei"/>
              </a:rPr>
              <a:t>按原协议评估边缘体验，并满足跨资源组功率和规模要求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4496" y="3154680"/>
            <a:ext cx="438912" cy="438912"/>
          </a:xfrm>
          <a:prstGeom prst="round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6" y="3154680"/>
            <a:ext cx="438912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8856" y="3154680"/>
            <a:ext cx="1920240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当前方法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3593592"/>
            <a:ext cx="4599432" cy="62179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60" b="0">
                <a:solidFill>
                  <a:srgbClr val="000000"/>
                </a:solidFill>
                <a:latin typeface="Microsoft YaHei"/>
              </a:rPr>
              <a:t>规则确定服务与调度；集中式 WMMSE–ADMM 求预编码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4480560"/>
            <a:ext cx="438912" cy="438912"/>
          </a:xfrm>
          <a:prstGeom prst="round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54496" y="4480560"/>
            <a:ext cx="438912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48856" y="4480560"/>
            <a:ext cx="1920240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拟研究创新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4919472"/>
            <a:ext cx="4599432" cy="62179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60" b="0">
                <a:solidFill>
                  <a:srgbClr val="000000"/>
                </a:solidFill>
                <a:latin typeface="Microsoft YaHei"/>
              </a:rPr>
              <a:t>SRS 质量驱动链路差异化误差；同条件公平对照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网络拓扑与协同架构</a:t>
            </a:r>
          </a:p>
        </p:txBody>
      </p:sp>
      <p:pic>
        <p:nvPicPr>
          <p:cNvPr id="3" name="Picture 2" descr="topology_full.png"/>
          <p:cNvPicPr>
            <a:picLocks noChangeAspect="1"/>
          </p:cNvPicPr>
          <p:nvPr/>
        </p:nvPicPr>
        <p:blipFill>
          <a:blip r:embed="rId3"/>
          <a:srcRect l="21400"/>
          <a:stretch>
            <a:fillRect/>
          </a:stretch>
        </p:blipFill>
        <p:spPr>
          <a:xfrm>
            <a:off x="417308" y="1280160"/>
            <a:ext cx="6119515" cy="5144147"/>
          </a:xfrm>
          <a:prstGeom prst="rect">
            <a:avLst/>
          </a:prstGeom>
        </p:spPr>
      </p:pic>
      <p:pic>
        <p:nvPicPr>
          <p:cNvPr id="6" name="Picture 5" descr="topology_zoom.png"/>
          <p:cNvPicPr>
            <a:picLocks noChangeAspect="1"/>
          </p:cNvPicPr>
          <p:nvPr/>
        </p:nvPicPr>
        <p:blipFill>
          <a:blip r:embed="rId4"/>
          <a:srcRect l="21261"/>
          <a:stretch>
            <a:fillRect/>
          </a:stretch>
        </p:blipFill>
        <p:spPr>
          <a:xfrm>
            <a:off x="7461503" y="1687854"/>
            <a:ext cx="3624845" cy="31950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1261872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1161288"/>
            <a:ext cx="4343400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共址扇区 · 用户中心服务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3216" y="4910328"/>
            <a:ext cx="4224528" cy="5029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39" b="0">
                <a:solidFill>
                  <a:srgbClr val="000000"/>
                </a:solidFill>
                <a:latin typeface="Microsoft YaHei"/>
              </a:rPr>
              <a:t>① 三个 TRP 共用一个站址，箭头表示扇区主方向。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3216" y="5422392"/>
            <a:ext cx="4224528" cy="5029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39" b="0">
                <a:solidFill>
                  <a:srgbClr val="000000"/>
                </a:solidFill>
                <a:latin typeface="Microsoft YaHei"/>
              </a:rPr>
              <a:t>② UE 7 由 T01、T02 服务；CPU 集中计算预编码。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3216" y="5916168"/>
            <a:ext cx="4206240" cy="33832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40" b="1">
                <a:solidFill>
                  <a:srgbClr val="000000"/>
                </a:solidFill>
                <a:latin typeface="Microsoft YaHei"/>
              </a:rPr>
              <a:t>彩色小点＝实际 UE；颜色＝初始归属站址。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系统框架</a:t>
            </a:r>
          </a:p>
        </p:txBody>
      </p:sp>
      <p:sp>
        <p:nvSpPr>
          <p:cNvPr id="3" name="Right Arrow 2"/>
          <p:cNvSpPr/>
          <p:nvPr/>
        </p:nvSpPr>
        <p:spPr>
          <a:xfrm>
            <a:off x="502920" y="1417320"/>
            <a:ext cx="2221992" cy="841248"/>
          </a:xfrm>
          <a:prstGeom prst="rightArrow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1563624"/>
            <a:ext cx="1819656" cy="521207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30" b="1">
                <a:solidFill>
                  <a:srgbClr val="FFFFFF"/>
                </a:solidFill>
                <a:latin typeface="Microsoft YaHei"/>
              </a:rPr>
              <a:t>场景与信道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2542032"/>
            <a:ext cx="2075688" cy="56692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位置、扇区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81912" y="2276856"/>
            <a:ext cx="0" cy="210312"/>
          </a:xfrm>
          <a:prstGeom prst="line">
            <a:avLst/>
          </a:prstGeom>
          <a:ln w="1651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8" y="3246120"/>
            <a:ext cx="2148840" cy="1042415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50" b="0">
                <a:solidFill>
                  <a:srgbClr val="000000"/>
                </a:solidFill>
                <a:latin typeface="Microsoft YaHei"/>
              </a:rPr>
              <a:t>真信道 Hᵗʳᵘᵉ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24912" y="2816352"/>
            <a:ext cx="109727" cy="0"/>
          </a:xfrm>
          <a:prstGeom prst="line">
            <a:avLst/>
          </a:prstGeom>
          <a:ln w="2159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ight Arrow 8"/>
          <p:cNvSpPr/>
          <p:nvPr/>
        </p:nvSpPr>
        <p:spPr>
          <a:xfrm>
            <a:off x="2834639" y="1417320"/>
            <a:ext cx="2221992" cy="841248"/>
          </a:xfrm>
          <a:prstGeom prst="rightArrow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7791" y="1563624"/>
            <a:ext cx="1819656" cy="521207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30" b="1">
                <a:solidFill>
                  <a:srgbClr val="FFFFFF"/>
                </a:solidFill>
                <a:latin typeface="Microsoft YaHei"/>
              </a:rPr>
              <a:t>测量与估计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9503" y="2542032"/>
            <a:ext cx="2075688" cy="56692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SRS / CSI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13631" y="2276856"/>
            <a:ext cx="0" cy="210312"/>
          </a:xfrm>
          <a:prstGeom prst="line">
            <a:avLst/>
          </a:prstGeom>
          <a:ln w="1651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52927" y="3246120"/>
            <a:ext cx="2148840" cy="1042415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50" b="0">
                <a:solidFill>
                  <a:srgbClr val="000000"/>
                </a:solidFill>
                <a:latin typeface="Microsoft YaHei"/>
              </a:rPr>
              <a:t>估计 Ĥ、误差 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56631" y="2816352"/>
            <a:ext cx="109728" cy="0"/>
          </a:xfrm>
          <a:prstGeom prst="line">
            <a:avLst/>
          </a:prstGeom>
          <a:ln w="2159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ight Arrow 14"/>
          <p:cNvSpPr/>
          <p:nvPr/>
        </p:nvSpPr>
        <p:spPr>
          <a:xfrm>
            <a:off x="5166359" y="1417320"/>
            <a:ext cx="2221992" cy="841248"/>
          </a:xfrm>
          <a:prstGeom prst="rightArrow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1563624"/>
            <a:ext cx="1819656" cy="521207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30" b="1">
                <a:solidFill>
                  <a:srgbClr val="FFFFFF"/>
                </a:solidFill>
                <a:latin typeface="Microsoft YaHei"/>
              </a:rPr>
              <a:t>资源配置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3" y="2542032"/>
            <a:ext cx="2075688" cy="56692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归属与规则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45351" y="2276856"/>
            <a:ext cx="0" cy="210312"/>
          </a:xfrm>
          <a:prstGeom prst="line">
            <a:avLst/>
          </a:prstGeom>
          <a:ln w="1651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84647" y="3246120"/>
            <a:ext cx="2148840" cy="1042415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50" b="0">
                <a:solidFill>
                  <a:srgbClr val="000000"/>
                </a:solidFill>
                <a:latin typeface="Microsoft YaHei"/>
              </a:rPr>
              <a:t>调度 b、服务 χ、rank r、权重 ν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88352" y="2816352"/>
            <a:ext cx="109727" cy="0"/>
          </a:xfrm>
          <a:prstGeom prst="line">
            <a:avLst/>
          </a:prstGeom>
          <a:ln w="2159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ight Arrow 20"/>
          <p:cNvSpPr/>
          <p:nvPr/>
        </p:nvSpPr>
        <p:spPr>
          <a:xfrm>
            <a:off x="7498079" y="1417320"/>
            <a:ext cx="2221992" cy="841248"/>
          </a:xfrm>
          <a:prstGeom prst="rightArrow">
            <a:avLst/>
          </a:prstGeom>
          <a:solidFill>
            <a:srgbClr val="12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1" y="1563624"/>
            <a:ext cx="1819656" cy="521207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30" b="1">
                <a:solidFill>
                  <a:srgbClr val="FFFFFF"/>
                </a:solidFill>
                <a:latin typeface="Microsoft YaHei"/>
              </a:rPr>
              <a:t>预编码求解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542032"/>
            <a:ext cx="2075688" cy="56692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WMMSE–ADMM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77072" y="2276856"/>
            <a:ext cx="0" cy="210312"/>
          </a:xfrm>
          <a:prstGeom prst="line">
            <a:avLst/>
          </a:prstGeom>
          <a:ln w="1651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516367" y="3246120"/>
            <a:ext cx="2148840" cy="1042415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50" b="0">
                <a:solidFill>
                  <a:srgbClr val="000000"/>
                </a:solidFill>
                <a:latin typeface="Microsoft YaHei"/>
              </a:rPr>
              <a:t>预编码 w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20072" y="2816352"/>
            <a:ext cx="109728" cy="0"/>
          </a:xfrm>
          <a:prstGeom prst="line">
            <a:avLst/>
          </a:prstGeom>
          <a:ln w="2159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ight Arrow 26"/>
          <p:cNvSpPr/>
          <p:nvPr/>
        </p:nvSpPr>
        <p:spPr>
          <a:xfrm>
            <a:off x="9829800" y="1417320"/>
            <a:ext cx="2221992" cy="841248"/>
          </a:xfrm>
          <a:prstGeom prst="rightArrow">
            <a:avLst/>
          </a:prstGeom>
          <a:solidFill>
            <a:srgbClr val="12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02952" y="1563624"/>
            <a:ext cx="1819656" cy="521207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30" b="1">
                <a:solidFill>
                  <a:srgbClr val="FFFFFF"/>
                </a:solidFill>
                <a:latin typeface="Microsoft YaHei"/>
              </a:rPr>
              <a:t>性能评价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4664" y="2542032"/>
            <a:ext cx="2075688" cy="56692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真信道计算速率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908792" y="2276856"/>
            <a:ext cx="0" cy="210312"/>
          </a:xfrm>
          <a:prstGeom prst="line">
            <a:avLst/>
          </a:prstGeom>
          <a:ln w="1651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848088" y="3246120"/>
            <a:ext cx="2148840" cy="1042415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50" b="0">
                <a:solidFill>
                  <a:srgbClr val="000000"/>
                </a:solidFill>
                <a:latin typeface="Microsoft YaHei"/>
              </a:rPr>
              <a:t>体验率与功率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" y="4782312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681728"/>
            <a:ext cx="5440680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变量传递的关键边界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" y="5212080"/>
            <a:ext cx="10652760" cy="6675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求解使用 Ĥ 与 C；调度和服务集由规则固定；最终用 Hᵗʳᵘᵉ 计算实际速率。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信道与测量模型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89304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88720"/>
            <a:ext cx="5074920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七站几何与 UE 采样</a:t>
            </a:r>
          </a:p>
        </p:txBody>
      </p:sp>
      <p:pic>
        <p:nvPicPr>
          <p:cNvPr id="5" name="Picture 4" descr="geomet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1755648"/>
            <a:ext cx="5129784" cy="3929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" y="2514600"/>
            <a:ext cx="4965192" cy="67665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50" b="0">
                <a:solidFill>
                  <a:srgbClr val="000000"/>
                </a:solidFill>
                <a:latin typeface="Microsoft YaHei"/>
              </a:rPr>
              <a:t>中心 (450,450) m；外围 6 站相隔 60°，距中心 300 m。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37560"/>
            <a:ext cx="4937760" cy="1490472"/>
          </a:xfrm>
          <a:prstGeom prst="roundRect">
            <a:avLst/>
          </a:prstGeom>
          <a:solidFill>
            <a:srgbClr val="F4F9FD"/>
          </a:solidFill>
          <a:ln w="1270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65576"/>
            <a:ext cx="4690872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UE 在所属扇区的环形区域内面积均匀抽样</a:t>
            </a:r>
          </a:p>
        </p:txBody>
      </p:sp>
      <p:pic>
        <p:nvPicPr>
          <p:cNvPr id="9" name="Picture 8" descr="ue_radiu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3941063"/>
            <a:ext cx="4617720" cy="4782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065776"/>
            <a:ext cx="4809744" cy="6583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半径 25–150 m 与扇区 ±60° 是项目假设。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16168" y="1389888"/>
            <a:ext cx="0" cy="4489704"/>
          </a:xfrm>
          <a:prstGeom prst="line">
            <a:avLst/>
          </a:prstGeom>
          <a:ln w="1524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108192" y="1289304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188720"/>
            <a:ext cx="5102352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当前真信道：接收相关模型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764792"/>
            <a:ext cx="4323120" cy="603504"/>
          </a:xfrm>
          <a:prstGeom prst="rect">
            <a:avLst/>
          </a:prstGeom>
        </p:spPr>
      </p:pic>
      <p:pic>
        <p:nvPicPr>
          <p:cNvPr id="15" name="Picture 14" descr="rx_fac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2633472"/>
            <a:ext cx="5047488" cy="48668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91072" y="3392424"/>
            <a:ext cx="4892040" cy="110642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30" b="0">
                <a:solidFill>
                  <a:srgbClr val="000000"/>
                </a:solidFill>
                <a:latin typeface="Microsoft YaHei"/>
              </a:rPr>
              <a:t>β：大尺度增益；Lᵣₓ：4×4 接收相关因子；Ξ：4×64 独立复高斯矩阵。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7336" y="4837176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4736592"/>
            <a:ext cx="4928616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测量输出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5257800"/>
            <a:ext cx="4864608" cy="67665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39" b="0">
                <a:solidFill>
                  <a:srgbClr val="000000"/>
                </a:solidFill>
                <a:latin typeface="Microsoft YaHei"/>
              </a:rPr>
              <a:t>SRS/CSI 观测形成 Ĥ（4×64）与条件误差 C（4×4）。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资源变量与优化目标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325880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225296"/>
            <a:ext cx="5074920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规则固定的资源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10512"/>
            <a:ext cx="941832" cy="502920"/>
          </a:xfrm>
          <a:prstGeom prst="round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10512"/>
            <a:ext cx="941832" cy="5029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92B56"/>
                </a:solidFill>
                <a:latin typeface="Microsoft YaHe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10512"/>
            <a:ext cx="3593592" cy="5029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UE 是否调度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551176"/>
            <a:ext cx="941832" cy="502920"/>
          </a:xfrm>
          <a:prstGeom prst="round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551176"/>
            <a:ext cx="941832" cy="5029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92B56"/>
                </a:solidFill>
                <a:latin typeface="Microsoft YaHei"/>
              </a:rPr>
              <a:t>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551176"/>
            <a:ext cx="3593592" cy="5029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TRP–UE 服务掩码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291840"/>
            <a:ext cx="941832" cy="502920"/>
          </a:xfrm>
          <a:prstGeom prst="round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291840"/>
            <a:ext cx="941832" cy="5029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92B56"/>
                </a:solidFill>
                <a:latin typeface="Microsoft YaHei"/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291840"/>
            <a:ext cx="3593592" cy="5029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数据流数 / rank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032504"/>
            <a:ext cx="941832" cy="502920"/>
          </a:xfrm>
          <a:prstGeom prst="round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032504"/>
            <a:ext cx="941832" cy="5029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92B56"/>
                </a:solidFill>
                <a:latin typeface="Microsoft YaHei"/>
              </a:rPr>
              <a:t>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32504"/>
            <a:ext cx="3593592" cy="5029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资源组占用 RB 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25312" y="1380744"/>
            <a:ext cx="0" cy="4562856"/>
          </a:xfrm>
          <a:prstGeom prst="line">
            <a:avLst/>
          </a:prstGeom>
          <a:ln w="1524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126480" y="1325880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1225296"/>
            <a:ext cx="5102352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当前优化的连续变量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1847088"/>
            <a:ext cx="4745736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wₗₖg：TRP l 对 UE k 的预编码，64×r，包含发射幅度。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2779776"/>
            <a:ext cx="2619156" cy="5303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18504" y="3438144"/>
            <a:ext cx="4754880" cy="60350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10" b="0">
                <a:solidFill>
                  <a:srgbClr val="000000"/>
                </a:solidFill>
                <a:latin typeface="Microsoft YaHei"/>
              </a:rPr>
              <a:t>效用以交付量的 PF 代理计算；不同于最终体验率。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4197096"/>
            <a:ext cx="2056098" cy="5760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18504" y="4910328"/>
            <a:ext cx="4736592" cy="62179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10" b="0">
                <a:solidFill>
                  <a:srgbClr val="000000"/>
                </a:solidFill>
                <a:latin typeface="Microsoft YaHei"/>
              </a:rPr>
              <a:t>每个 TRP 的功率在所有资源组上合计受限。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6072" y="5843016"/>
            <a:ext cx="10908792" cy="0"/>
          </a:xfrm>
          <a:prstGeom prst="line">
            <a:avLst/>
          </a:prstGeom>
          <a:ln w="1397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22376" y="5971032"/>
            <a:ext cx="10460736" cy="37490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10" b="0">
                <a:solidFill>
                  <a:srgbClr val="000000"/>
                </a:solidFill>
                <a:latin typeface="Microsoft YaHei"/>
              </a:rPr>
              <a:t>历史 GA / PSO / SRACOS 搜索链仍独立；未调用当前矩阵 WMMSE 评价器。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接收模型与速率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89304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88720"/>
            <a:ext cx="5120640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用户中心相干信号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" y="1810512"/>
            <a:ext cx="3081528" cy="832104"/>
          </a:xfrm>
          <a:prstGeom prst="roundRect">
            <a:avLst/>
          </a:prstGeom>
          <a:solidFill>
            <a:srgbClr val="F4F9FD"/>
          </a:solidFill>
          <a:ln w="1270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865376"/>
            <a:ext cx="2816352" cy="32918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92B56"/>
                </a:solidFill>
                <a:latin typeface="Microsoft YaHei"/>
              </a:rPr>
              <a:t>TRP 服务块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221992"/>
            <a:ext cx="2807208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9" b="0">
                <a:solidFill>
                  <a:srgbClr val="000000"/>
                </a:solidFill>
                <a:latin typeface="Microsoft YaHei"/>
              </a:rPr>
              <a:t>Hₖₗg · wₗⱼg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67912" y="2121408"/>
            <a:ext cx="448056" cy="201168"/>
          </a:xfrm>
          <a:prstGeom prst="rightArrow">
            <a:avLst/>
          </a:prstGeom>
          <a:solidFill>
            <a:srgbClr val="12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3984" y="1810512"/>
            <a:ext cx="3081528" cy="832104"/>
          </a:xfrm>
          <a:prstGeom prst="roundRect">
            <a:avLst/>
          </a:prstGeom>
          <a:solidFill>
            <a:srgbClr val="F4F9FD"/>
          </a:solidFill>
          <a:ln w="1270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865376"/>
            <a:ext cx="2816352" cy="32918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92B56"/>
                </a:solidFill>
                <a:latin typeface="Microsoft YaHei"/>
              </a:rPr>
              <a:t>跨 TRP 合成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221992"/>
            <a:ext cx="2807208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9" b="0">
                <a:solidFill>
                  <a:srgbClr val="000000"/>
                </a:solidFill>
                <a:latin typeface="Microsoft YaHei"/>
              </a:rPr>
              <a:t>Fₖⱼg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62672" y="2121408"/>
            <a:ext cx="448056" cy="201168"/>
          </a:xfrm>
          <a:prstGeom prst="rightArrow">
            <a:avLst/>
          </a:prstGeom>
          <a:solidFill>
            <a:srgbClr val="12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38744" y="1810512"/>
            <a:ext cx="3081528" cy="832104"/>
          </a:xfrm>
          <a:prstGeom prst="roundRect">
            <a:avLst/>
          </a:prstGeom>
          <a:solidFill>
            <a:srgbClr val="F4F9FD"/>
          </a:solidFill>
          <a:ln w="1270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865376"/>
            <a:ext cx="2816352" cy="32918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92B56"/>
                </a:solidFill>
                <a:latin typeface="Microsoft YaHei"/>
              </a:rPr>
              <a:t>UE 接收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221992"/>
            <a:ext cx="2807208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9" b="0">
                <a:solidFill>
                  <a:srgbClr val="000000"/>
                </a:solidFill>
                <a:latin typeface="Microsoft YaHei"/>
              </a:rPr>
              <a:t>有用 + 干扰 + 噪声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044952"/>
            <a:ext cx="2923661" cy="5669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8952" y="3794760"/>
            <a:ext cx="4901184" cy="64922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30" b="0">
                <a:solidFill>
                  <a:srgbClr val="000000"/>
                </a:solidFill>
                <a:latin typeface="Microsoft YaHei"/>
              </a:rPr>
              <a:t>Fₖⱼg（4×r）：UE k 所见 UE j 的相干等效信道。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97880" y="2907792"/>
            <a:ext cx="0" cy="3072384"/>
          </a:xfrm>
          <a:prstGeom prst="line">
            <a:avLst/>
          </a:prstGeom>
          <a:ln w="1524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108192" y="3017520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916936"/>
            <a:ext cx="5074920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干扰、速率与评价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3474720"/>
            <a:ext cx="3116610" cy="5303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63640" y="4123944"/>
            <a:ext cx="4864608" cy="64008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80" b="0">
                <a:solidFill>
                  <a:srgbClr val="000000"/>
                </a:solidFill>
                <a:latin typeface="Microsoft YaHei"/>
              </a:rPr>
              <a:t>Rʸʸ（4×4）＝信号、干扰与误差统计的接收协方差。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928616"/>
            <a:ext cx="4926112" cy="5120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72784" y="5532120"/>
            <a:ext cx="4864608" cy="5029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80" b="0">
                <a:solidFill>
                  <a:srgbClr val="000000"/>
                </a:solidFill>
                <a:latin typeface="Microsoft YaHei"/>
              </a:rPr>
              <a:t>SE 用 bit/s/Hz；体验率按业务协议另算。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WMMSE 更新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98448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97864"/>
            <a:ext cx="5193792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外层：交替更新接收与预编码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792224"/>
            <a:ext cx="2459736" cy="795528"/>
          </a:xfrm>
          <a:prstGeom prst="roundRect">
            <a:avLst/>
          </a:prstGeom>
          <a:solidFill>
            <a:srgbClr val="F4F9FD"/>
          </a:solidFill>
          <a:ln w="1270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37943"/>
            <a:ext cx="2304288" cy="32004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20" b="1">
                <a:solidFill>
                  <a:srgbClr val="092B56"/>
                </a:solidFill>
                <a:latin typeface="Microsoft YaHei"/>
              </a:rPr>
              <a:t>当前 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85416"/>
            <a:ext cx="2304288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70" b="0">
                <a:solidFill>
                  <a:srgbClr val="000000"/>
                </a:solidFill>
                <a:latin typeface="Microsoft YaHei"/>
              </a:rPr>
              <a:t>含幅度预编码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08960" y="2075688"/>
            <a:ext cx="292608" cy="164592"/>
          </a:xfrm>
          <a:prstGeom prst="rightArrow">
            <a:avLst/>
          </a:prstGeom>
          <a:solidFill>
            <a:srgbClr val="12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56432" y="1792224"/>
            <a:ext cx="2459736" cy="795528"/>
          </a:xfrm>
          <a:prstGeom prst="roundRect">
            <a:avLst/>
          </a:prstGeom>
          <a:solidFill>
            <a:srgbClr val="F4F9FD"/>
          </a:solidFill>
          <a:ln w="1270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1837943"/>
            <a:ext cx="2304288" cy="32004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20" b="1">
                <a:solidFill>
                  <a:srgbClr val="092B56"/>
                </a:solidFill>
                <a:latin typeface="Microsoft YaHei"/>
              </a:rPr>
              <a:t>A ← 接收器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2185416"/>
            <a:ext cx="2304288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70" b="0">
                <a:solidFill>
                  <a:srgbClr val="000000"/>
                </a:solidFill>
                <a:latin typeface="Microsoft YaHei"/>
              </a:rPr>
              <a:t>4×r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0176" y="2075688"/>
            <a:ext cx="292608" cy="164592"/>
          </a:xfrm>
          <a:prstGeom prst="rightArrow">
            <a:avLst/>
          </a:prstGeom>
          <a:solidFill>
            <a:srgbClr val="12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27648" y="1792224"/>
            <a:ext cx="2459736" cy="795528"/>
          </a:xfrm>
          <a:prstGeom prst="roundRect">
            <a:avLst/>
          </a:prstGeom>
          <a:solidFill>
            <a:srgbClr val="F4F9FD"/>
          </a:solidFill>
          <a:ln w="1270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37943"/>
            <a:ext cx="2304288" cy="32004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20" b="1">
                <a:solidFill>
                  <a:srgbClr val="092B56"/>
                </a:solidFill>
                <a:latin typeface="Microsoft YaHei"/>
              </a:rPr>
              <a:t>E、Ω ← MSE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85416"/>
            <a:ext cx="2304288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70" b="0">
                <a:solidFill>
                  <a:srgbClr val="000000"/>
                </a:solidFill>
                <a:latin typeface="Microsoft YaHei"/>
              </a:rPr>
              <a:t>r×r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51392" y="2075688"/>
            <a:ext cx="292608" cy="164592"/>
          </a:xfrm>
          <a:prstGeom prst="rightArrow">
            <a:avLst/>
          </a:prstGeom>
          <a:solidFill>
            <a:srgbClr val="12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98864" y="1792224"/>
            <a:ext cx="2459736" cy="795528"/>
          </a:xfrm>
          <a:prstGeom prst="roundRect">
            <a:avLst/>
          </a:prstGeom>
          <a:solidFill>
            <a:srgbClr val="F4F9FD"/>
          </a:solidFill>
          <a:ln w="1270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2016" y="1837943"/>
            <a:ext cx="2304288" cy="32004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20" b="1">
                <a:solidFill>
                  <a:srgbClr val="092B56"/>
                </a:solidFill>
                <a:latin typeface="Microsoft YaHei"/>
              </a:rPr>
              <a:t>w ← ADMM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6" y="2185416"/>
            <a:ext cx="2304288" cy="2743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70" b="0">
                <a:solidFill>
                  <a:srgbClr val="000000"/>
                </a:solidFill>
                <a:latin typeface="Microsoft YaHei"/>
              </a:rPr>
              <a:t>功率可行副本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917936" y="2816352"/>
            <a:ext cx="0" cy="228600"/>
          </a:xfrm>
          <a:prstGeom prst="line">
            <a:avLst/>
          </a:prstGeom>
          <a:ln w="22860">
            <a:solidFill>
              <a:srgbClr val="B1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810512" y="3044952"/>
            <a:ext cx="9107424" cy="0"/>
          </a:xfrm>
          <a:prstGeom prst="line">
            <a:avLst/>
          </a:prstGeom>
          <a:ln w="22860">
            <a:solidFill>
              <a:srgbClr val="B1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08576" y="3118104"/>
            <a:ext cx="2898648" cy="33832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0" b="1">
                <a:solidFill>
                  <a:srgbClr val="B12A30"/>
                </a:solidFill>
                <a:latin typeface="Microsoft YaHei"/>
              </a:rPr>
              <a:t>重算并判断外层停止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730752"/>
            <a:ext cx="2761693" cy="54864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3730752"/>
            <a:ext cx="5294376" cy="472712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873752"/>
            <a:ext cx="1398569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306824" y="4864608"/>
            <a:ext cx="6784848" cy="62179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30" b="0">
                <a:solidFill>
                  <a:srgbClr val="000000"/>
                </a:solidFill>
                <a:latin typeface="Microsoft YaHei"/>
              </a:rPr>
              <a:t>η：用户效用权重；固定 A、Ω、η 后，构造 w 的二次子问题。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87568"/>
            <a:ext cx="10488168" cy="42062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20" b="0">
                <a:solidFill>
                  <a:srgbClr val="000000"/>
                </a:solidFill>
                <a:latin typeface="Microsoft YaHei"/>
              </a:rPr>
              <a:t>输入 Ĥ、C 与当前 w；输出更新后的 A、E、Ω，并继续优化 w。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0888" y="5239512"/>
            <a:ext cx="2002536" cy="32918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90" b="0">
                <a:solidFill>
                  <a:srgbClr val="000000"/>
                </a:solidFill>
                <a:latin typeface="Microsoft YaHei"/>
              </a:rPr>
              <a:t>理论依据 [4]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ADMM 求解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1280160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179576"/>
            <a:ext cx="5230368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内层：固定 A、Ω、η，更新 w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728216"/>
            <a:ext cx="5317338" cy="5760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2377440"/>
            <a:ext cx="10497312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20" b="0">
                <a:solidFill>
                  <a:srgbClr val="000000"/>
                </a:solidFill>
                <a:latin typeface="Microsoft YaHei"/>
              </a:rPr>
              <a:t>x：原变量；Q、B：二次项；ρ：罚参数；νg：资源组 RB 权重。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3090672"/>
            <a:ext cx="2532888" cy="1152144"/>
          </a:xfrm>
          <a:prstGeom prst="roundRect">
            <a:avLst/>
          </a:prstGeom>
          <a:solidFill>
            <a:srgbClr val="F4F9FD"/>
          </a:solidFill>
          <a:ln w="1270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3191256"/>
            <a:ext cx="2340864" cy="37490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60" b="1">
                <a:solidFill>
                  <a:srgbClr val="092B56"/>
                </a:solidFill>
                <a:latin typeface="Microsoft YaHei"/>
              </a:rPr>
              <a:t>① CG 求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630168"/>
            <a:ext cx="2340864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9" b="0">
                <a:solidFill>
                  <a:srgbClr val="000000"/>
                </a:solidFill>
                <a:latin typeface="Microsoft YaHei"/>
              </a:rPr>
              <a:t>隐式二次算子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63824" y="3529584"/>
            <a:ext cx="283464" cy="164592"/>
          </a:xfrm>
          <a:prstGeom prst="rightArrow">
            <a:avLst/>
          </a:prstGeom>
          <a:solidFill>
            <a:srgbClr val="12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2152" y="3090672"/>
            <a:ext cx="2532888" cy="1152144"/>
          </a:xfrm>
          <a:prstGeom prst="roundRect">
            <a:avLst/>
          </a:prstGeom>
          <a:solidFill>
            <a:srgbClr val="F4F9FD"/>
          </a:solidFill>
          <a:ln w="1270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3191256"/>
            <a:ext cx="2340864" cy="37490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60" b="1">
                <a:solidFill>
                  <a:srgbClr val="092B56"/>
                </a:solidFill>
                <a:latin typeface="Microsoft YaHei"/>
              </a:rPr>
              <a:t>② 投影 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3630168"/>
            <a:ext cx="2340864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9" b="0">
                <a:solidFill>
                  <a:srgbClr val="000000"/>
                </a:solidFill>
                <a:latin typeface="Microsoft YaHei"/>
              </a:rPr>
              <a:t>跨组功率可行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62472" y="3529584"/>
            <a:ext cx="283464" cy="164592"/>
          </a:xfrm>
          <a:prstGeom prst="rightArrow">
            <a:avLst/>
          </a:prstGeom>
          <a:solidFill>
            <a:srgbClr val="12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3090672"/>
            <a:ext cx="2532888" cy="1152144"/>
          </a:xfrm>
          <a:prstGeom prst="roundRect">
            <a:avLst/>
          </a:prstGeom>
          <a:solidFill>
            <a:srgbClr val="F4F9FD"/>
          </a:solidFill>
          <a:ln w="1270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191256"/>
            <a:ext cx="2340864" cy="37490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60" b="1">
                <a:solidFill>
                  <a:srgbClr val="092B56"/>
                </a:solidFill>
                <a:latin typeface="Microsoft YaHei"/>
              </a:rPr>
              <a:t>③ 对偶 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30168"/>
            <a:ext cx="2340864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9" b="0">
                <a:solidFill>
                  <a:srgbClr val="000000"/>
                </a:solidFill>
                <a:latin typeface="Microsoft YaHei"/>
              </a:rPr>
              <a:t>累积 x−z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61120" y="3529584"/>
            <a:ext cx="283464" cy="164592"/>
          </a:xfrm>
          <a:prstGeom prst="rightArrow">
            <a:avLst/>
          </a:prstGeom>
          <a:solidFill>
            <a:srgbClr val="12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99448" y="3090672"/>
            <a:ext cx="2532888" cy="1152144"/>
          </a:xfrm>
          <a:prstGeom prst="roundRect">
            <a:avLst/>
          </a:prstGeom>
          <a:solidFill>
            <a:srgbClr val="F4F9FD"/>
          </a:solidFill>
          <a:ln w="1270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3191256"/>
            <a:ext cx="2340864" cy="37490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60" b="1">
                <a:solidFill>
                  <a:srgbClr val="092B56"/>
                </a:solidFill>
                <a:latin typeface="Microsoft YaHei"/>
              </a:rPr>
              <a:t>④ 残差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3630168"/>
            <a:ext cx="2340864" cy="4389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9" b="0">
                <a:solidFill>
                  <a:srgbClr val="000000"/>
                </a:solidFill>
                <a:latin typeface="Microsoft YaHei"/>
              </a:rPr>
              <a:t>判定内层停止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700016"/>
            <a:ext cx="5992114" cy="566928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5541264"/>
            <a:ext cx="1860279" cy="52120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41664" y="4800600"/>
            <a:ext cx="2304288" cy="113385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20" b="0">
                <a:solidFill>
                  <a:srgbClr val="000000"/>
                </a:solidFill>
                <a:latin typeface="Microsoft YaHei"/>
              </a:rPr>
              <a:t>返回功率可行的 z；与数值对拍、外层停止分别检查。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9096" y="6044184"/>
            <a:ext cx="2167128" cy="30175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90" b="0">
                <a:solidFill>
                  <a:srgbClr val="000000"/>
                </a:solidFill>
                <a:latin typeface="Microsoft YaHei"/>
              </a:rPr>
              <a:t>方法依据 [5]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非均匀误差机制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89304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88720"/>
            <a:ext cx="5193792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链路测量质量 → 非均匀统计误差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837943"/>
            <a:ext cx="3182112" cy="1005840"/>
          </a:xfrm>
          <a:prstGeom prst="roundRect">
            <a:avLst/>
          </a:prstGeom>
          <a:solidFill>
            <a:srgbClr val="F4F9FD"/>
          </a:solidFill>
          <a:ln w="1270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901952"/>
            <a:ext cx="2944368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20" b="1">
                <a:solidFill>
                  <a:srgbClr val="092B56"/>
                </a:solidFill>
                <a:latin typeface="Microsoft YaHei"/>
              </a:rPr>
              <a:t>测量输入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50008"/>
            <a:ext cx="2935224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0" b="0">
                <a:solidFill>
                  <a:srgbClr val="000000"/>
                </a:solidFill>
                <a:latin typeface="Microsoft YaHei"/>
              </a:rPr>
              <a:t>SRS SINR、CSI 年龄、先验 β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77056" y="2221992"/>
            <a:ext cx="429768" cy="182880"/>
          </a:xfrm>
          <a:prstGeom prst="rightArrow">
            <a:avLst/>
          </a:prstGeom>
          <a:solidFill>
            <a:srgbClr val="12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3983" y="1837943"/>
            <a:ext cx="3182112" cy="1005840"/>
          </a:xfrm>
          <a:prstGeom prst="roundRect">
            <a:avLst/>
          </a:prstGeom>
          <a:solidFill>
            <a:srgbClr val="F4F9FD"/>
          </a:solidFill>
          <a:ln w="1270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901952"/>
            <a:ext cx="2944368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20" b="1">
                <a:solidFill>
                  <a:srgbClr val="092B56"/>
                </a:solidFill>
                <a:latin typeface="Microsoft YaHei"/>
              </a:rPr>
              <a:t>条件统计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5" y="2350008"/>
            <a:ext cx="2935224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0" b="0">
                <a:solidFill>
                  <a:srgbClr val="000000"/>
                </a:solidFill>
                <a:latin typeface="Microsoft YaHei"/>
              </a:rPr>
              <a:t>各链路 Cₖₗg：4×4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90104" y="2221992"/>
            <a:ext cx="429768" cy="182880"/>
          </a:xfrm>
          <a:prstGeom prst="rightArrow">
            <a:avLst/>
          </a:prstGeom>
          <a:solidFill>
            <a:srgbClr val="12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57031" y="1837943"/>
            <a:ext cx="3182112" cy="1005840"/>
          </a:xfrm>
          <a:prstGeom prst="roundRect">
            <a:avLst/>
          </a:prstGeom>
          <a:solidFill>
            <a:srgbClr val="F4F9FD"/>
          </a:solidFill>
          <a:ln w="1270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1901952"/>
            <a:ext cx="2944368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20" b="1">
                <a:solidFill>
                  <a:srgbClr val="092B56"/>
                </a:solidFill>
                <a:latin typeface="Microsoft YaHei"/>
              </a:rPr>
              <a:t>进入求解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350008"/>
            <a:ext cx="2935224" cy="38404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0" b="0">
                <a:solidFill>
                  <a:srgbClr val="000000"/>
                </a:solidFill>
                <a:latin typeface="Microsoft YaHei"/>
              </a:rPr>
              <a:t>Rʸʸ → A、E、Ω；Q → w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346704"/>
            <a:ext cx="4490407" cy="5852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10528" y="3346704"/>
            <a:ext cx="4645152" cy="9601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30" b="0">
                <a:solidFill>
                  <a:srgbClr val="000000"/>
                </a:solidFill>
                <a:latin typeface="Microsoft YaHei"/>
              </a:rPr>
              <a:t>γs（dB）、CSI 年龄 t（s）改变有效噪声；后验 C 因链路而异。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0936" y="4425696"/>
            <a:ext cx="10817352" cy="0"/>
          </a:xfrm>
          <a:prstGeom prst="line">
            <a:avLst/>
          </a:prstGeom>
          <a:ln w="1397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21207" y="4681728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4581144"/>
            <a:ext cx="5193792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公平对照与当前边界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5148072"/>
            <a:ext cx="10460736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20" b="0">
                <a:solidFill>
                  <a:srgbClr val="000000"/>
                </a:solidFill>
                <a:latin typeface="Microsoft YaHei"/>
              </a:rPr>
              <a:t>同一拓扑、业务、预算与初始化下比较：名义 CSI ｜统一误差｜非均匀误差。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5806440"/>
            <a:ext cx="10460736" cy="4297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80" b="1">
                <a:solidFill>
                  <a:srgbClr val="000000"/>
                </a:solidFill>
                <a:latin typeface="Microsoft YaHei"/>
              </a:rPr>
              <a:t>当前是统计协方差模型；正式规模尚未达停止条件；最坏情况内层未接入。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核心变量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53312"/>
            <a:ext cx="1645920" cy="448056"/>
          </a:xfrm>
          <a:prstGeom prst="rect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362456"/>
            <a:ext cx="1554480" cy="4297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0" b="1">
                <a:solidFill>
                  <a:srgbClr val="FFFFFF"/>
                </a:solidFill>
                <a:latin typeface="Microsoft YaHei"/>
              </a:rPr>
              <a:t>类别</a:t>
            </a:r>
          </a:p>
        </p:txBody>
      </p:sp>
      <p:sp>
        <p:nvSpPr>
          <p:cNvPr id="5" name="Rectangle 4"/>
          <p:cNvSpPr/>
          <p:nvPr/>
        </p:nvSpPr>
        <p:spPr>
          <a:xfrm>
            <a:off x="2304288" y="1353312"/>
            <a:ext cx="4718304" cy="448056"/>
          </a:xfrm>
          <a:prstGeom prst="rect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50008" y="1362456"/>
            <a:ext cx="4626864" cy="4297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0" b="1">
                <a:solidFill>
                  <a:srgbClr val="FFFFFF"/>
                </a:solidFill>
                <a:latin typeface="Microsoft YaHei"/>
              </a:rPr>
              <a:t>标准符号</a:t>
            </a:r>
          </a:p>
        </p:txBody>
      </p:sp>
      <p:sp>
        <p:nvSpPr>
          <p:cNvPr id="7" name="Rectangle 6"/>
          <p:cNvSpPr/>
          <p:nvPr/>
        </p:nvSpPr>
        <p:spPr>
          <a:xfrm>
            <a:off x="7022592" y="1353312"/>
            <a:ext cx="2980944" cy="448056"/>
          </a:xfrm>
          <a:prstGeom prst="rect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68312" y="1362456"/>
            <a:ext cx="2889503" cy="4297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0" b="1">
                <a:solidFill>
                  <a:srgbClr val="FFFFFF"/>
                </a:solidFill>
                <a:latin typeface="Microsoft YaHei"/>
              </a:rPr>
              <a:t>中文含义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3536" y="1353312"/>
            <a:ext cx="1490472" cy="448056"/>
          </a:xfrm>
          <a:prstGeom prst="rect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49256" y="1362456"/>
            <a:ext cx="1399032" cy="4297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0" b="1">
                <a:solidFill>
                  <a:srgbClr val="FFFFFF"/>
                </a:solidFill>
                <a:latin typeface="Microsoft YaHei"/>
              </a:rPr>
              <a:t>维度 / 单位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865376"/>
            <a:ext cx="10835640" cy="630936"/>
          </a:xfrm>
          <a:prstGeom prst="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1901952"/>
            <a:ext cx="1517904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索引与规模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8296" y="1901952"/>
            <a:ext cx="4590288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l, k, j, g; Nₜ, Nᵣ,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901952"/>
            <a:ext cx="2852927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TRP、UE、资源组；端口、接收天线、流数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67544" y="1901952"/>
            <a:ext cx="1362456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索引；64、4、≤2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2523744"/>
            <a:ext cx="1083564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58368" y="2551176"/>
            <a:ext cx="10835640" cy="630936"/>
          </a:xfrm>
          <a:prstGeom prst="rect">
            <a:avLst/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2587752"/>
            <a:ext cx="1517904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信道与测量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8296" y="2587752"/>
            <a:ext cx="4590288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Hᵗʳᵘᵉ, Ĥ,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587752"/>
            <a:ext cx="2852927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真信道、估计信道、条件误差协方差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67544" y="2587752"/>
            <a:ext cx="1362456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4×64；4×64；4×4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3209544"/>
            <a:ext cx="1083564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58368" y="3236976"/>
            <a:ext cx="10835640" cy="630936"/>
          </a:xfrm>
          <a:prstGeom prst="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3273552"/>
            <a:ext cx="1517904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资源变量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68296" y="3273552"/>
            <a:ext cx="4590288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b, χ, ν; w, p, Pₗ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273552"/>
            <a:ext cx="2852927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调度、服务、RB 权重；预编码、功率、预算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67544" y="3273552"/>
            <a:ext cx="1362456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0/1；64×r；W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3895344"/>
            <a:ext cx="1083564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58368" y="3922776"/>
            <a:ext cx="10835640" cy="630936"/>
          </a:xfrm>
          <a:prstGeom prst="rect">
            <a:avLst/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" y="3959352"/>
            <a:ext cx="1517904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WMMSE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68296" y="3959352"/>
            <a:ext cx="4590288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F, Rʸʸ, A, E, Ω, 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959352"/>
            <a:ext cx="2852927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有效信道、接收协方差、接收器、MSE、权重、效用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7544" y="3959352"/>
            <a:ext cx="1362456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4×r；4×4；r×r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4581144"/>
            <a:ext cx="1083564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58368" y="4608576"/>
            <a:ext cx="10835640" cy="630936"/>
          </a:xfrm>
          <a:prstGeom prst="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" y="4645152"/>
            <a:ext cx="1517904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ADMM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68296" y="4645152"/>
            <a:ext cx="4590288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x, z, y, 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645152"/>
            <a:ext cx="2852927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原变量、可行副本、缩放对偶、罚参数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67544" y="4645152"/>
            <a:ext cx="1362456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同 w；标量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8368" y="5266944"/>
            <a:ext cx="1083564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58368" y="5294376"/>
            <a:ext cx="10835640" cy="630936"/>
          </a:xfrm>
          <a:prstGeom prst="rect">
            <a:avLst/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" y="5330952"/>
            <a:ext cx="1517904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评价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68296" y="5330952"/>
            <a:ext cx="4590288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Rˢᴱ, Rᵉˣᵖ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5330952"/>
            <a:ext cx="2852927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频谱效率、按协议统计的体验率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67544" y="5330952"/>
            <a:ext cx="1362456" cy="5394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bit/s/Hz；协议口径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新版系统方案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71016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70432"/>
            <a:ext cx="5138928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从测量统计到拟议机制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" y="1792224"/>
            <a:ext cx="466344" cy="466344"/>
          </a:xfrm>
          <a:prstGeom prst="round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792224"/>
            <a:ext cx="466344" cy="46634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1764792"/>
            <a:ext cx="2194560" cy="47548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链路椭球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5032" y="1764792"/>
            <a:ext cx="7415783" cy="521207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由测量统计标定不确定性集合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2331720"/>
            <a:ext cx="0" cy="448056"/>
          </a:xfrm>
          <a:prstGeom prst="line">
            <a:avLst/>
          </a:prstGeom>
          <a:ln w="2667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0664" y="2825496"/>
            <a:ext cx="466344" cy="466344"/>
          </a:xfrm>
          <a:prstGeom prst="round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2825496"/>
            <a:ext cx="466344" cy="46634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798064"/>
            <a:ext cx="2194560" cy="47548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公平效用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798064"/>
            <a:ext cx="7415783" cy="521207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结合边缘体验与功率成本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3364991"/>
            <a:ext cx="0" cy="448057"/>
          </a:xfrm>
          <a:prstGeom prst="line">
            <a:avLst/>
          </a:prstGeom>
          <a:ln w="2667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0664" y="3858768"/>
            <a:ext cx="466344" cy="466344"/>
          </a:xfrm>
          <a:prstGeom prst="round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3858768"/>
            <a:ext cx="466344" cy="46634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831335"/>
            <a:ext cx="2194560" cy="47548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组稀疏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3831335"/>
            <a:ext cx="7415783" cy="521207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减少弱效链路的服务开销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4398264"/>
            <a:ext cx="0" cy="448056"/>
          </a:xfrm>
          <a:prstGeom prst="line">
            <a:avLst/>
          </a:prstGeom>
          <a:ln w="2667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0664" y="4892040"/>
            <a:ext cx="466344" cy="466344"/>
          </a:xfrm>
          <a:prstGeom prst="round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4892040"/>
            <a:ext cx="466344" cy="46634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864607"/>
            <a:ext cx="2194560" cy="47548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事件触发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4864607"/>
            <a:ext cx="7415783" cy="521207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在保证更新条件下减少通信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5980176"/>
            <a:ext cx="2926304" cy="4206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58584" y="5952744"/>
            <a:ext cx="4151376" cy="42062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39" b="0">
                <a:solidFill>
                  <a:srgbClr val="000000"/>
                </a:solidFill>
                <a:latin typeface="Microsoft YaHei"/>
              </a:rPr>
              <a:t>Σ 与半径仍需校准和论证。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8" y="5440680"/>
            <a:ext cx="3364992" cy="32004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80" b="0">
                <a:solidFill>
                  <a:srgbClr val="000000"/>
                </a:solidFill>
                <a:latin typeface="Microsoft YaHei"/>
              </a:rPr>
              <a:t>相关方法 [6,7]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新方案关键机制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307592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207008"/>
            <a:ext cx="5166360" cy="4846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代表目标与三项难点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792224"/>
            <a:ext cx="4586331" cy="5669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" y="2761488"/>
            <a:ext cx="1984248" cy="612648"/>
          </a:xfrm>
          <a:prstGeom prst="round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98064"/>
            <a:ext cx="1874519" cy="53035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92B56"/>
                </a:solidFill>
                <a:latin typeface="Microsoft YaHei"/>
              </a:rPr>
              <a:t>鲁棒内层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788920"/>
            <a:ext cx="8010144" cy="56692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20" b="0">
                <a:solidFill>
                  <a:srgbClr val="000000"/>
                </a:solidFill>
                <a:latin typeface="Microsoft YaHei"/>
              </a:rPr>
              <a:t>先定义误差集合与对偶/内层问题；联合 WMMSE 仍非凸。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3483864"/>
            <a:ext cx="8092440" cy="0"/>
          </a:xfrm>
          <a:prstGeom prst="line">
            <a:avLst/>
          </a:prstGeom>
          <a:ln w="1270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94944" y="3776472"/>
            <a:ext cx="1984248" cy="612648"/>
          </a:xfrm>
          <a:prstGeom prst="round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813048"/>
            <a:ext cx="1874519" cy="53035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92B56"/>
                </a:solidFill>
                <a:latin typeface="Microsoft YaHei"/>
              </a:rPr>
              <a:t>稀疏更新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803904"/>
            <a:ext cx="8010144" cy="56692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20" b="0">
                <a:solidFill>
                  <a:srgbClr val="000000"/>
                </a:solidFill>
                <a:latin typeface="Microsoft YaHei"/>
              </a:rPr>
              <a:t>耦合二次项加组稀疏，不能宣称整体一次软阈值闭式求解。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4498848"/>
            <a:ext cx="8092440" cy="0"/>
          </a:xfrm>
          <a:prstGeom prst="line">
            <a:avLst/>
          </a:prstGeom>
          <a:ln w="1270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4944" y="4791456"/>
            <a:ext cx="1984248" cy="612648"/>
          </a:xfrm>
          <a:prstGeom prst="round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828032"/>
            <a:ext cx="1874519" cy="53035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92B56"/>
                </a:solidFill>
                <a:latin typeface="Microsoft YaHei"/>
              </a:rPr>
              <a:t>本地共识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818888"/>
            <a:ext cx="8010144" cy="56692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20" b="0">
                <a:solidFill>
                  <a:srgbClr val="000000"/>
                </a:solidFill>
                <a:latin typeface="Microsoft YaHei"/>
              </a:rPr>
              <a:t>明确 TRP 局部变量、CPU 共识、消息缓存、触发与停止。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998464"/>
            <a:ext cx="10460736" cy="4297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10" b="1">
                <a:solidFill>
                  <a:srgbClr val="000000"/>
                </a:solidFill>
                <a:latin typeface="Microsoft YaHei"/>
              </a:rPr>
              <a:t>更大误差、功率下降和通信节省均需在同条件对照中验证。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JmYmVhMGQ2YWQwOTc0ZDFkYmVkZTE0NzFkNThlYz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heme/theme1.xml><?xml version="1.0" encoding="utf-8"?>
<a:theme xmlns:a="http://schemas.openxmlformats.org/drawingml/2006/main" name="Office 主题​​">
  <a:themeElements>
    <a:clrScheme name="自定义 3">
      <a:dk1>
        <a:sysClr val="windowText" lastClr="000000"/>
      </a:dk1>
      <a:lt1>
        <a:sysClr val="window" lastClr="FFFFFF"/>
      </a:lt1>
      <a:dk2>
        <a:srgbClr val="003399"/>
      </a:dk2>
      <a:lt2>
        <a:srgbClr val="FFFFFF"/>
      </a:lt2>
      <a:accent1>
        <a:srgbClr val="00339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3">
      <a:dk1>
        <a:sysClr val="windowText" lastClr="000000"/>
      </a:dk1>
      <a:lt1>
        <a:sysClr val="window" lastClr="FFFFFF"/>
      </a:lt1>
      <a:dk2>
        <a:srgbClr val="003399"/>
      </a:dk2>
      <a:lt2>
        <a:srgbClr val="FFFFFF"/>
      </a:lt2>
      <a:accent1>
        <a:srgbClr val="00339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1850</Words>
  <Application>Microsoft Office PowerPoint</Application>
  <PresentationFormat>宽屏</PresentationFormat>
  <Paragraphs>178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Microsoft YaHei</vt:lpstr>
      <vt:lpstr>Microsoft YaHei</vt:lpstr>
      <vt:lpstr>微软雅黑 Light</vt:lpstr>
      <vt:lpstr>Arial</vt:lpstr>
      <vt:lpstr>Calibri</vt:lpstr>
      <vt:lpstr>Century Gothic</vt:lpstr>
      <vt:lpstr>Office 主题​​</vt:lpstr>
      <vt:lpstr>1_Office 主题​​</vt:lpstr>
      <vt:lpstr>PowerPoint 演示文稿</vt:lpstr>
      <vt:lpstr>主要内容</vt:lpstr>
      <vt:lpstr>研究问题与目标</vt:lpstr>
      <vt:lpstr>网络拓扑与协同架构</vt:lpstr>
      <vt:lpstr>系统框架</vt:lpstr>
      <vt:lpstr>信道与测量模型</vt:lpstr>
      <vt:lpstr>资源变量与优化目标</vt:lpstr>
      <vt:lpstr>接收模型与速率</vt:lpstr>
      <vt:lpstr>WMMSE 更新</vt:lpstr>
      <vt:lpstr>ADMM 求解</vt:lpstr>
      <vt:lpstr>非均匀误差机制</vt:lpstr>
      <vt:lpstr>核心变量</vt:lpstr>
      <vt:lpstr>新版系统方案</vt:lpstr>
      <vt:lpstr>新方案关键机制</vt:lpstr>
    </vt:vector>
  </TitlesOfParts>
  <Company>Guilddesign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Sung Ha, Park</dc:creator>
  <cp:lastModifiedBy>亚萍 宋</cp:lastModifiedBy>
  <cp:revision>1</cp:revision>
  <cp:lastPrinted>2025-12-14T09:05:23Z</cp:lastPrinted>
  <dcterms:created xsi:type="dcterms:W3CDTF">2025-12-14T09:05:23Z</dcterms:created>
  <dcterms:modified xsi:type="dcterms:W3CDTF">2026-10-20T02:55:18Z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5F83327A812F4435B25E525EBED23916_13</vt:lpwstr>
  </property>
  <property fmtid="{D5CDD505-2E9C-101B-9397-08002B2CF9AE}" pid="3" name="KSOProductBuildVer">
    <vt:lpwstr>2052-12.9.0.24013</vt:lpwstr>
  </property>
</Properties>
</file>